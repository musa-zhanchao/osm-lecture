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theme/theme14.xml" ContentType="application/vnd.openxmlformats-officedocument.theme+xml"/>
  <Override PartName="/ppt/theme/theme15.xml" ContentType="application/vnd.openxmlformats-officedocument.theme+xml"/>
  <Override PartName="/ppt/theme/theme16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0" r:id="rId2"/>
    <p:sldMasterId id="2147483652" r:id="rId3"/>
    <p:sldMasterId id="2147483653" r:id="rId4"/>
    <p:sldMasterId id="2147483654" r:id="rId5"/>
    <p:sldMasterId id="2147483655" r:id="rId6"/>
    <p:sldMasterId id="2147483656" r:id="rId7"/>
    <p:sldMasterId id="2147483657" r:id="rId8"/>
    <p:sldMasterId id="2147483658" r:id="rId9"/>
    <p:sldMasterId id="2147483659" r:id="rId10"/>
    <p:sldMasterId id="2147483660" r:id="rId11"/>
    <p:sldMasterId id="2147483661" r:id="rId12"/>
    <p:sldMasterId id="2147483662" r:id="rId13"/>
    <p:sldMasterId id="2147483663" r:id="rId14"/>
    <p:sldMasterId id="2147483664" r:id="rId15"/>
  </p:sldMasterIdLst>
  <p:notesMasterIdLst>
    <p:notesMasterId r:id="rId55"/>
  </p:notesMasterIdLst>
  <p:sldIdLst>
    <p:sldId id="256" r:id="rId16"/>
    <p:sldId id="257" r:id="rId17"/>
    <p:sldId id="258" r:id="rId18"/>
    <p:sldId id="259" r:id="rId19"/>
    <p:sldId id="260" r:id="rId20"/>
    <p:sldId id="261" r:id="rId21"/>
    <p:sldId id="262" r:id="rId22"/>
    <p:sldId id="263" r:id="rId23"/>
    <p:sldId id="264" r:id="rId24"/>
    <p:sldId id="265" r:id="rId25"/>
    <p:sldId id="266" r:id="rId26"/>
    <p:sldId id="267" r:id="rId27"/>
    <p:sldId id="268" r:id="rId28"/>
    <p:sldId id="269" r:id="rId29"/>
    <p:sldId id="270" r:id="rId30"/>
    <p:sldId id="271" r:id="rId31"/>
    <p:sldId id="272" r:id="rId32"/>
    <p:sldId id="273" r:id="rId33"/>
    <p:sldId id="274" r:id="rId34"/>
    <p:sldId id="275" r:id="rId35"/>
    <p:sldId id="276" r:id="rId36"/>
    <p:sldId id="277" r:id="rId37"/>
    <p:sldId id="280" r:id="rId38"/>
    <p:sldId id="1001" r:id="rId39"/>
    <p:sldId id="1002" r:id="rId40"/>
    <p:sldId id="1019" r:id="rId41"/>
    <p:sldId id="1005" r:id="rId42"/>
    <p:sldId id="1020" r:id="rId43"/>
    <p:sldId id="1021" r:id="rId44"/>
    <p:sldId id="1016" r:id="rId45"/>
    <p:sldId id="1017" r:id="rId46"/>
    <p:sldId id="1022" r:id="rId47"/>
    <p:sldId id="1023" r:id="rId48"/>
    <p:sldId id="1018" r:id="rId49"/>
    <p:sldId id="1024" r:id="rId50"/>
    <p:sldId id="1025" r:id="rId51"/>
    <p:sldId id="1026" r:id="rId52"/>
    <p:sldId id="1027" r:id="rId53"/>
    <p:sldId id="1014" r:id="rId5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6127"/>
  </p:normalViewPr>
  <p:slideViewPr>
    <p:cSldViewPr snapToGrid="0">
      <p:cViewPr varScale="1">
        <p:scale>
          <a:sx n="121" d="100"/>
          <a:sy n="121" d="100"/>
        </p:scale>
        <p:origin x="74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Master" Target="slideMasters/slideMaster13.xml"/><Relationship Id="rId18" Type="http://schemas.openxmlformats.org/officeDocument/2006/relationships/slide" Target="slides/slide3.xml"/><Relationship Id="rId26" Type="http://schemas.openxmlformats.org/officeDocument/2006/relationships/slide" Target="slides/slide11.xml"/><Relationship Id="rId39" Type="http://schemas.openxmlformats.org/officeDocument/2006/relationships/slide" Target="slides/slide24.xml"/><Relationship Id="rId21" Type="http://schemas.openxmlformats.org/officeDocument/2006/relationships/slide" Target="slides/slide6.xml"/><Relationship Id="rId34" Type="http://schemas.openxmlformats.org/officeDocument/2006/relationships/slide" Target="slides/slide19.xml"/><Relationship Id="rId42" Type="http://schemas.openxmlformats.org/officeDocument/2006/relationships/slide" Target="slides/slide27.xml"/><Relationship Id="rId47" Type="http://schemas.openxmlformats.org/officeDocument/2006/relationships/slide" Target="slides/slide32.xml"/><Relationship Id="rId50" Type="http://schemas.openxmlformats.org/officeDocument/2006/relationships/slide" Target="slides/slide35.xml"/><Relationship Id="rId55" Type="http://schemas.openxmlformats.org/officeDocument/2006/relationships/notesMaster" Target="notesMasters/notesMaster1.xml"/><Relationship Id="rId7" Type="http://schemas.openxmlformats.org/officeDocument/2006/relationships/slideMaster" Target="slideMasters/slideMaster7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.xml"/><Relationship Id="rId29" Type="http://schemas.openxmlformats.org/officeDocument/2006/relationships/slide" Target="slides/slide14.xml"/><Relationship Id="rId11" Type="http://schemas.openxmlformats.org/officeDocument/2006/relationships/slideMaster" Target="slideMasters/slideMaster11.xml"/><Relationship Id="rId24" Type="http://schemas.openxmlformats.org/officeDocument/2006/relationships/slide" Target="slides/slide9.xml"/><Relationship Id="rId32" Type="http://schemas.openxmlformats.org/officeDocument/2006/relationships/slide" Target="slides/slide17.xml"/><Relationship Id="rId37" Type="http://schemas.openxmlformats.org/officeDocument/2006/relationships/slide" Target="slides/slide22.xml"/><Relationship Id="rId40" Type="http://schemas.openxmlformats.org/officeDocument/2006/relationships/slide" Target="slides/slide25.xml"/><Relationship Id="rId45" Type="http://schemas.openxmlformats.org/officeDocument/2006/relationships/slide" Target="slides/slide30.xml"/><Relationship Id="rId53" Type="http://schemas.openxmlformats.org/officeDocument/2006/relationships/slide" Target="slides/slide38.xml"/><Relationship Id="rId58" Type="http://schemas.openxmlformats.org/officeDocument/2006/relationships/theme" Target="theme/theme1.xml"/><Relationship Id="rId5" Type="http://schemas.openxmlformats.org/officeDocument/2006/relationships/slideMaster" Target="slideMasters/slideMaster5.xml"/><Relationship Id="rId19" Type="http://schemas.openxmlformats.org/officeDocument/2006/relationships/slide" Target="slides/slide4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14" Type="http://schemas.openxmlformats.org/officeDocument/2006/relationships/slideMaster" Target="slideMasters/slideMaster14.xml"/><Relationship Id="rId22" Type="http://schemas.openxmlformats.org/officeDocument/2006/relationships/slide" Target="slides/slide7.xml"/><Relationship Id="rId27" Type="http://schemas.openxmlformats.org/officeDocument/2006/relationships/slide" Target="slides/slide12.xml"/><Relationship Id="rId30" Type="http://schemas.openxmlformats.org/officeDocument/2006/relationships/slide" Target="slides/slide15.xml"/><Relationship Id="rId35" Type="http://schemas.openxmlformats.org/officeDocument/2006/relationships/slide" Target="slides/slide20.xml"/><Relationship Id="rId43" Type="http://schemas.openxmlformats.org/officeDocument/2006/relationships/slide" Target="slides/slide28.xml"/><Relationship Id="rId48" Type="http://schemas.openxmlformats.org/officeDocument/2006/relationships/slide" Target="slides/slide33.xml"/><Relationship Id="rId56" Type="http://schemas.openxmlformats.org/officeDocument/2006/relationships/presProps" Target="presProps.xml"/><Relationship Id="rId8" Type="http://schemas.openxmlformats.org/officeDocument/2006/relationships/slideMaster" Target="slideMasters/slideMaster8.xml"/><Relationship Id="rId51" Type="http://schemas.openxmlformats.org/officeDocument/2006/relationships/slide" Target="slides/slide36.xml"/><Relationship Id="rId3" Type="http://schemas.openxmlformats.org/officeDocument/2006/relationships/slideMaster" Target="slideMasters/slideMaster3.xml"/><Relationship Id="rId12" Type="http://schemas.openxmlformats.org/officeDocument/2006/relationships/slideMaster" Target="slideMasters/slideMaster12.xml"/><Relationship Id="rId17" Type="http://schemas.openxmlformats.org/officeDocument/2006/relationships/slide" Target="slides/slide2.xml"/><Relationship Id="rId25" Type="http://schemas.openxmlformats.org/officeDocument/2006/relationships/slide" Target="slides/slide10.xml"/><Relationship Id="rId33" Type="http://schemas.openxmlformats.org/officeDocument/2006/relationships/slide" Target="slides/slide18.xml"/><Relationship Id="rId38" Type="http://schemas.openxmlformats.org/officeDocument/2006/relationships/slide" Target="slides/slide23.xml"/><Relationship Id="rId46" Type="http://schemas.openxmlformats.org/officeDocument/2006/relationships/slide" Target="slides/slide31.xml"/><Relationship Id="rId59" Type="http://schemas.openxmlformats.org/officeDocument/2006/relationships/tableStyles" Target="tableStyles.xml"/><Relationship Id="rId20" Type="http://schemas.openxmlformats.org/officeDocument/2006/relationships/slide" Target="slides/slide5.xml"/><Relationship Id="rId41" Type="http://schemas.openxmlformats.org/officeDocument/2006/relationships/slide" Target="slides/slide26.xml"/><Relationship Id="rId54" Type="http://schemas.openxmlformats.org/officeDocument/2006/relationships/slide" Target="slides/slide39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5" Type="http://schemas.openxmlformats.org/officeDocument/2006/relationships/slideMaster" Target="slideMasters/slideMaster15.xml"/><Relationship Id="rId23" Type="http://schemas.openxmlformats.org/officeDocument/2006/relationships/slide" Target="slides/slide8.xml"/><Relationship Id="rId28" Type="http://schemas.openxmlformats.org/officeDocument/2006/relationships/slide" Target="slides/slide13.xml"/><Relationship Id="rId36" Type="http://schemas.openxmlformats.org/officeDocument/2006/relationships/slide" Target="slides/slide21.xml"/><Relationship Id="rId49" Type="http://schemas.openxmlformats.org/officeDocument/2006/relationships/slide" Target="slides/slide34.xml"/><Relationship Id="rId57" Type="http://schemas.openxmlformats.org/officeDocument/2006/relationships/viewProps" Target="viewProps.xml"/><Relationship Id="rId10" Type="http://schemas.openxmlformats.org/officeDocument/2006/relationships/slideMaster" Target="slideMasters/slideMaster10.xml"/><Relationship Id="rId31" Type="http://schemas.openxmlformats.org/officeDocument/2006/relationships/slide" Target="slides/slide16.xml"/><Relationship Id="rId44" Type="http://schemas.openxmlformats.org/officeDocument/2006/relationships/slide" Target="slides/slide29.xml"/><Relationship Id="rId52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时间：0–2</a:t>
            </a:r>
          </a:p>
          <a:p>
            <a:endParaRPr/>
          </a:p>
          <a:p>
            <a:r>
              <a:t>先说今天先认识地图数据，再写几行 Python。不要先抛出完整可达性模型。今天所有例子都回到熟悉的 University City。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时间：2–5</a:t>
            </a:r>
          </a:p>
          <a:p>
            <a:endParaRPr/>
          </a:p>
          <a:p>
            <a:r>
              <a:t>请学生指出三个熟悉对象。先观察，不解释 graph。邀请他们说说平时用地图时，哪些东西会被忽略。地图来源：https://www.openstreetmap.org/#map=16/39.9520/-75.1910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时间：5–8</a:t>
            </a:r>
          </a:p>
          <a:p>
            <a:endParaRPr/>
          </a:p>
          <a:p>
            <a:r>
              <a:t>介绍 OSM：开放的地理数据库，可以编辑、下载和重新使用。网页底图是这些数据的一种显示方式。可用 Wikipedia 作协作模式类比，但不把它说成完全相同的治理机制。来源：https://www.openstreetmap.org/about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时间：8–11</a:t>
            </a:r>
          </a:p>
          <a:p>
            <a:endParaRPr/>
          </a:p>
          <a:p>
            <a:r>
              <a:t>用站点 history 讲人如何维护数据。截图显示真实对象的编辑版本。不要讲抽象 VGI 定义一整页。问：一个刚开业的咖啡馆会立即出现在地图上吗？来源：https://www.openstreetmap.org/node/4179747391/history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时间：11–13</a:t>
            </a:r>
          </a:p>
          <a:p>
            <a:endParaRPr/>
          </a:p>
          <a:p>
            <a:r>
              <a:t>这页只给三个词，然后用接下来的真实对象逐个展开。强调 way 是节点序列，闭合 way 是否表示面积取决于 tags。来源：https://wiki.openstreetmap.org/wiki/Elements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时间：13–16</a:t>
            </a:r>
          </a:p>
          <a:p>
            <a:endParaRPr/>
          </a:p>
          <a:p>
            <a:r>
              <a:t>让学生找 name 和 network。OSM node 不等于 graph intersection：站点也是 node，但不一定是街道交叉口。网页来源：https://www.openstreetmap.org/node/4179747391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时间：16–19</a:t>
            </a:r>
          </a:p>
          <a:p>
            <a:endParaRPr/>
          </a:p>
          <a:p>
            <a:r>
              <a:t>请学生找 highway=pedestrian 和 motor_vehicle=no。让这个例子为后面的 walk / drive 比较埋伏笔。来源：https://www.openstreetmap.org/way/32108143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时间：19–21</a:t>
            </a:r>
          </a:p>
          <a:p>
            <a:endParaRPr dirty="0"/>
          </a:p>
          <a:p>
            <a:r>
              <a:rPr dirty="0"/>
              <a:t>relation </a:t>
            </a:r>
            <a:r>
              <a:rPr dirty="0" err="1"/>
              <a:t>讲到理解即可，不进入原始</a:t>
            </a:r>
            <a:r>
              <a:rPr dirty="0"/>
              <a:t> XML </a:t>
            </a:r>
            <a:r>
              <a:rPr dirty="0" err="1"/>
              <a:t>和</a:t>
            </a:r>
            <a:r>
              <a:rPr dirty="0"/>
              <a:t> Overpass </a:t>
            </a:r>
            <a:r>
              <a:rPr dirty="0" err="1"/>
              <a:t>syntax。举公交路线由多段街道和站点组成的例子，不宣称本课程后面会写</a:t>
            </a:r>
            <a:r>
              <a:rPr dirty="0"/>
              <a:t> relation </a:t>
            </a:r>
            <a:r>
              <a:rPr dirty="0" err="1"/>
              <a:t>解析。来源：https</a:t>
            </a:r>
            <a:r>
              <a:rPr dirty="0"/>
              <a:t>://</a:t>
            </a:r>
            <a:r>
              <a:rPr dirty="0" err="1"/>
              <a:t>wiki.openstreetmap.org</a:t>
            </a:r>
            <a:r>
              <a:rPr dirty="0"/>
              <a:t>/wiki/Elements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时间：21–23</a:t>
            </a:r>
          </a:p>
          <a:p>
            <a:endParaRPr/>
          </a:p>
          <a:p>
            <a:r>
              <a:t>这是 Locust Walk 真实对象的四个标签。提问：哪一个标签最能解释为什么这里可以走路、通常不能开车？答 highway 和 motor_vehicle。来源：https://www.openstreetmap.org/way/32108143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时间：23–26</a:t>
            </a:r>
          </a:p>
          <a:p>
            <a:r>
              <a:rPr dirty="0"/>
              <a:t>https://</a:t>
            </a:r>
            <a:r>
              <a:rPr dirty="0" err="1"/>
              <a:t>www.openstreetmap.org</a:t>
            </a:r>
            <a:r>
              <a:rPr dirty="0"/>
              <a:t>/about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https://</a:t>
            </a:r>
            <a:r>
              <a:rPr dirty="0" err="1"/>
              <a:t>xiaojianggis.github.io</a:t>
            </a:r>
            <a:r>
              <a:rPr dirty="0"/>
              <a:t>/MUSA-5500-Geospatial-Data-Science-Python/labs/week-8-network-analysis/week-8A-street-network.html ; https://</a:t>
            </a:r>
            <a:r>
              <a:rPr dirty="0" err="1"/>
              <a:t>osmnx.readthedocs.io</a:t>
            </a:r>
            <a:r>
              <a:rPr dirty="0"/>
              <a:t>/</a:t>
            </a:r>
            <a:r>
              <a:rPr dirty="0" err="1"/>
              <a:t>en</a:t>
            </a:r>
            <a:r>
              <a:rPr dirty="0"/>
              <a:t>/stable/user-</a:t>
            </a:r>
            <a:r>
              <a:rPr dirty="0" err="1"/>
              <a:t>reference.html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时间：29–30</a:t>
            </a:r>
          </a:p>
          <a:p>
            <a:endParaRPr/>
          </a:p>
          <a:p>
            <a:r>
              <a:t>打开 01_OSM_Step_by_Step.ipynb，§1。完整 imports 在 notebook。cache 设置只是让已有下载可以重复使用，课堂不展开。原 tutorial 同样使用 import osmnx as ox。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时间：30–35</a:t>
            </a:r>
          </a:p>
          <a:p>
            <a:endParaRPr/>
          </a:p>
          <a:p>
            <a:r>
              <a:t>学生运行 §2。先看输出 GeoDataFrame，再看边界。问函数返回的是地图图片还是可以继续分析的数据？答 GeoDataFrame。若下载有问题，打开离线备用版相同位置。来源：https://osmnx.readthedocs.io/en/stable/user-reference.html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时间：35–38</a:t>
            </a:r>
          </a:p>
          <a:p>
            <a:endParaRPr/>
          </a:p>
          <a:p>
            <a:r>
              <a:t>这页不展开投影理论。让学生读 CRS，再说后面800m圆圈为什么不能直接用经纬度做。图是相同边界的投影结果，可作为重复教学比较。来源：https://osmnx.readthedocs.io/en/stable/user-reference.html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时间：38–44</a:t>
            </a:r>
          </a:p>
          <a:p>
            <a:endParaRPr/>
          </a:p>
          <a:p>
            <a:r>
              <a:t>先让学生猜数量，再运行。point query 的 center 顺序是纬度、经度。图是本地 OSM cafe features，点/面均可能。地图数据：© OpenStreetMap contributors，ODbL 1.0。https://www.openstreetmap.org/copyright 。新版 notebook 同一份数据，2026-09-27 UTC 下载。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时间：44–47</a:t>
            </a:r>
          </a:p>
          <a:p>
            <a:endParaRPr/>
          </a:p>
          <a:p>
            <a:r>
              <a:t>在 notebook 的输出表停下来，读一行。name 可以缺失。25 条 cafe features 不一定等于25家经过验证的独立商户。不要展开去重 pipeline。来源：https://osmnx.readthedocs.io/en/stable/user-reference.html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时间：47–50</a:t>
            </a:r>
          </a:p>
          <a:p>
            <a:endParaRPr/>
          </a:p>
          <a:p>
            <a:r>
              <a:t>让学生先口头回答 restaurant。有网且时间允许再实际修改查询，保留原咖啡馆 cell 可重新运行。若担心服务器等待，只改写代码并解释预期输出。这个活动是1行变化。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时间：50–56</a:t>
            </a:r>
          </a:p>
          <a:p>
            <a:endParaRPr/>
          </a:p>
          <a:p>
            <a:r>
              <a:t>解释为什么只画点不够回答怎么走。运行后先读形状，不急着定义 MultiDiGraph。下载大于之后分析的区域，给路线留余地。默认保留最大弱连通分量，这意味着本例不评估所有孤立点。地图数据：© OpenStreetMap contributors，ODbL 1.0。https://www.openstreetmap.org/copyright 。新版 notebook 同一份数据，2026-09-27 UTC 下载。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时间：56–61</a:t>
            </a:r>
          </a:p>
          <a:p>
            <a:endParaRPr/>
          </a:p>
          <a:p>
            <a:r>
              <a:t>先显示左图，让学生预想步行图会多什么，再对比。相同 center、相同600m范围，唯一区别 network_type。回想 Locust Walk 的标签。Notebook §4。地图数据：© OpenStreetMap contributors，ODbL 1.0。https://www.openstreetmap.org/copyright 。新版 notebook 同一份数据，2026-09-27 UTC 下载。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时间：61–66</a:t>
            </a:r>
          </a:p>
          <a:p>
            <a:endParaRPr/>
          </a:p>
          <a:p>
            <a:r>
              <a:t>两图来自同一份600m步行下载，同一缩放范围。解释形状点和连接点，弯道不必变成交叉口。接着运行 type(G) 和 len(G.nodes), len(G.edges)，一句话解释有向、允许平行边。不要要求学生掌握内部类。地图数据：© OpenStreetMap contributors，ODbL 1.0。https://www.openstreetmap.org/copyright 。新版 notebook 同一份数据，2026-09-27 UTC 下载。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时间：66–71</a:t>
            </a:r>
          </a:p>
          <a:p>
            <a:endParaRPr/>
          </a:p>
          <a:p>
            <a:r>
              <a:t>Notebook §5，逐格看 node表、edge表。length单位米。edge索引(u,v,key)点到为止。展示 edges.plot，让学生认出这就是刚才路网的另一种视图。来源：https://osmnx.readthedocs.io/en/stable/user-reference.html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时间：71–79</a:t>
            </a:r>
          </a:p>
          <a:p>
            <a:endParaRPr/>
          </a:p>
          <a:p>
            <a:r>
              <a:t>先运行 origin 和 station_node 两行。注意 nearest_nodes 的 X是经度，Y是纬度，和 center 的tuple顺序不同。route[:5]说明路径是ID列表，再plot_graph_route。截图代码是后半段摘录，station_node 在notebook前一格定义。地图数据：© OpenStreetMap contributors，ODbL 1.0。https://www.openstreetmap.org/copyright 。新版 notebook 同一份数据，2026-09-27 UTC 下载。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时间：90–100</a:t>
            </a:r>
          </a:p>
          <a:p>
            <a:endParaRPr/>
          </a:p>
          <a:p>
            <a:r>
              <a:t>休息10分钟，保持notebook运行状态。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时间：100–102</a:t>
            </a:r>
          </a:p>
          <a:p>
            <a:r>
              <a:t>回顾上半场：一个起点、一个终点、一条路线（Notebook §6）。现在问：如果起点是城市里每一个路口呢？这就是可达性问题，也是 Pandana 要解决的。</a:t>
            </a:r>
          </a:p>
          <a:p>
            <a:r>
              <a:t>后半场的安排：先 15 分钟讲清 Pandana 是什么、为什么用；然后跟着 tutorial Part 2 一步步跑；最后 10 分钟讲公交可达性和 r5r。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时间：102–106</a:t>
            </a:r>
          </a:p>
          <a:p>
            <a:r>
              <a:t>让学生说一个“看着很近但很难走到”的地方（比如隔着铁路、河、高速）。</a:t>
            </a:r>
          </a:p>
          <a:p>
            <a:r>
              <a:t>Proximity = 直线距离；Accessibility = 在一定成本（步行距离/时间）内能到达多少机会。后面所有代码都是在算右边这种。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时间：106–111</a:t>
            </a:r>
          </a:p>
          <a:p>
            <a:r>
              <a:t>先给定义：Pandana = Pandas Network Analysis，UDST 维护（和 UrbanSim 同一组人）。</a:t>
            </a:r>
          </a:p>
          <a:p>
            <a:r>
              <a:t>三句话讲清：(1) 输入只是两张表——节点表 (id, x, y) 和边表 (from, to, 距离)。(2) 建网络时做一次预处理（contraction hierarchies，C++ 实现），notebook 里 Step 2 会打印 “Generating contraction hierarchies”，就是这一步。(3) 之后每个查询都返回 DataFrame，每个网络节点一行，直接用 pandas 处理。</a:t>
            </a:r>
          </a:p>
          <a:p>
            <a:r>
              <a:t>两类查询：nearest_pois（第 n 近的设施有多远，今天 tutorial 用这个）；aggregate（一定距离内的总和/计数，比如 800m 内的工作岗位数，tutorial 没做，最后 “用好” 那页会提）。</a:t>
            </a:r>
          </a:p>
          <a:p>
            <a:r>
              <a:t>来源：https://udst.github.io/pandana/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时间：114–117</a:t>
            </a:r>
          </a:p>
          <a:p>
            <a:r>
              <a:t>不是二选一，是分工。OSMnx：拿数据、建图、看图、算一条有几何形状的路线。Pandana：把地点挂到网络节点上，对所有节点一起提问。</a:t>
            </a:r>
          </a:p>
          <a:p>
            <a:r>
              <a:t>Tutorial 里 Pandana 用自己的 loader（osmnet）直接从 Overpass 下载网络，所以和 OSMnx 的图不是同一个对象。如果项目里已经用 OSMnx 清洗过网络，可以把 OSMnx 的 nodes/edges 表交给 pdna.Network()。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时间：117–119</a:t>
            </a:r>
          </a:p>
          <a:p>
            <a:r>
              <a:t>这一页是 Part 2 的地图，之后每页对应 notebook 的一个 Step，标题里都写了 Step 几。</a:t>
            </a:r>
          </a:p>
          <a:p>
            <a:r>
              <a:t>数字都来自 notebook 的真实输出：Step 1 的 len(poi_df)=3,396；Step 2 打印 30,166 nodes / 44,292 edges。</a:t>
            </a:r>
          </a:p>
          <a:p>
            <a:r>
              <a:t>提醒学生：Step 3 只注册了这四类 amenity，想看别的类别要重新跑 set_pois。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时间：119–127（live）</a:t>
            </a:r>
          </a:p>
          <a:p>
            <a:r>
              <a:t>Notebook Step 1 和 Step 2。先跑 import 那格：Overpass 现在要求 User-Agent，osmnet 不带，所以 notebook 里给 requests 换了一个 session，不用展开，只说“这是为了让下载能通过”。</a:t>
            </a:r>
          </a:p>
          <a:p>
            <a:r>
              <a:t>Step 1：boundary 是 center_city_outline.bounds，顺序是 (lng_min, lat_min, lng_max, lat_max)；但 node_query 和 pdna_network_from_bbox 要的是 (lat_min, lng_min, lat_max, lng_max)。这是最容易写错的地方。</a:t>
            </a:r>
          </a:p>
          <a:p>
            <a:r>
              <a:t>跑完看 poi_df.head()、len(poi_df)=3,396，再看 altair 条形图，问学生最多的 amenity 是什么。提醒：node_query 只拿 OSM node，画成建筑多边形的餐厅不会出现。</a:t>
            </a:r>
          </a:p>
          <a:p>
            <a:r>
              <a:t>Step 2：下载 + 建网络大约 20 秒。让学生看输出里的 30,166 nodes / 44,292 edges 和 “Generating contraction hierarchies”——这就是上一页说的预处理。</a:t>
            </a:r>
          </a:p>
          <a:p>
            <a:r>
              <a:t>可以顺带一句：如果已经有 OSMnx 图，也可以用 ox.graph_to_gdfs 拿到 nodes/edges，再 pdna.Network(nodes.x, nodes.y, edges.u, edges.v, edges[["length"]]) 自己建，但今天跟 tutorial 走 loader。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时间：127–135（live）</a:t>
            </a:r>
          </a:p>
          <a:p>
            <a:r>
              <a:t>Notebook Step 3。set_pois 做三件事：(1) 给这一类地点起个名字（category，这里就是 amenity 的名字）；(2) 把每个地点吸附到最近的网络节点上（内部就是 get_node_ids）；(3) 定下搜索上限：最远 2000m、每个节点最多记 10 个。</a:t>
            </a:r>
          </a:p>
          <a:p>
            <a:r>
              <a:t>参数顺序：category, maxdist, maxitems, x_col, y_col。x 是经度 lon，y 是纬度 lat——又一次坐标顺序。</a:t>
            </a:r>
          </a:p>
          <a:p>
            <a:r>
              <a:t>强调：只有这四类被注册了。学生想查 cafe，就要把 "cafe" 加进列表重新跑这一格。</a:t>
            </a:r>
          </a:p>
          <a:p>
            <a:r>
              <a:t>右图示意：橙点是地点，黑点是它被吸附到的节点。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时间：135–143（live）</a:t>
            </a:r>
          </a:p>
          <a:p>
            <a:r>
              <a:t>Notebook 4.1。nearest_pois 一次对所有节点算：沿网络走到第 1、2、…、10 近的 bar 有多远。</a:t>
            </a:r>
          </a:p>
          <a:p>
            <a:r>
              <a:t>输出 access：index 是 node id，列名是 1 到 10。表里两行是 notebook 真实输出：A 行（Old City 附近）三个 bar 都在 600m 内；B 行（东南角河边）最近的在 1,745m，第 2、3 个是 2,000——意思是 2km 内没找到，不是正好 2km。</a:t>
            </a:r>
          </a:p>
          <a:p>
            <a:r>
              <a:t>运行 access.tail(50) 让学生自己找 2000.0。这个值不处理就画图/取平均，会误导。</a:t>
            </a:r>
          </a:p>
          <a:p>
            <a:r>
              <a:t>这不是路线几何，只是距离；路线要回到 OSMnx。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时间：143–150（live）</a:t>
            </a:r>
          </a:p>
          <a:p>
            <a:r>
              <a:t>Notebook 4.2 和 4.3。先分别看 net.nodes_df.head() 和 access.head()：两个表的 index 都是 node id，所以 merge 用 left_index/right_index。</a:t>
            </a:r>
          </a:p>
          <a:p>
            <a:r>
              <a:t>然后定义 plot_walking_distance，跑 nearest bar。读图：黄绿 = 近，紫 = 远；红星是 bar。</a:t>
            </a:r>
          </a:p>
          <a:p>
            <a:r>
              <a:t>注意 tutorial 的一个小坑：plot_walking_distance 里 nearest_pois 写死了 distance=1000，函数参数 distance 没有用上，所以图的色标上限是 1000 而不是 2000。可以当作“用好 pandana”的现场例子讲：紫色那一片的意思是“1000m 内一个都没有”，不是“正好 1000m”。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时间：150–155</a:t>
            </a:r>
          </a:p>
          <a:p>
            <a:r>
              <a:t>Notebook “Evaluating amenity choice”。同一个查询结果的第 1 列和第 3 列。</a:t>
            </a:r>
          </a:p>
          <a:p>
            <a:r>
              <a:t>问学生：哪里第 1 近的 bar 很近，但第 3 近的就很远？那里的人只有一个选择。Old City 和 Rittenhouse 两种都近，说明有选择。</a:t>
            </a:r>
          </a:p>
          <a:p>
            <a:r>
              <a:t>接着让学生自己跑 school / restaurant / car_sharing，尤其 restaurant n=10 那张。</a:t>
            </a:r>
          </a:p>
          <a:p>
            <a:r>
              <a:t>图来自 notebook 已保存的输出（Center City，© OpenStreetMap contributors）。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时间：155–159</a:t>
            </a:r>
          </a:p>
          <a:p>
            <a:r>
              <a:t>把距离变成可达性：选一个阈值 C（比如 800m ≈ 步行 10 分钟），d ≤ C 就算“可达”。</a:t>
            </a:r>
          </a:p>
          <a:p>
            <a:r>
              <a:t>同一个 nearest_pois 输出可以回答不同问题：最近的超市多远（第 1 列）；800m 内有几个公园（数一下有几列 ≤ 800，或者用 aggregate）；哪里缺快速公交（第 1 列 &gt; C 的节点）。</a:t>
            </a:r>
          </a:p>
          <a:p>
            <a:r>
              <a:t>软件只给距离，阈值是规划判断，要说清楚为什么选这个数。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时间：159–165</a:t>
            </a:r>
          </a:p>
          <a:p>
            <a:r>
              <a:t>六条都能在刚才的 notebook 里找到例子：</a:t>
            </a:r>
          </a:p>
          <a:p>
            <a:r>
              <a:t>1 上限：set_pois(maxdist=2000, maxitems=10)，之后 nearest_pois 的 distance 和 num_pois 不能超过它们。</a:t>
            </a:r>
          </a:p>
          <a:p>
            <a:r>
              <a:t>2 封顶值：access 表里那些 2000.0 是“没找到”，不是测量值；直接算平均会把结果拉偏。</a:t>
            </a:r>
          </a:p>
          <a:p>
            <a:r>
              <a:t>3 边界效应：bbox 外的 bar 不存在于网络里，所以边缘节点看起来更差。做法：下载时 bbox 外扩一圈，分析时再裁回。</a:t>
            </a:r>
          </a:p>
          <a:p>
            <a:r>
              <a:t>4 什么算一个 POI：先看 poi_df，同一家店可能有多个点，有的没名字，建筑多边形上的 amenity 拿不到。</a:t>
            </a:r>
          </a:p>
          <a:p>
            <a:r>
              <a:t>5 坐标顺序：上页讲过，写反了不会报错，只是 POI 被吸附到很远的节点。</a:t>
            </a:r>
          </a:p>
          <a:p>
            <a:r>
              <a:t>6 aggregate：tutorial 没做，但这是 pandana 另一半能力。比如把工作岗位挂到节点上，算 800m 内总岗位数。decay="flat" 是纯计数，默认 linear 会按距离衰减。</a:t>
            </a:r>
          </a:p>
          <a:p>
            <a:r>
              <a:t>来源：https://udst.github.io/pandana/network.html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时间：165–169</a:t>
            </a:r>
          </a:p>
          <a:p>
            <a:r>
              <a:t>从 Pandana 的边界引出 r5r。关键一句：Pandana 每条边只有一个固定成本（米或分钟），没有时刻表，所以没有等车、换乘、发车时间这些概念。步行和开车可以，公交不行。</a:t>
            </a:r>
          </a:p>
          <a:p>
            <a:r>
              <a:t>同一个地点，早上 8 点和晚上 11 点坐公交能到的范围完全不同——这需要按时刻表计算的多模式路由。</a:t>
            </a:r>
          </a:p>
          <a:p>
            <a:r>
              <a:t>这里我自己用的是 r5r（R 包，IPEA 开发，底层是 Conveyal 的 R5 引擎）；Python 里有 r5py，用的是同一个引擎。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时间：169–173</a:t>
            </a:r>
          </a:p>
          <a:p>
            <a:r>
              <a:t>r5r 是什么：输入两份数据——OSM 的 .pbf（街道）和 GTFS（公交时刻表，SEPTA 官网可以下载），可选高程。build_network() 把它们建成一个多模式网络，底层是 Conveyal 的 R5（Java，需要 JDK 21，第一次运行会自动下载 R5 的 jar）。</a:t>
            </a:r>
          </a:p>
          <a:p>
            <a:r>
              <a:t>四个最常用的函数：travel_time_matrix（OD 矩阵）、accessibility（可达机会数，支持 step / exponential / logistic 等衰减）、detailed_itineraries（具体路线和换乘）、isochrone（等时圈）。</a:t>
            </a:r>
          </a:p>
          <a:p>
            <a:r>
              <a:t>可以在这里讲一下自己用 r5r 做的项目/图。</a:t>
            </a:r>
          </a:p>
          <a:p>
            <a:r>
              <a:t>来源：https://ipeagit.github.io/r5r/ ；Python 版 https://r5py.readthedocs.io/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时间：173–177</a:t>
            </a:r>
          </a:p>
          <a:p>
            <a:r>
              <a:t>不现场跑，只读代码。和 Pandana 的四步对照：build_network ≈ 建网络；destinations 里的 jobs 列 ≈ set_pois / aggregate 的机会；accessibility() ≈ 查询；cutoffs ≈ 阈值。</a:t>
            </a:r>
          </a:p>
          <a:p>
            <a:r>
              <a:t>三个公交特有的参数：departure_datetime（必须落在 GTFS 的服务日期内，否则全是步行结果——这是最常见的坑）；time_window（窗口里每分钟算一次，因为等车时间不同）；percentiles（25/50/75 分位，看运气好坏）。</a:t>
            </a:r>
          </a:p>
          <a:p>
            <a:r>
              <a:t>-Xmx4G 是给 Java 的内存，城市级别的网络 2–4G 一般够。</a:t>
            </a:r>
          </a:p>
          <a:p>
            <a:r>
              <a:t>origins/destinations 可以是有 id, lat, lon 列的 data.frame，或 WGS84 的 sf POINT。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时间：177–180</a:t>
            </a:r>
          </a:p>
          <a:p>
            <a:r>
              <a:t>串一遍：OSM 数据 → OSMnx 建图（路线、几何）→ Pandana 网络（对所有节点重复提问）→ set_pois 注册机会 → nearest_pois / aggregate → 用阈值变成可达性。公交加上 GTFS，用 r5r。</a:t>
            </a:r>
          </a:p>
          <a:p>
            <a:r>
              <a:t>最后一句：软件回答网络查询；什么算机会、用什么成本、阈值多少，是分析者的判断。</a:t>
            </a:r>
          </a:p>
          <a:p>
            <a:r>
              <a:t>Exit ticket：一个发现、一个假设、下一步要检查的一件事。课后作业：notebook 最后的 at-home exercise，换一个街区、换一个 amenity。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6E1480-2696-BEAF-7506-4C78B5E65A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D424F6-9081-4230-9001-06A5C16767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3.xml"/></Relationships>
</file>

<file path=ppt/slideMasters/_rels/slideMaster3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slideMasters/_rels/slideMaster4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slideMasters/_rels/slideMaster5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slideMasters/_rels/slideMaster6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slideMasters/_rels/slideMaster7.xml.rels><?xml version="1.0" encoding="UTF-8" standalone="yes"?>
<Relationships xmlns="http://schemas.openxmlformats.org/package/2006/relationships"><Relationship Id="rId1" Type="http://schemas.openxmlformats.org/officeDocument/2006/relationships/theme" Target="../theme/theme7.xml"/></Relationships>
</file>

<file path=ppt/slideMasters/_rels/slideMaster8.xml.rels><?xml version="1.0" encoding="UTF-8" standalone="yes"?>
<Relationships xmlns="http://schemas.openxmlformats.org/package/2006/relationships"><Relationship Id="rId1" Type="http://schemas.openxmlformats.org/officeDocument/2006/relationships/theme" Target="../theme/theme8.xml"/></Relationships>
</file>

<file path=ppt/slideMasters/_rels/slideMaster9.xml.rels><?xml version="1.0" encoding="UTF-8" standalone="yes"?>
<Relationships xmlns="http://schemas.openxmlformats.org/package/2006/relationships"><Relationship Id="rId1" Type="http://schemas.openxmlformats.org/officeDocument/2006/relationships/theme" Target="../theme/theme9.xml"/></Relationships>
</file>

<file path=ppt/slideMasters/_rels/slideMaster10.xml.rels><?xml version="1.0" encoding="UTF-8" standalone="yes"?>
<Relationships xmlns="http://schemas.openxmlformats.org/package/2006/relationships"><Relationship Id="rId1" Type="http://schemas.openxmlformats.org/officeDocument/2006/relationships/theme" Target="../theme/theme10.xml"/></Relationships>
</file>

<file path=ppt/slideMasters/_rels/slideMaster1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1.xml"/></Relationships>
</file>

<file path=ppt/slideMasters/_rels/slideMaster12.xml.rels><?xml version="1.0" encoding="UTF-8" standalone="yes"?>
<Relationships xmlns="http://schemas.openxmlformats.org/package/2006/relationships"><Relationship Id="rId1" Type="http://schemas.openxmlformats.org/officeDocument/2006/relationships/theme" Target="../theme/theme12.xml"/></Relationships>
</file>

<file path=ppt/slideMasters/_rels/slideMaster13.xml.rels><?xml version="1.0" encoding="UTF-8" standalone="yes"?>
<Relationships xmlns="http://schemas.openxmlformats.org/package/2006/relationships"><Relationship Id="rId1" Type="http://schemas.openxmlformats.org/officeDocument/2006/relationships/theme" Target="../theme/theme13.xml"/></Relationships>
</file>

<file path=ppt/slideMasters/_rels/slideMaster14.xml.rels><?xml version="1.0" encoding="UTF-8" standalone="yes"?>
<Relationships xmlns="http://schemas.openxmlformats.org/package/2006/relationships"><Relationship Id="rId1" Type="http://schemas.openxmlformats.org/officeDocument/2006/relationships/theme" Target="../theme/theme14.xml"/></Relationships>
</file>

<file path=ppt/slideMasters/_rels/slideMaster15.xml.rels><?xml version="1.0" encoding="UTF-8" standalone="yes"?>
<Relationships xmlns="http://schemas.openxmlformats.org/package/2006/relationships"><Relationship Id="rId1" Type="http://schemas.openxmlformats.org/officeDocument/2006/relationships/theme" Target="../theme/theme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5" r:id="rId2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431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rcRect l="26953" r="26953"/>
          <a:stretch>
            <a:fillRect/>
          </a:stretch>
        </p:blipFill>
        <p:spPr>
          <a:xfrm>
            <a:off x="6572250" y="0"/>
            <a:ext cx="5619750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67C14225-0911-4383-A0AE-22D26C889B50}"/>
              </a:ext>
            </a:extLst>
          </p:cNvPr>
          <p:cNvSpPr>
            <a:spLocks noGrp="1"/>
          </p:cNvSpPr>
          <p:nvPr/>
        </p:nvSpPr>
        <p:spPr>
          <a:xfrm>
            <a:off x="552450" y="1619250"/>
            <a:ext cx="6000750" cy="2190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46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46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OpenStreetMap</a:t>
            </a:r>
          </a:p>
          <a:p>
            <a:pPr>
              <a:defRPr sz="46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46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and street networks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A48F07D-AF9C-4D31-B95B-CB7FBBE6752E}"/>
              </a:ext>
            </a:extLst>
          </p:cNvPr>
          <p:cNvSpPr>
            <a:spLocks noGrp="1"/>
          </p:cNvSpPr>
          <p:nvPr/>
        </p:nvSpPr>
        <p:spPr>
          <a:xfrm>
            <a:off x="552450" y="4310062"/>
            <a:ext cx="581025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0">
                <a:solidFill>
                  <a:srgbClr val="8FD4D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 dirty="0">
                <a:solidFill>
                  <a:srgbClr val="8FD4D9"/>
                </a:solidFill>
                <a:latin typeface="Helvetica Neue"/>
                <a:ea typeface="Helvetica Neue"/>
                <a:cs typeface="Helvetica Neue"/>
              </a:rPr>
              <a:t>MUSA-5500 · Week 8</a:t>
            </a:r>
            <a:endParaRPr lang="en-US" sz="2100" b="0" dirty="0">
              <a:solidFill>
                <a:srgbClr val="8FD4D9"/>
              </a:solidFill>
              <a:latin typeface="Helvetica Neue"/>
              <a:ea typeface="Helvetica Neue"/>
              <a:cs typeface="Helvetica Neue"/>
            </a:endParaRPr>
          </a:p>
          <a:p>
            <a:pPr>
              <a:defRPr sz="2100" b="0">
                <a:solidFill>
                  <a:srgbClr val="8FD4D9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en-US" sz="2100" dirty="0">
                <a:solidFill>
                  <a:srgbClr val="8FD4D9"/>
                </a:solidFill>
                <a:latin typeface="Helvetica Neue"/>
                <a:ea typeface="Helvetica Neue"/>
                <a:cs typeface="Helvetica Neue"/>
              </a:rPr>
              <a:t>Zhanchao</a:t>
            </a:r>
            <a:r>
              <a:rPr lang="zh-CN" altLang="en-US" sz="2100" dirty="0">
                <a:solidFill>
                  <a:srgbClr val="8FD4D9"/>
                </a:solidFill>
                <a:latin typeface="Helvetica Neue"/>
                <a:ea typeface="Helvetica Neue"/>
                <a:cs typeface="Helvetica Neue"/>
              </a:rPr>
              <a:t> </a:t>
            </a:r>
            <a:r>
              <a:rPr lang="en-US" altLang="zh-CN" sz="2100" dirty="0">
                <a:solidFill>
                  <a:srgbClr val="8FD4D9"/>
                </a:solidFill>
                <a:latin typeface="Helvetica Neue"/>
                <a:ea typeface="Helvetica Neue"/>
                <a:cs typeface="Helvetica Neue"/>
              </a:rPr>
              <a:t>Yang</a:t>
            </a:r>
            <a:endParaRPr sz="2100" b="0" dirty="0">
              <a:solidFill>
                <a:srgbClr val="8FD4D9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6E4B6FA-A0B5-4E48-843D-1224032753A3}"/>
              </a:ext>
            </a:extLst>
          </p:cNvPr>
          <p:cNvSpPr>
            <a:spLocks noGrp="1"/>
          </p:cNvSpPr>
          <p:nvPr/>
        </p:nvSpPr>
        <p:spPr>
          <a:xfrm>
            <a:off x="590550" y="5238750"/>
            <a:ext cx="5476875" cy="904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25" b="0">
                <a:solidFill>
                  <a:srgbClr val="E3E5D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E3E5DF"/>
                </a:solidFill>
                <a:latin typeface="Helvetica Neue"/>
                <a:ea typeface="Helvetica Neue"/>
                <a:cs typeface="Helvetica Neue"/>
              </a:rPr>
              <a:t>A map, a few features, and a walking route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B1C57BA-EEAA-48F6-8A40-AAA16397FA16}"/>
              </a:ext>
            </a:extLst>
          </p:cNvPr>
          <p:cNvSpPr>
            <a:spLocks noGrp="1"/>
          </p:cNvSpPr>
          <p:nvPr/>
        </p:nvSpPr>
        <p:spPr>
          <a:xfrm>
            <a:off x="11591925" y="6515100"/>
            <a:ext cx="428625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9CB7B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9CB7BC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6385861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FC56EA8-4FEA-421F-A4D7-B60FF86F0EA4}"/>
              </a:ext>
            </a:extLst>
          </p:cNvPr>
          <p:cNvSpPr>
            <a:spLocks noGrp="1"/>
          </p:cNvSpPr>
          <p:nvPr/>
        </p:nvSpPr>
        <p:spPr>
          <a:xfrm>
            <a:off x="590550" y="438150"/>
            <a:ext cx="11010900" cy="10382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en-US" sz="3450" b="1" dirty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What</a:t>
            </a:r>
            <a:r>
              <a:rPr lang="zh-CN" altLang="en-US" sz="3450" b="1" dirty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 </a:t>
            </a:r>
            <a:r>
              <a:rPr lang="en-US" altLang="zh-CN" sz="3450" b="1" dirty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is</a:t>
            </a:r>
            <a:r>
              <a:rPr lang="zh-CN" altLang="en-US" sz="3450" b="1" dirty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 </a:t>
            </a:r>
            <a:r>
              <a:rPr lang="en-US" altLang="zh-CN" sz="3450" b="1" dirty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OpenStreetMap</a:t>
            </a:r>
            <a:endParaRPr sz="3450" b="1" dirty="0">
              <a:solidFill>
                <a:srgbClr val="243136"/>
              </a:solidFill>
              <a:latin typeface="Helvetica Neue"/>
              <a:ea typeface="Helvetica Neue"/>
              <a:cs typeface="Helvetica Neue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048933" y="1504950"/>
            <a:ext cx="8094133" cy="455295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3F027F8F-9211-4054-84F7-28D4D2BB3871}"/>
              </a:ext>
            </a:extLst>
          </p:cNvPr>
          <p:cNvSpPr>
            <a:spLocks noGrp="1"/>
          </p:cNvSpPr>
          <p:nvPr/>
        </p:nvSpPr>
        <p:spPr>
          <a:xfrm>
            <a:off x="609600" y="6143625"/>
            <a:ext cx="10839450" cy="476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A street? A building? A station?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BC94E3C-AC8F-4273-8B3F-FE15447841DB}"/>
              </a:ext>
            </a:extLst>
          </p:cNvPr>
          <p:cNvSpPr>
            <a:spLocks noGrp="1"/>
          </p:cNvSpPr>
          <p:nvPr/>
        </p:nvSpPr>
        <p:spPr>
          <a:xfrm>
            <a:off x="619125" y="6581775"/>
            <a:ext cx="5334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125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© OpenStreetMap contributors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241374E-8306-4074-8508-19445C756750}"/>
              </a:ext>
            </a:extLst>
          </p:cNvPr>
          <p:cNvSpPr>
            <a:spLocks noGrp="1"/>
          </p:cNvSpPr>
          <p:nvPr/>
        </p:nvSpPr>
        <p:spPr>
          <a:xfrm>
            <a:off x="11591925" y="6515100"/>
            <a:ext cx="428625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8191500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A9C0BA5C-07A1-46A6-AEC6-488491EB71EC}"/>
              </a:ext>
            </a:extLst>
          </p:cNvPr>
          <p:cNvSpPr>
            <a:spLocks noGrp="1"/>
          </p:cNvSpPr>
          <p:nvPr/>
        </p:nvSpPr>
        <p:spPr>
          <a:xfrm>
            <a:off x="590550" y="438150"/>
            <a:ext cx="11010900" cy="10382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What is OpenStreetMap?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D60BD96-F1C3-45AC-BB8C-5FC39B2E8DFA}"/>
              </a:ext>
            </a:extLst>
          </p:cNvPr>
          <p:cNvSpPr>
            <a:spLocks noGrp="1"/>
          </p:cNvSpPr>
          <p:nvPr/>
        </p:nvSpPr>
        <p:spPr>
          <a:xfrm>
            <a:off x="609600" y="2076450"/>
            <a:ext cx="10477500" cy="1828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4050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defRPr>
            </a:pPr>
            <a:r>
              <a:rPr sz="4050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rPr>
              <a:t>An editable geographic database.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1F853AB-CF6F-4AB2-9510-FE7DF112443C}"/>
              </a:ext>
            </a:extLst>
          </p:cNvPr>
          <p:cNvSpPr>
            <a:spLocks noGrp="1"/>
          </p:cNvSpPr>
          <p:nvPr/>
        </p:nvSpPr>
        <p:spPr>
          <a:xfrm>
            <a:off x="638175" y="4752975"/>
            <a:ext cx="10191750" cy="11525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People contribute locations, shapes, and descriptions of places.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4E526E8-05E8-401E-ADC2-2642BF0C19E2}"/>
              </a:ext>
            </a:extLst>
          </p:cNvPr>
          <p:cNvSpPr>
            <a:spLocks noGrp="1"/>
          </p:cNvSpPr>
          <p:nvPr/>
        </p:nvSpPr>
        <p:spPr>
          <a:xfrm>
            <a:off x="11591925" y="6515100"/>
            <a:ext cx="428625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2088493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DF03A9B-1DDD-453E-8BAE-E73437E4D2A6}"/>
              </a:ext>
            </a:extLst>
          </p:cNvPr>
          <p:cNvSpPr>
            <a:spLocks noGrp="1"/>
          </p:cNvSpPr>
          <p:nvPr/>
        </p:nvSpPr>
        <p:spPr>
          <a:xfrm>
            <a:off x="590550" y="438150"/>
            <a:ext cx="11010900" cy="10382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Who maintains the map?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495925" y="1925836"/>
            <a:ext cx="6191250" cy="3482578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01F840EA-5E9F-41C9-B43B-3B21E37B82C2}"/>
              </a:ext>
            </a:extLst>
          </p:cNvPr>
          <p:cNvSpPr>
            <a:spLocks noGrp="1"/>
          </p:cNvSpPr>
          <p:nvPr/>
        </p:nvSpPr>
        <p:spPr>
          <a:xfrm>
            <a:off x="590550" y="1971675"/>
            <a:ext cx="4381500" cy="14763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925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rPr>
              <a:t>A real object has an edit history.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33B1243-A7E2-426E-841A-CC61CFC2519C}"/>
              </a:ext>
            </a:extLst>
          </p:cNvPr>
          <p:cNvSpPr>
            <a:spLocks noGrp="1"/>
          </p:cNvSpPr>
          <p:nvPr/>
        </p:nvSpPr>
        <p:spPr>
          <a:xfrm>
            <a:off x="619125" y="3914775"/>
            <a:ext cx="4238625" cy="1428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A contributor can add a station, adjust its location, or improve its tags.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C7A3DA3-A74E-4300-92F2-98609DFC9BB6}"/>
              </a:ext>
            </a:extLst>
          </p:cNvPr>
          <p:cNvSpPr>
            <a:spLocks noGrp="1"/>
          </p:cNvSpPr>
          <p:nvPr/>
        </p:nvSpPr>
        <p:spPr>
          <a:xfrm>
            <a:off x="619125" y="6581775"/>
            <a:ext cx="5334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125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© OpenStreetMap contributors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1DF9E60-03D3-4B1D-8D31-853131A0F09F}"/>
              </a:ext>
            </a:extLst>
          </p:cNvPr>
          <p:cNvSpPr>
            <a:spLocks noGrp="1"/>
          </p:cNvSpPr>
          <p:nvPr/>
        </p:nvSpPr>
        <p:spPr>
          <a:xfrm>
            <a:off x="11591925" y="6515100"/>
            <a:ext cx="428625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058065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472359A-DCD6-468B-AD7D-9ECA0E933556}"/>
              </a:ext>
            </a:extLst>
          </p:cNvPr>
          <p:cNvSpPr>
            <a:spLocks noGrp="1"/>
          </p:cNvSpPr>
          <p:nvPr/>
        </p:nvSpPr>
        <p:spPr>
          <a:xfrm>
            <a:off x="590550" y="438150"/>
            <a:ext cx="11010900" cy="10382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How does OSM store a city?</a:t>
            </a:r>
          </a:p>
        </p:txBody>
      </p:sp>
      <p:graphicFrame>
        <p:nvGraphicFramePr>
          <p:cNvPr id="5" name="Table 4"/>
          <p:cNvGraphicFramePr/>
          <p:nvPr/>
        </p:nvGraphicFramePr>
        <p:xfrm>
          <a:off x="590550" y="1971675"/>
          <a:ext cx="11010900" cy="3286124"/>
        </p:xfrm>
        <a:graphic>
          <a:graphicData uri="http://schemas.openxmlformats.org/drawingml/2006/table">
            <a:tbl>
              <a:tblPr/>
              <a:tblGrid>
                <a:gridCol w="2238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14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577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21531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OSM object</a:t>
                      </a:r>
                    </a:p>
                  </a:txBody>
                  <a:tcPr>
                    <a:solidFill>
                      <a:srgbClr val="2431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What it stores</a:t>
                      </a:r>
                    </a:p>
                  </a:txBody>
                  <a:tcPr>
                    <a:solidFill>
                      <a:srgbClr val="2431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 familiar example</a:t>
                      </a:r>
                    </a:p>
                  </a:txBody>
                  <a:tcPr>
                    <a:solidFill>
                      <a:srgbClr val="2431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21531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431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Node</a:t>
                      </a:r>
                    </a:p>
                  </a:txBody>
                  <a:tcPr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431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One coordinate</a:t>
                      </a:r>
                    </a:p>
                  </a:txBody>
                  <a:tcPr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431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 station or crossing</a:t>
                      </a:r>
                    </a:p>
                  </a:txBody>
                  <a:tcPr>
                    <a:solidFill>
                      <a:srgbClr val="F6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21531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431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Way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431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An ordered list of nodes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431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Locust Walk or a building outline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21531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431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Relation</a:t>
                      </a:r>
                    </a:p>
                  </a:txBody>
                  <a:tcPr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431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Objects grouped with roles</a:t>
                      </a:r>
                    </a:p>
                  </a:txBody>
                  <a:tcPr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431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 transit route or a complex area</a:t>
                      </a:r>
                    </a:p>
                  </a:txBody>
                  <a:tcPr>
                    <a:solidFill>
                      <a:srgbClr val="F6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" name="Rectangle 2">
            <a:extLst>
              <a:ext uri="{FF2B5EF4-FFF2-40B4-BE49-F238E27FC236}">
                <a16:creationId xmlns:a16="http://schemas.microsoft.com/office/drawing/2014/main" id="{4E62FFAA-90A0-4CC1-8A1C-30CB8013F1CC}"/>
              </a:ext>
            </a:extLst>
          </p:cNvPr>
          <p:cNvSpPr>
            <a:spLocks noGrp="1"/>
          </p:cNvSpPr>
          <p:nvPr/>
        </p:nvSpPr>
        <p:spPr>
          <a:xfrm>
            <a:off x="11591925" y="6515100"/>
            <a:ext cx="428625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3793862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49F2E76C-D928-4B95-A7BC-338DB366C985}"/>
              </a:ext>
            </a:extLst>
          </p:cNvPr>
          <p:cNvSpPr>
            <a:spLocks noGrp="1"/>
          </p:cNvSpPr>
          <p:nvPr/>
        </p:nvSpPr>
        <p:spPr>
          <a:xfrm>
            <a:off x="590550" y="438150"/>
            <a:ext cx="11010900" cy="10382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A station is a point with a description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048933" y="1504950"/>
            <a:ext cx="8094133" cy="455295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164BE745-383C-4780-9EBE-FA2FFA3E7930}"/>
              </a:ext>
            </a:extLst>
          </p:cNvPr>
          <p:cNvSpPr>
            <a:spLocks noGrp="1"/>
          </p:cNvSpPr>
          <p:nvPr/>
        </p:nvSpPr>
        <p:spPr>
          <a:xfrm>
            <a:off x="609600" y="6143625"/>
            <a:ext cx="10839450" cy="476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34th Street station: one OSM node, several tags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94D5161-31BF-4D67-A9A1-DBC75F29D4A4}"/>
              </a:ext>
            </a:extLst>
          </p:cNvPr>
          <p:cNvSpPr>
            <a:spLocks noGrp="1"/>
          </p:cNvSpPr>
          <p:nvPr/>
        </p:nvSpPr>
        <p:spPr>
          <a:xfrm>
            <a:off x="619125" y="6581775"/>
            <a:ext cx="5334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125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© OpenStreetMap contributors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CB34C8-A2F8-4C05-BF6A-FFC9ABA4E5E5}"/>
              </a:ext>
            </a:extLst>
          </p:cNvPr>
          <p:cNvSpPr>
            <a:spLocks noGrp="1"/>
          </p:cNvSpPr>
          <p:nvPr/>
        </p:nvSpPr>
        <p:spPr>
          <a:xfrm>
            <a:off x="11591925" y="6515100"/>
            <a:ext cx="428625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8080573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AC7F568-576C-471E-909A-7E966554E717}"/>
              </a:ext>
            </a:extLst>
          </p:cNvPr>
          <p:cNvSpPr>
            <a:spLocks noGrp="1"/>
          </p:cNvSpPr>
          <p:nvPr/>
        </p:nvSpPr>
        <p:spPr>
          <a:xfrm>
            <a:off x="590550" y="438150"/>
            <a:ext cx="11010900" cy="10382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Locust Walk is an ordered line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048933" y="1504950"/>
            <a:ext cx="8094133" cy="455295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5E8F9D16-2976-4D52-885E-E0C28F32FACE}"/>
              </a:ext>
            </a:extLst>
          </p:cNvPr>
          <p:cNvSpPr>
            <a:spLocks noGrp="1"/>
          </p:cNvSpPr>
          <p:nvPr/>
        </p:nvSpPr>
        <p:spPr>
          <a:xfrm>
            <a:off x="609600" y="6143625"/>
            <a:ext cx="10839450" cy="476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The highlighted way carries a pedestrian tag.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604F005-2DFA-4071-8228-5FA6839F058A}"/>
              </a:ext>
            </a:extLst>
          </p:cNvPr>
          <p:cNvSpPr>
            <a:spLocks noGrp="1"/>
          </p:cNvSpPr>
          <p:nvPr/>
        </p:nvSpPr>
        <p:spPr>
          <a:xfrm>
            <a:off x="619125" y="6581775"/>
            <a:ext cx="5334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125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© OpenStreetMap contributors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FA697AC-AE7F-443E-9C7F-C19149B03E20}"/>
              </a:ext>
            </a:extLst>
          </p:cNvPr>
          <p:cNvSpPr>
            <a:spLocks noGrp="1"/>
          </p:cNvSpPr>
          <p:nvPr/>
        </p:nvSpPr>
        <p:spPr>
          <a:xfrm>
            <a:off x="11591925" y="6515100"/>
            <a:ext cx="428625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3554180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EB954DD-0BE5-4FE4-AD51-550B8E1698F2}"/>
              </a:ext>
            </a:extLst>
          </p:cNvPr>
          <p:cNvSpPr>
            <a:spLocks noGrp="1"/>
          </p:cNvSpPr>
          <p:nvPr/>
        </p:nvSpPr>
        <p:spPr>
          <a:xfrm>
            <a:off x="590550" y="438150"/>
            <a:ext cx="11010900" cy="10382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A relation groups existing objects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1E93567-8453-4E86-B4D0-07EC2DB6E67C}"/>
              </a:ext>
            </a:extLst>
          </p:cNvPr>
          <p:cNvSpPr>
            <a:spLocks noGrp="1"/>
          </p:cNvSpPr>
          <p:nvPr/>
        </p:nvSpPr>
        <p:spPr>
          <a:xfrm>
            <a:off x="609600" y="2076450"/>
            <a:ext cx="10477500" cy="1828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4050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defRPr>
            </a:pPr>
            <a:r>
              <a:rPr sz="4050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rPr>
              <a:t>One transit route can contain many ways and stops.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40E2B69-C7FC-4DE8-AF37-CE296C1FD07E}"/>
              </a:ext>
            </a:extLst>
          </p:cNvPr>
          <p:cNvSpPr>
            <a:spLocks noGrp="1"/>
          </p:cNvSpPr>
          <p:nvPr/>
        </p:nvSpPr>
        <p:spPr>
          <a:xfrm>
            <a:off x="638175" y="4752975"/>
            <a:ext cx="10191750" cy="11525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The relation records how those objects belong together.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275FCED-8714-4FE3-B0E2-572506C8E1BE}"/>
              </a:ext>
            </a:extLst>
          </p:cNvPr>
          <p:cNvSpPr>
            <a:spLocks noGrp="1"/>
          </p:cNvSpPr>
          <p:nvPr/>
        </p:nvSpPr>
        <p:spPr>
          <a:xfrm>
            <a:off x="11591925" y="6515100"/>
            <a:ext cx="428625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5063400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41F7103-3D17-4A55-9E58-4057F1EC63F8}"/>
              </a:ext>
            </a:extLst>
          </p:cNvPr>
          <p:cNvSpPr>
            <a:spLocks noGrp="1"/>
          </p:cNvSpPr>
          <p:nvPr/>
        </p:nvSpPr>
        <p:spPr>
          <a:xfrm>
            <a:off x="590550" y="438150"/>
            <a:ext cx="11010900" cy="10382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Tags turn geometry into meaning</a:t>
            </a:r>
          </a:p>
        </p:txBody>
      </p:sp>
      <p:graphicFrame>
        <p:nvGraphicFramePr>
          <p:cNvPr id="6" name="Table 5"/>
          <p:cNvGraphicFramePr/>
          <p:nvPr/>
        </p:nvGraphicFramePr>
        <p:xfrm>
          <a:off x="762000" y="1676400"/>
          <a:ext cx="7429500" cy="3810000"/>
        </p:xfrm>
        <a:graphic>
          <a:graphicData uri="http://schemas.openxmlformats.org/drawingml/2006/table">
            <a:tbl>
              <a:tblPr/>
              <a:tblGrid>
                <a:gridCol w="3238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91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Key</a:t>
                      </a:r>
                    </a:p>
                  </a:txBody>
                  <a:tcPr>
                    <a:solidFill>
                      <a:srgbClr val="2431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Value</a:t>
                      </a:r>
                    </a:p>
                  </a:txBody>
                  <a:tcPr>
                    <a:solidFill>
                      <a:srgbClr val="2431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431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name</a:t>
                      </a:r>
                    </a:p>
                  </a:txBody>
                  <a:tcPr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431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Locust Walk</a:t>
                      </a:r>
                    </a:p>
                  </a:txBody>
                  <a:tcPr>
                    <a:solidFill>
                      <a:srgbClr val="F6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431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highway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431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pedestrian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431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motor_vehicle</a:t>
                      </a:r>
                    </a:p>
                  </a:txBody>
                  <a:tcPr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431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</a:t>
                      </a:r>
                    </a:p>
                  </a:txBody>
                  <a:tcPr>
                    <a:solidFill>
                      <a:srgbClr val="F6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431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surface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431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sett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" name="Rectangle 2">
            <a:extLst>
              <a:ext uri="{FF2B5EF4-FFF2-40B4-BE49-F238E27FC236}">
                <a16:creationId xmlns:a16="http://schemas.microsoft.com/office/drawing/2014/main" id="{FD7B45FA-9BAE-4D4D-A512-81A420C267A5}"/>
              </a:ext>
            </a:extLst>
          </p:cNvPr>
          <p:cNvSpPr>
            <a:spLocks noGrp="1"/>
          </p:cNvSpPr>
          <p:nvPr/>
        </p:nvSpPr>
        <p:spPr>
          <a:xfrm>
            <a:off x="8705850" y="2571750"/>
            <a:ext cx="2857500" cy="1952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625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625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rPr>
              <a:t>Which tag explains</a:t>
            </a:r>
          </a:p>
          <a:p>
            <a:pPr>
              <a:defRPr sz="2625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625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rPr>
              <a:t>who can use</a:t>
            </a:r>
          </a:p>
          <a:p>
            <a:pPr>
              <a:defRPr sz="2625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625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rPr>
              <a:t>this path?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0ABD06F-3910-4AA0-9BDF-F78228085C00}"/>
              </a:ext>
            </a:extLst>
          </p:cNvPr>
          <p:cNvSpPr>
            <a:spLocks noGrp="1"/>
          </p:cNvSpPr>
          <p:nvPr/>
        </p:nvSpPr>
        <p:spPr>
          <a:xfrm>
            <a:off x="11591925" y="6515100"/>
            <a:ext cx="428625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20688414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431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A4CD86BC-7515-4086-B320-FBC46979C1C5}"/>
              </a:ext>
            </a:extLst>
          </p:cNvPr>
          <p:cNvSpPr>
            <a:spLocks noGrp="1"/>
          </p:cNvSpPr>
          <p:nvPr/>
        </p:nvSpPr>
        <p:spPr>
          <a:xfrm>
            <a:off x="590550" y="438150"/>
            <a:ext cx="11010900" cy="10382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4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What might the map miss?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9D586D4-63C6-4D19-918F-051705ED0F96}"/>
              </a:ext>
            </a:extLst>
          </p:cNvPr>
          <p:cNvSpPr>
            <a:spLocks noGrp="1"/>
          </p:cNvSpPr>
          <p:nvPr/>
        </p:nvSpPr>
        <p:spPr>
          <a:xfrm>
            <a:off x="628650" y="2143125"/>
            <a:ext cx="10668000" cy="2476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82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82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A missing footpath.</a:t>
            </a:r>
          </a:p>
          <a:p>
            <a:pPr>
              <a:defRPr sz="382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82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A closed entrance.</a:t>
            </a:r>
          </a:p>
          <a:p>
            <a:pPr>
              <a:defRPr sz="382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82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A cafe that just opened.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BC2253F-47F5-4947-94BE-A3AC0C8651AE}"/>
              </a:ext>
            </a:extLst>
          </p:cNvPr>
          <p:cNvSpPr>
            <a:spLocks noGrp="1"/>
          </p:cNvSpPr>
          <p:nvPr/>
        </p:nvSpPr>
        <p:spPr>
          <a:xfrm>
            <a:off x="11591925" y="6515100"/>
            <a:ext cx="428625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9CB7B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9CB7BC"/>
                </a:solidFill>
                <a:latin typeface="Helvetica Neue"/>
                <a:ea typeface="Helvetica Neue"/>
                <a:cs typeface="Helvetica Neue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9645750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51CE9C1-1847-4082-A68D-DF4338B355BE}"/>
              </a:ext>
            </a:extLst>
          </p:cNvPr>
          <p:cNvSpPr>
            <a:spLocks noGrp="1"/>
          </p:cNvSpPr>
          <p:nvPr/>
        </p:nvSpPr>
        <p:spPr>
          <a:xfrm>
            <a:off x="590550" y="438150"/>
            <a:ext cx="11010900" cy="10382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How can we use these data in Python?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4D4A45F-8781-4206-9354-2F4EB05DC158}"/>
              </a:ext>
            </a:extLst>
          </p:cNvPr>
          <p:cNvSpPr>
            <a:spLocks noGrp="1"/>
          </p:cNvSpPr>
          <p:nvPr/>
        </p:nvSpPr>
        <p:spPr>
          <a:xfrm>
            <a:off x="609600" y="2076450"/>
            <a:ext cx="10477500" cy="1828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4050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defRPr>
            </a:pPr>
            <a:r>
              <a:rPr sz="4050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rPr>
              <a:t>OSM supplies the data.</a:t>
            </a:r>
          </a:p>
          <a:p>
            <a:pPr>
              <a:defRPr sz="4050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defRPr>
            </a:pPr>
            <a:r>
              <a:rPr sz="4050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rPr>
              <a:t>OSMnx helps us work with them.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5686435-52B9-4AAB-B16D-0DDE9A60BE1F}"/>
              </a:ext>
            </a:extLst>
          </p:cNvPr>
          <p:cNvSpPr>
            <a:spLocks noGrp="1"/>
          </p:cNvSpPr>
          <p:nvPr/>
        </p:nvSpPr>
        <p:spPr>
          <a:xfrm>
            <a:off x="638175" y="4752975"/>
            <a:ext cx="10191750" cy="11525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First: find a place and retrieve a few features.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23C75BC-8BDE-4282-BC23-319EEFA6120D}"/>
              </a:ext>
            </a:extLst>
          </p:cNvPr>
          <p:cNvSpPr>
            <a:spLocks noGrp="1"/>
          </p:cNvSpPr>
          <p:nvPr/>
        </p:nvSpPr>
        <p:spPr>
          <a:xfrm>
            <a:off x="11591925" y="6515100"/>
            <a:ext cx="428625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0481303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65615B3-D8E2-4A6F-8CF3-B9F5AD38877B}"/>
              </a:ext>
            </a:extLst>
          </p:cNvPr>
          <p:cNvSpPr>
            <a:spLocks noGrp="1"/>
          </p:cNvSpPr>
          <p:nvPr/>
        </p:nvSpPr>
        <p:spPr>
          <a:xfrm>
            <a:off x="590550" y="438150"/>
            <a:ext cx="11010900" cy="10382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Our first notebook cells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A3AD745-7FEB-4294-BB8E-6B58E99E0F60}"/>
              </a:ext>
            </a:extLst>
          </p:cNvPr>
          <p:cNvSpPr>
            <a:spLocks noGrp="1"/>
          </p:cNvSpPr>
          <p:nvPr/>
        </p:nvSpPr>
        <p:spPr>
          <a:xfrm>
            <a:off x="647700" y="2038350"/>
            <a:ext cx="10810875" cy="2381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0">
                <a:solidFill>
                  <a:srgbClr val="227C9D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import osmnx as ox</a:t>
            </a:r>
          </a:p>
          <a:p>
            <a:pPr>
              <a:defRPr sz="2100" b="0">
                <a:solidFill>
                  <a:srgbClr val="227C9D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import geopandas as gpd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372B587-4AE5-40A0-B766-B237D7A0CE57}"/>
              </a:ext>
            </a:extLst>
          </p:cNvPr>
          <p:cNvSpPr>
            <a:spLocks noGrp="1"/>
          </p:cNvSpPr>
          <p:nvPr/>
        </p:nvSpPr>
        <p:spPr>
          <a:xfrm>
            <a:off x="647700" y="5124450"/>
            <a:ext cx="1047750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One cell at a time. Run it, inspect it, then continue.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86B6FE6-B237-4381-B855-A4A3EEE99730}"/>
              </a:ext>
            </a:extLst>
          </p:cNvPr>
          <p:cNvSpPr>
            <a:spLocks noGrp="1"/>
          </p:cNvSpPr>
          <p:nvPr/>
        </p:nvSpPr>
        <p:spPr>
          <a:xfrm>
            <a:off x="11591925" y="6515100"/>
            <a:ext cx="428625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0466817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672D74-6DF3-4C34-AA77-821C056C76F9}"/>
              </a:ext>
            </a:extLst>
          </p:cNvPr>
          <p:cNvSpPr>
            <a:spLocks noGrp="1"/>
          </p:cNvSpPr>
          <p:nvPr/>
        </p:nvSpPr>
        <p:spPr>
          <a:xfrm>
            <a:off x="590550" y="438150"/>
            <a:ext cx="11010900" cy="10382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First, find Philadelphia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1B7AB6E-1010-4308-B4FE-8896C995840C}"/>
              </a:ext>
            </a:extLst>
          </p:cNvPr>
          <p:cNvSpPr>
            <a:spLocks noGrp="1"/>
          </p:cNvSpPr>
          <p:nvPr/>
        </p:nvSpPr>
        <p:spPr>
          <a:xfrm>
            <a:off x="619125" y="2009775"/>
            <a:ext cx="6143625" cy="3067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725" b="0">
                <a:solidFill>
                  <a:srgbClr val="227C9D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philly = ox.geocode_to_gdf(</a:t>
            </a:r>
          </a:p>
          <a:p>
            <a:pPr>
              <a:defRPr sz="1725" b="0">
                <a:solidFill>
                  <a:srgbClr val="227C9D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    "Philadelphia, Pennsylvania, USA"</a:t>
            </a:r>
          </a:p>
          <a:p>
            <a:pPr>
              <a:defRPr sz="1725" b="0">
                <a:solidFill>
                  <a:srgbClr val="227C9D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)</a:t>
            </a:r>
          </a:p>
          <a:p>
            <a:pPr>
              <a:defRPr sz="1725" b="0">
                <a:solidFill>
                  <a:srgbClr val="227C9D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philly.plot()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272935" y="1552575"/>
            <a:ext cx="3970729" cy="43053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3C9E529D-D8BD-458C-AB01-D0593FB06176}"/>
              </a:ext>
            </a:extLst>
          </p:cNvPr>
          <p:cNvSpPr>
            <a:spLocks noGrp="1"/>
          </p:cNvSpPr>
          <p:nvPr/>
        </p:nvSpPr>
        <p:spPr>
          <a:xfrm>
            <a:off x="638175" y="5476875"/>
            <a:ext cx="6191250" cy="9144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5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Notebook §2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FDCF9CB-BE08-4D52-9410-088E1476CCBC}"/>
              </a:ext>
            </a:extLst>
          </p:cNvPr>
          <p:cNvSpPr>
            <a:spLocks noGrp="1"/>
          </p:cNvSpPr>
          <p:nvPr/>
        </p:nvSpPr>
        <p:spPr>
          <a:xfrm>
            <a:off x="619125" y="6581775"/>
            <a:ext cx="5334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125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© OpenStreetMap contributors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7D7456E-7AF1-495B-AB04-F63BE8451A77}"/>
              </a:ext>
            </a:extLst>
          </p:cNvPr>
          <p:cNvSpPr>
            <a:spLocks noGrp="1"/>
          </p:cNvSpPr>
          <p:nvPr/>
        </p:nvSpPr>
        <p:spPr>
          <a:xfrm>
            <a:off x="11591925" y="6515100"/>
            <a:ext cx="428625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6574396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F1B515C7-B80B-4D8B-A491-2A5A3F9662AA}"/>
              </a:ext>
            </a:extLst>
          </p:cNvPr>
          <p:cNvSpPr>
            <a:spLocks noGrp="1"/>
          </p:cNvSpPr>
          <p:nvPr/>
        </p:nvSpPr>
        <p:spPr>
          <a:xfrm>
            <a:off x="590550" y="438150"/>
            <a:ext cx="11010900" cy="10382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A buffer needs meaningful units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96D7782-C34C-4DAC-83A5-4D818F57E187}"/>
              </a:ext>
            </a:extLst>
          </p:cNvPr>
          <p:cNvSpPr>
            <a:spLocks noGrp="1"/>
          </p:cNvSpPr>
          <p:nvPr/>
        </p:nvSpPr>
        <p:spPr>
          <a:xfrm>
            <a:off x="619125" y="2009775"/>
            <a:ext cx="6143625" cy="3067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725" b="0">
                <a:solidFill>
                  <a:srgbClr val="227C9D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philly.crs</a:t>
            </a:r>
          </a:p>
          <a:p>
            <a:endParaRPr sz="1725" b="0">
              <a:solidFill>
                <a:srgbClr val="227C9D"/>
              </a:solidFill>
              <a:latin typeface="Menlo"/>
              <a:ea typeface="Menlo"/>
              <a:cs typeface="Menlo"/>
            </a:endParaRPr>
          </a:p>
          <a:p>
            <a:pPr>
              <a:defRPr sz="1725" b="0">
                <a:solidFill>
                  <a:srgbClr val="227C9D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philly_m = philly.to_crs(</a:t>
            </a:r>
          </a:p>
          <a:p>
            <a:pPr>
              <a:defRPr sz="1725" b="0">
                <a:solidFill>
                  <a:srgbClr val="227C9D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    "EPSG:32618"</a:t>
            </a:r>
          </a:p>
          <a:p>
            <a:pPr>
              <a:defRPr sz="1725" b="0">
                <a:solidFill>
                  <a:srgbClr val="227C9D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)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272935" y="1552575"/>
            <a:ext cx="3970729" cy="43053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32E83859-75D1-4C52-B4CA-AE427CB6CFF9}"/>
              </a:ext>
            </a:extLst>
          </p:cNvPr>
          <p:cNvSpPr>
            <a:spLocks noGrp="1"/>
          </p:cNvSpPr>
          <p:nvPr/>
        </p:nvSpPr>
        <p:spPr>
          <a:xfrm>
            <a:off x="638175" y="5476875"/>
            <a:ext cx="6191250" cy="9144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5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Longitude / latitude gives degrees.</a:t>
            </a:r>
          </a:p>
          <a:p>
            <a:pPr>
              <a:defRPr sz="195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Our local projection gives meters.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D62AF98-3E4C-4E08-91CD-4FE0341918B6}"/>
              </a:ext>
            </a:extLst>
          </p:cNvPr>
          <p:cNvSpPr>
            <a:spLocks noGrp="1"/>
          </p:cNvSpPr>
          <p:nvPr/>
        </p:nvSpPr>
        <p:spPr>
          <a:xfrm>
            <a:off x="619125" y="6581775"/>
            <a:ext cx="5334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125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© OpenStreetMap contributors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C739187-40CD-401D-B99C-DC92C664A728}"/>
              </a:ext>
            </a:extLst>
          </p:cNvPr>
          <p:cNvSpPr>
            <a:spLocks noGrp="1"/>
          </p:cNvSpPr>
          <p:nvPr/>
        </p:nvSpPr>
        <p:spPr>
          <a:xfrm>
            <a:off x="11591925" y="6515100"/>
            <a:ext cx="428625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3790587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B95C3EC-B0FF-4F6C-8137-0C615BF21D64}"/>
              </a:ext>
            </a:extLst>
          </p:cNvPr>
          <p:cNvSpPr>
            <a:spLocks noGrp="1"/>
          </p:cNvSpPr>
          <p:nvPr/>
        </p:nvSpPr>
        <p:spPr>
          <a:xfrm>
            <a:off x="590550" y="438150"/>
            <a:ext cx="11010900" cy="10382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What is around 34th Street?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3744B4B-5BAE-48A1-A13C-83167D016877}"/>
              </a:ext>
            </a:extLst>
          </p:cNvPr>
          <p:cNvSpPr>
            <a:spLocks noGrp="1"/>
          </p:cNvSpPr>
          <p:nvPr/>
        </p:nvSpPr>
        <p:spPr>
          <a:xfrm>
            <a:off x="619125" y="2009775"/>
            <a:ext cx="6143625" cy="3067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725" b="0">
                <a:solidFill>
                  <a:srgbClr val="227C9D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center = (39.9559238, -75.1914953)</a:t>
            </a:r>
          </a:p>
          <a:p>
            <a:pPr>
              <a:defRPr sz="1725" b="0">
                <a:solidFill>
                  <a:srgbClr val="227C9D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cafes = ox.features_from_point(</a:t>
            </a:r>
          </a:p>
          <a:p>
            <a:pPr>
              <a:defRPr sz="1725" b="0">
                <a:solidFill>
                  <a:srgbClr val="227C9D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    center,</a:t>
            </a:r>
          </a:p>
          <a:p>
            <a:pPr>
              <a:defRPr sz="1725" b="0">
                <a:solidFill>
                  <a:srgbClr val="227C9D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    tags={"amenity": "cafe"},</a:t>
            </a:r>
          </a:p>
          <a:p>
            <a:pPr>
              <a:defRPr sz="1725" b="0">
                <a:solidFill>
                  <a:srgbClr val="227C9D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    dist=1000</a:t>
            </a:r>
          </a:p>
          <a:p>
            <a:pPr>
              <a:defRPr sz="1725" b="0">
                <a:solidFill>
                  <a:srgbClr val="227C9D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)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105650" y="1552575"/>
            <a:ext cx="4305300" cy="43053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C037B123-6479-4852-AE1A-FA9F9D714C13}"/>
              </a:ext>
            </a:extLst>
          </p:cNvPr>
          <p:cNvSpPr>
            <a:spLocks noGrp="1"/>
          </p:cNvSpPr>
          <p:nvPr/>
        </p:nvSpPr>
        <p:spPr>
          <a:xfrm>
            <a:off x="638175" y="5476875"/>
            <a:ext cx="6191250" cy="9144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5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Notebook §3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22CCF86-1F18-4F9E-87B8-249D6E76B0E3}"/>
              </a:ext>
            </a:extLst>
          </p:cNvPr>
          <p:cNvSpPr>
            <a:spLocks noGrp="1"/>
          </p:cNvSpPr>
          <p:nvPr/>
        </p:nvSpPr>
        <p:spPr>
          <a:xfrm>
            <a:off x="619125" y="6581775"/>
            <a:ext cx="5334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125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© OpenStreetMap contributors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7621BE3-FB95-4DDD-B1B3-D99622A0F254}"/>
              </a:ext>
            </a:extLst>
          </p:cNvPr>
          <p:cNvSpPr>
            <a:spLocks noGrp="1"/>
          </p:cNvSpPr>
          <p:nvPr/>
        </p:nvSpPr>
        <p:spPr>
          <a:xfrm>
            <a:off x="11591925" y="6515100"/>
            <a:ext cx="428625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5417591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8E9CA179-0C5E-448D-9A95-4F76E83D5C63}"/>
              </a:ext>
            </a:extLst>
          </p:cNvPr>
          <p:cNvSpPr>
            <a:spLocks noGrp="1"/>
          </p:cNvSpPr>
          <p:nvPr/>
        </p:nvSpPr>
        <p:spPr>
          <a:xfrm>
            <a:off x="590550" y="438150"/>
            <a:ext cx="11010900" cy="10382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Inspect before plotting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D0B8BE0-8047-407D-AA27-80588205E8D3}"/>
              </a:ext>
            </a:extLst>
          </p:cNvPr>
          <p:cNvSpPr>
            <a:spLocks noGrp="1"/>
          </p:cNvSpPr>
          <p:nvPr/>
        </p:nvSpPr>
        <p:spPr>
          <a:xfrm>
            <a:off x="647700" y="2038350"/>
            <a:ext cx="10810875" cy="2381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0">
                <a:solidFill>
                  <a:srgbClr val="227C9D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cafes[["name", "amenity", "geometry"]].head()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4414B04-1AE3-4B70-8FAA-06542E6763AA}"/>
              </a:ext>
            </a:extLst>
          </p:cNvPr>
          <p:cNvSpPr>
            <a:spLocks noGrp="1"/>
          </p:cNvSpPr>
          <p:nvPr/>
        </p:nvSpPr>
        <p:spPr>
          <a:xfrm>
            <a:off x="647700" y="5124450"/>
            <a:ext cx="1047750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Each row is an OSM feature.</a:t>
            </a:r>
          </a:p>
          <a:p>
            <a:pPr>
              <a:defRPr sz="225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Some features are points. Others are polygons.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75C1012-DBD9-4810-BC34-8606C35A2A47}"/>
              </a:ext>
            </a:extLst>
          </p:cNvPr>
          <p:cNvSpPr>
            <a:spLocks noGrp="1"/>
          </p:cNvSpPr>
          <p:nvPr/>
        </p:nvSpPr>
        <p:spPr>
          <a:xfrm>
            <a:off x="11591925" y="6515100"/>
            <a:ext cx="428625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463639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431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54A5989-F639-45E0-A792-176B5DBD68C9}"/>
              </a:ext>
            </a:extLst>
          </p:cNvPr>
          <p:cNvSpPr>
            <a:spLocks noGrp="1"/>
          </p:cNvSpPr>
          <p:nvPr/>
        </p:nvSpPr>
        <p:spPr>
          <a:xfrm>
            <a:off x="590550" y="438150"/>
            <a:ext cx="11010900" cy="10382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4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Your turn: find restaurants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724F49-FAFB-4D25-86B2-B7C9E414962E}"/>
              </a:ext>
            </a:extLst>
          </p:cNvPr>
          <p:cNvSpPr>
            <a:spLocks noGrp="1"/>
          </p:cNvSpPr>
          <p:nvPr/>
        </p:nvSpPr>
        <p:spPr>
          <a:xfrm>
            <a:off x="628650" y="2143125"/>
            <a:ext cx="10668000" cy="2476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82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82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Which word would you change?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8D0D86E-EFD8-4780-9395-463E93394E1D}"/>
              </a:ext>
            </a:extLst>
          </p:cNvPr>
          <p:cNvSpPr>
            <a:spLocks noGrp="1"/>
          </p:cNvSpPr>
          <p:nvPr/>
        </p:nvSpPr>
        <p:spPr>
          <a:xfrm>
            <a:off x="647700" y="5429250"/>
            <a:ext cx="10525125" cy="8477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8FD4D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8FD4D9"/>
                </a:solidFill>
                <a:latin typeface="Helvetica Neue"/>
                <a:ea typeface="Helvetica Neue"/>
                <a:cs typeface="Helvetica Neue"/>
              </a:rPr>
              <a:t>{"amenity": "cafe"}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80664B2-7BED-43D0-A560-D9D144DBE151}"/>
              </a:ext>
            </a:extLst>
          </p:cNvPr>
          <p:cNvSpPr>
            <a:spLocks noGrp="1"/>
          </p:cNvSpPr>
          <p:nvPr/>
        </p:nvSpPr>
        <p:spPr>
          <a:xfrm>
            <a:off x="11591925" y="6515100"/>
            <a:ext cx="428625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9CB7B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9CB7BC"/>
                </a:solidFill>
                <a:latin typeface="Helvetica Neue"/>
                <a:ea typeface="Helvetica Neue"/>
                <a:cs typeface="Helvetica Neue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65330285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6A641D52-7D84-4D2A-85EF-6117E305C1F3}"/>
              </a:ext>
            </a:extLst>
          </p:cNvPr>
          <p:cNvSpPr>
            <a:spLocks noGrp="1"/>
          </p:cNvSpPr>
          <p:nvPr/>
        </p:nvSpPr>
        <p:spPr>
          <a:xfrm>
            <a:off x="590550" y="438150"/>
            <a:ext cx="11010900" cy="10382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Now we want connections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A127A66-9060-4EC5-8935-61577ACB65B4}"/>
              </a:ext>
            </a:extLst>
          </p:cNvPr>
          <p:cNvSpPr>
            <a:spLocks noGrp="1"/>
          </p:cNvSpPr>
          <p:nvPr/>
        </p:nvSpPr>
        <p:spPr>
          <a:xfrm>
            <a:off x="619125" y="2009775"/>
            <a:ext cx="6143625" cy="3067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725" b="0">
                <a:solidFill>
                  <a:srgbClr val="227C9D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G = ox.graph_from_point(</a:t>
            </a:r>
          </a:p>
          <a:p>
            <a:pPr>
              <a:defRPr sz="1725" b="0">
                <a:solidFill>
                  <a:srgbClr val="227C9D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    center, dist=2500,</a:t>
            </a:r>
          </a:p>
          <a:p>
            <a:pPr>
              <a:defRPr sz="1725" b="0">
                <a:solidFill>
                  <a:srgbClr val="227C9D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    network_type="walk"</a:t>
            </a:r>
          </a:p>
          <a:p>
            <a:pPr>
              <a:defRPr sz="1725" b="0">
                <a:solidFill>
                  <a:srgbClr val="227C9D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)</a:t>
            </a:r>
          </a:p>
          <a:p>
            <a:pPr>
              <a:defRPr sz="1725" b="0">
                <a:solidFill>
                  <a:srgbClr val="227C9D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ox.plot_graph(G, node_size=0)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104155" y="1552575"/>
            <a:ext cx="4308290" cy="43053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19A5B938-3650-4250-989B-240038494E49}"/>
              </a:ext>
            </a:extLst>
          </p:cNvPr>
          <p:cNvSpPr>
            <a:spLocks noGrp="1"/>
          </p:cNvSpPr>
          <p:nvPr/>
        </p:nvSpPr>
        <p:spPr>
          <a:xfrm>
            <a:off x="638175" y="5476875"/>
            <a:ext cx="6191250" cy="9144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5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Notebook §4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E305A22-E83F-4446-A39A-AD6D9DFB9867}"/>
              </a:ext>
            </a:extLst>
          </p:cNvPr>
          <p:cNvSpPr>
            <a:spLocks noGrp="1"/>
          </p:cNvSpPr>
          <p:nvPr/>
        </p:nvSpPr>
        <p:spPr>
          <a:xfrm>
            <a:off x="619125" y="6581775"/>
            <a:ext cx="5334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125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© OpenStreetMap contributors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A2ACF30-614A-4887-8181-E807E7826BD2}"/>
              </a:ext>
            </a:extLst>
          </p:cNvPr>
          <p:cNvSpPr>
            <a:spLocks noGrp="1"/>
          </p:cNvSpPr>
          <p:nvPr/>
        </p:nvSpPr>
        <p:spPr>
          <a:xfrm>
            <a:off x="11591925" y="6515100"/>
            <a:ext cx="428625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11241654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EB99729F-AE16-47B1-99EC-B505DF7D68F3}"/>
              </a:ext>
            </a:extLst>
          </p:cNvPr>
          <p:cNvSpPr>
            <a:spLocks noGrp="1"/>
          </p:cNvSpPr>
          <p:nvPr/>
        </p:nvSpPr>
        <p:spPr>
          <a:xfrm>
            <a:off x="590550" y="438150"/>
            <a:ext cx="11010900" cy="10382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Can walking and driving use the same links?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756A89B-44BB-47E7-940D-5211DCF4ABEC}"/>
              </a:ext>
            </a:extLst>
          </p:cNvPr>
          <p:cNvSpPr>
            <a:spLocks noGrp="1"/>
          </p:cNvSpPr>
          <p:nvPr/>
        </p:nvSpPr>
        <p:spPr>
          <a:xfrm>
            <a:off x="628650" y="1571625"/>
            <a:ext cx="504825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rPr>
              <a:t>Driving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3FDEB3C-9E3C-4DD6-8C83-3E51FFE02FD3}"/>
              </a:ext>
            </a:extLst>
          </p:cNvPr>
          <p:cNvSpPr>
            <a:spLocks noGrp="1"/>
          </p:cNvSpPr>
          <p:nvPr/>
        </p:nvSpPr>
        <p:spPr>
          <a:xfrm>
            <a:off x="6467475" y="1571625"/>
            <a:ext cx="5095875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rPr>
              <a:t>Walking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219200" y="2152650"/>
            <a:ext cx="3905250" cy="3905250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7067550" y="2152650"/>
            <a:ext cx="3905250" cy="390525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925847E-BBC9-4DB0-8CB1-4EA7EED316DE}"/>
              </a:ext>
            </a:extLst>
          </p:cNvPr>
          <p:cNvSpPr>
            <a:spLocks noGrp="1"/>
          </p:cNvSpPr>
          <p:nvPr/>
        </p:nvSpPr>
        <p:spPr>
          <a:xfrm>
            <a:off x="619125" y="6581775"/>
            <a:ext cx="5334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125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© OpenStreetMap contributors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8636BCA-90A8-459F-B705-BC295892A7C1}"/>
              </a:ext>
            </a:extLst>
          </p:cNvPr>
          <p:cNvSpPr>
            <a:spLocks noGrp="1"/>
          </p:cNvSpPr>
          <p:nvPr/>
        </p:nvSpPr>
        <p:spPr>
          <a:xfrm>
            <a:off x="11591925" y="6515100"/>
            <a:ext cx="428625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70644581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03F5D7A0-2888-4222-9F20-02F1EA275AD9}"/>
              </a:ext>
            </a:extLst>
          </p:cNvPr>
          <p:cNvSpPr>
            <a:spLocks noGrp="1"/>
          </p:cNvSpPr>
          <p:nvPr/>
        </p:nvSpPr>
        <p:spPr>
          <a:xfrm>
            <a:off x="590550" y="438150"/>
            <a:ext cx="11010900" cy="10382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The dots and lines have names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B02FEF5-B6DC-493C-9E54-ACB661E2BF91}"/>
              </a:ext>
            </a:extLst>
          </p:cNvPr>
          <p:cNvSpPr>
            <a:spLocks noGrp="1"/>
          </p:cNvSpPr>
          <p:nvPr/>
        </p:nvSpPr>
        <p:spPr>
          <a:xfrm>
            <a:off x="628650" y="1571625"/>
            <a:ext cx="504825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rPr>
              <a:t>OSM shape points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BE86A98-76A6-4DBB-B4E3-7B524EC71234}"/>
              </a:ext>
            </a:extLst>
          </p:cNvPr>
          <p:cNvSpPr>
            <a:spLocks noGrp="1"/>
          </p:cNvSpPr>
          <p:nvPr/>
        </p:nvSpPr>
        <p:spPr>
          <a:xfrm>
            <a:off x="6467475" y="1571625"/>
            <a:ext cx="5095875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rPr>
              <a:t>Simplified graph nodes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00050" y="2152650"/>
            <a:ext cx="4943551" cy="3905250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548400" y="2152650"/>
            <a:ext cx="4943551" cy="390525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1107D30-18EB-4890-AE3E-795DF5D2E606}"/>
              </a:ext>
            </a:extLst>
          </p:cNvPr>
          <p:cNvSpPr>
            <a:spLocks noGrp="1"/>
          </p:cNvSpPr>
          <p:nvPr/>
        </p:nvSpPr>
        <p:spPr>
          <a:xfrm>
            <a:off x="619125" y="6581775"/>
            <a:ext cx="5334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125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© OpenStreetMap contributors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ACB0959-F9BB-4F28-844F-2C66B01D410A}"/>
              </a:ext>
            </a:extLst>
          </p:cNvPr>
          <p:cNvSpPr>
            <a:spLocks noGrp="1"/>
          </p:cNvSpPr>
          <p:nvPr/>
        </p:nvSpPr>
        <p:spPr>
          <a:xfrm>
            <a:off x="11591925" y="6515100"/>
            <a:ext cx="428625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80277885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EBB8455D-A516-4072-9BC6-8A2F79A68EB9}"/>
              </a:ext>
            </a:extLst>
          </p:cNvPr>
          <p:cNvSpPr>
            <a:spLocks noGrp="1"/>
          </p:cNvSpPr>
          <p:nvPr/>
        </p:nvSpPr>
        <p:spPr>
          <a:xfrm>
            <a:off x="590550" y="438150"/>
            <a:ext cx="11010900" cy="10382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The graph becomes two familiar tables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34A0104-1694-434A-85A2-1A7163607EB5}"/>
              </a:ext>
            </a:extLst>
          </p:cNvPr>
          <p:cNvSpPr>
            <a:spLocks noGrp="1"/>
          </p:cNvSpPr>
          <p:nvPr/>
        </p:nvSpPr>
        <p:spPr>
          <a:xfrm>
            <a:off x="647700" y="2038350"/>
            <a:ext cx="10810875" cy="2381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0">
                <a:solidFill>
                  <a:srgbClr val="227C9D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G_m = ox.project_graph(G)</a:t>
            </a:r>
          </a:p>
          <a:p>
            <a:pPr>
              <a:defRPr sz="2100" b="0">
                <a:solidFill>
                  <a:srgbClr val="227C9D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nodes, edges = ox.graph_to_gdfs(G_m)</a:t>
            </a:r>
          </a:p>
          <a:p>
            <a:endParaRPr sz="2100" b="0">
              <a:solidFill>
                <a:srgbClr val="227C9D"/>
              </a:solidFill>
              <a:latin typeface="Menlo"/>
              <a:ea typeface="Menlo"/>
              <a:cs typeface="Menlo"/>
            </a:endParaRPr>
          </a:p>
          <a:p>
            <a:pPr>
              <a:defRPr sz="2100" b="0">
                <a:solidFill>
                  <a:srgbClr val="227C9D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edges[["length", "highway", "geometry"]].head()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08FF059-DE57-400F-B388-192A36BC96AE}"/>
              </a:ext>
            </a:extLst>
          </p:cNvPr>
          <p:cNvSpPr>
            <a:spLocks noGrp="1"/>
          </p:cNvSpPr>
          <p:nvPr/>
        </p:nvSpPr>
        <p:spPr>
          <a:xfrm>
            <a:off x="647700" y="5124450"/>
            <a:ext cx="1047750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Nodes describe locations. Edges describe connections.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9A38588-65DE-49D0-9C31-C0B247A7F3E2}"/>
              </a:ext>
            </a:extLst>
          </p:cNvPr>
          <p:cNvSpPr>
            <a:spLocks noGrp="1"/>
          </p:cNvSpPr>
          <p:nvPr/>
        </p:nvSpPr>
        <p:spPr>
          <a:xfrm>
            <a:off x="11591925" y="6515100"/>
            <a:ext cx="428625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7209749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E1C95FC-5CAD-4CC3-B27D-ABBB5692B99B}"/>
              </a:ext>
            </a:extLst>
          </p:cNvPr>
          <p:cNvSpPr>
            <a:spLocks noGrp="1"/>
          </p:cNvSpPr>
          <p:nvPr/>
        </p:nvSpPr>
        <p:spPr>
          <a:xfrm>
            <a:off x="590550" y="438150"/>
            <a:ext cx="11010900" cy="10382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A first walking route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AFE736E-18CB-4B2E-9696-FA02C579515A}"/>
              </a:ext>
            </a:extLst>
          </p:cNvPr>
          <p:cNvSpPr>
            <a:spLocks noGrp="1"/>
          </p:cNvSpPr>
          <p:nvPr/>
        </p:nvSpPr>
        <p:spPr>
          <a:xfrm>
            <a:off x="619125" y="2009775"/>
            <a:ext cx="6143625" cy="3067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725" b="0">
                <a:solidFill>
                  <a:srgbClr val="227C9D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origin = ox.nearest_nodes(</a:t>
            </a:r>
          </a:p>
          <a:p>
            <a:pPr>
              <a:defRPr sz="1725" b="0">
                <a:solidFill>
                  <a:srgbClr val="227C9D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    G, X=-75.193, Y=39.952</a:t>
            </a:r>
          </a:p>
          <a:p>
            <a:pPr>
              <a:defRPr sz="1725" b="0">
                <a:solidFill>
                  <a:srgbClr val="227C9D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)</a:t>
            </a:r>
          </a:p>
          <a:p>
            <a:pPr>
              <a:defRPr sz="1725" b="0">
                <a:solidFill>
                  <a:srgbClr val="227C9D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route = ox.shortest_path(</a:t>
            </a:r>
          </a:p>
          <a:p>
            <a:pPr>
              <a:defRPr sz="1725" b="0">
                <a:solidFill>
                  <a:srgbClr val="227C9D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    G, origin, station_node,</a:t>
            </a:r>
          </a:p>
          <a:p>
            <a:pPr>
              <a:defRPr sz="1725" b="0">
                <a:solidFill>
                  <a:srgbClr val="227C9D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    weight="length"</a:t>
            </a:r>
          </a:p>
          <a:p>
            <a:pPr>
              <a:defRPr sz="1725" b="0">
                <a:solidFill>
                  <a:srgbClr val="227C9D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)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924675" y="1976614"/>
            <a:ext cx="4667250" cy="3457222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1289C21-35F7-41B8-B8B5-BBC730548CA1}"/>
              </a:ext>
            </a:extLst>
          </p:cNvPr>
          <p:cNvSpPr>
            <a:spLocks noGrp="1"/>
          </p:cNvSpPr>
          <p:nvPr/>
        </p:nvSpPr>
        <p:spPr>
          <a:xfrm>
            <a:off x="638175" y="5476875"/>
            <a:ext cx="6191250" cy="9144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5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Notebook §6: nearest node, then shortest path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AAC0ACC-B8BA-4CC2-8582-85059B4F9643}"/>
              </a:ext>
            </a:extLst>
          </p:cNvPr>
          <p:cNvSpPr>
            <a:spLocks noGrp="1"/>
          </p:cNvSpPr>
          <p:nvPr/>
        </p:nvSpPr>
        <p:spPr>
          <a:xfrm>
            <a:off x="619125" y="6581775"/>
            <a:ext cx="5334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125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© OpenStreetMap contributors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778453D-40AB-49D9-B7E8-4EB759AEF4C8}"/>
              </a:ext>
            </a:extLst>
          </p:cNvPr>
          <p:cNvSpPr>
            <a:spLocks noGrp="1"/>
          </p:cNvSpPr>
          <p:nvPr/>
        </p:nvSpPr>
        <p:spPr>
          <a:xfrm>
            <a:off x="11591925" y="6515100"/>
            <a:ext cx="428625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171838830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431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71EA08D-FE3D-4554-9359-8826F4C4C7B5}"/>
              </a:ext>
            </a:extLst>
          </p:cNvPr>
          <p:cNvSpPr>
            <a:spLocks noGrp="1"/>
          </p:cNvSpPr>
          <p:nvPr/>
        </p:nvSpPr>
        <p:spPr>
          <a:xfrm>
            <a:off x="590550" y="438150"/>
            <a:ext cx="11010900" cy="10382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4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Break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DA8DAA2-CF90-4545-9292-2CF26A854CA2}"/>
              </a:ext>
            </a:extLst>
          </p:cNvPr>
          <p:cNvSpPr>
            <a:spLocks noGrp="1"/>
          </p:cNvSpPr>
          <p:nvPr/>
        </p:nvSpPr>
        <p:spPr>
          <a:xfrm>
            <a:off x="666750" y="2409825"/>
            <a:ext cx="10477500" cy="1428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5700" b="1">
                <a:solidFill>
                  <a:srgbClr val="8FD4D9"/>
                </a:solidFill>
                <a:latin typeface="Helvetica Neue"/>
                <a:ea typeface="Helvetica Neue"/>
                <a:cs typeface="Helvetica Neue"/>
              </a:defRPr>
            </a:pPr>
            <a:r>
              <a:rPr sz="5700" b="1">
                <a:solidFill>
                  <a:srgbClr val="8FD4D9"/>
                </a:solidFill>
                <a:latin typeface="Helvetica Neue"/>
                <a:ea typeface="Helvetica Neue"/>
                <a:cs typeface="Helvetica Neue"/>
              </a:rPr>
              <a:t>10 minutes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F8B20F2-1371-4617-97ED-5FE54A785E72}"/>
              </a:ext>
            </a:extLst>
          </p:cNvPr>
          <p:cNvSpPr>
            <a:spLocks noGrp="1"/>
          </p:cNvSpPr>
          <p:nvPr/>
        </p:nvSpPr>
        <p:spPr>
          <a:xfrm>
            <a:off x="676275" y="4972050"/>
            <a:ext cx="1047750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40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Next: from one route to citywide accessibility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E83A345-9E07-4288-96B2-07B4BD909653}"/>
              </a:ext>
            </a:extLst>
          </p:cNvPr>
          <p:cNvSpPr>
            <a:spLocks noGrp="1"/>
          </p:cNvSpPr>
          <p:nvPr/>
        </p:nvSpPr>
        <p:spPr>
          <a:xfrm>
            <a:off x="11591925" y="6515100"/>
            <a:ext cx="428625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9CB7B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9CB7BC"/>
                </a:solidFill>
                <a:latin typeface="Helvetica Neue"/>
                <a:ea typeface="Helvetica Neue"/>
                <a:cs typeface="Helvetica Neue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135681607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8F8EF345-FD22-4706-AE0D-CCF7E17522E2}"/>
              </a:ext>
            </a:extLst>
          </p:cNvPr>
          <p:cNvSpPr>
            <a:spLocks noGrp="1"/>
          </p:cNvSpPr>
          <p:nvPr/>
        </p:nvSpPr>
        <p:spPr>
          <a:xfrm>
            <a:off x="590550" y="438150"/>
            <a:ext cx="11010900" cy="1047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One route is easy.</a:t>
            </a:r>
          </a:p>
          <a:p>
            <a:pPr>
              <a:def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What about the whole city?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077A870-C358-4E3D-A3E0-EACE2F411AB8}"/>
              </a:ext>
            </a:extLst>
          </p:cNvPr>
          <p:cNvSpPr>
            <a:spLocks noGrp="1"/>
          </p:cNvSpPr>
          <p:nvPr/>
        </p:nvSpPr>
        <p:spPr>
          <a:xfrm>
            <a:off x="11525250" y="6524625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25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7599353-3519-4B34-ACA3-9B6FA4C881D7}"/>
              </a:ext>
            </a:extLst>
          </p:cNvPr>
          <p:cNvSpPr>
            <a:spLocks noGrp="1"/>
          </p:cNvSpPr>
          <p:nvPr/>
        </p:nvSpPr>
        <p:spPr>
          <a:xfrm>
            <a:off x="666750" y="2286000"/>
            <a:ext cx="10763250" cy="1524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4350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defRPr>
            </a:pPr>
            <a:r>
              <a:rPr sz="4350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rPr>
              <a:t>From Routing to Accessibility</a:t>
            </a:r>
          </a:p>
          <a:p>
            <a:pPr>
              <a:defRPr sz="4350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defRPr>
            </a:pPr>
            <a:r>
              <a:rPr sz="4350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rPr>
              <a:t>with Pandana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B96161C-93DC-4052-AF3A-15FFC27C8330}"/>
              </a:ext>
            </a:extLst>
          </p:cNvPr>
          <p:cNvSpPr>
            <a:spLocks noGrp="1"/>
          </p:cNvSpPr>
          <p:nvPr/>
        </p:nvSpPr>
        <p:spPr>
          <a:xfrm>
            <a:off x="704850" y="4714875"/>
            <a:ext cx="10287000" cy="1047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40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One origin → one route</a:t>
            </a:r>
          </a:p>
          <a:p>
            <a:pPr>
              <a:defRPr sz="240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Many origins → a citywide question</a:t>
            </a:r>
          </a:p>
        </p:txBody>
      </p:sp>
    </p:spTree>
    <p:extLst>
      <p:ext uri="{BB962C8B-B14F-4D97-AF65-F5344CB8AC3E}">
        <p14:creationId xmlns:p14="http://schemas.microsoft.com/office/powerpoint/2010/main" val="92067823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30081249-835C-411A-A9D6-1FA95692C683}"/>
              </a:ext>
            </a:extLst>
          </p:cNvPr>
          <p:cNvSpPr>
            <a:spLocks noGrp="1"/>
          </p:cNvSpPr>
          <p:nvPr/>
        </p:nvSpPr>
        <p:spPr>
          <a:xfrm>
            <a:off x="590550" y="438150"/>
            <a:ext cx="11010900" cy="1047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Proximity and accessibility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87BEF02-BBF4-4439-A835-17CAA33FC37E}"/>
              </a:ext>
            </a:extLst>
          </p:cNvPr>
          <p:cNvSpPr>
            <a:spLocks noGrp="1"/>
          </p:cNvSpPr>
          <p:nvPr/>
        </p:nvSpPr>
        <p:spPr>
          <a:xfrm>
            <a:off x="11525250" y="6524625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26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522F744-658F-49FD-9A49-04B1D761BDA8}"/>
              </a:ext>
            </a:extLst>
          </p:cNvPr>
          <p:cNvSpPr>
            <a:spLocks noGrp="1"/>
          </p:cNvSpPr>
          <p:nvPr/>
        </p:nvSpPr>
        <p:spPr>
          <a:xfrm>
            <a:off x="714375" y="1809750"/>
            <a:ext cx="4572000" cy="476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rPr>
              <a:t>PROXIMITY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DE0EBE7-FA6D-4564-BE24-2D277FE3651F}"/>
              </a:ext>
            </a:extLst>
          </p:cNvPr>
          <p:cNvSpPr>
            <a:spLocks noGrp="1"/>
          </p:cNvSpPr>
          <p:nvPr/>
        </p:nvSpPr>
        <p:spPr>
          <a:xfrm>
            <a:off x="714375" y="2381250"/>
            <a:ext cx="4953000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How close is it?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1202727-B944-400D-9524-B5D3934CB074}"/>
              </a:ext>
            </a:extLst>
          </p:cNvPr>
          <p:cNvSpPr>
            <a:spLocks noGrp="1"/>
          </p:cNvSpPr>
          <p:nvPr/>
        </p:nvSpPr>
        <p:spPr>
          <a:xfrm>
            <a:off x="6667500" y="1809750"/>
            <a:ext cx="4762500" cy="476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rPr>
              <a:t>ACCESSIBILITY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18BDBE4-EBCC-4DBD-8537-D33F60DAFD3F}"/>
              </a:ext>
            </a:extLst>
          </p:cNvPr>
          <p:cNvSpPr>
            <a:spLocks noGrp="1"/>
          </p:cNvSpPr>
          <p:nvPr/>
        </p:nvSpPr>
        <p:spPr>
          <a:xfrm>
            <a:off x="6667500" y="2381250"/>
            <a:ext cx="4762500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Can I get there?</a:t>
            </a:r>
          </a:p>
        </p:txBody>
      </p:sp>
      <p:sp>
        <p:nvSpPr>
          <p:cNvPr id="7" name="Straight Connector 6">
            <a:extLst>
              <a:ext uri="{FF2B5EF4-FFF2-40B4-BE49-F238E27FC236}">
                <a16:creationId xmlns:a16="http://schemas.microsoft.com/office/drawing/2014/main" id="{28A8BE9D-869A-4484-8B7B-E978C56CFECB}"/>
              </a:ext>
            </a:extLst>
          </p:cNvPr>
          <p:cNvSpPr>
            <a:spLocks noGrp="1"/>
          </p:cNvSpPr>
          <p:nvPr/>
        </p:nvSpPr>
        <p:spPr>
          <a:xfrm>
            <a:off x="1143000" y="4095750"/>
            <a:ext cx="3429000" cy="0"/>
          </a:xfrm>
          <a:prstGeom prst="line">
            <a:avLst/>
          </a:prstGeom>
          <a:noFill/>
          <a:ln w="38100">
            <a:solidFill>
              <a:srgbClr val="9CB7B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168FF45-6E76-44A5-A692-B3D80F74226A}"/>
              </a:ext>
            </a:extLst>
          </p:cNvPr>
          <p:cNvSpPr>
            <a:spLocks noGrp="1"/>
          </p:cNvSpPr>
          <p:nvPr/>
        </p:nvSpPr>
        <p:spPr>
          <a:xfrm>
            <a:off x="1085850" y="4038600"/>
            <a:ext cx="114300" cy="114300"/>
          </a:xfrm>
          <a:prstGeom prst="ellipse">
            <a:avLst/>
          </a:prstGeom>
          <a:solidFill>
            <a:srgbClr val="227C9D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8B3659F-9651-41FD-9CEA-BE004C9612EC}"/>
              </a:ext>
            </a:extLst>
          </p:cNvPr>
          <p:cNvSpPr>
            <a:spLocks noGrp="1"/>
          </p:cNvSpPr>
          <p:nvPr/>
        </p:nvSpPr>
        <p:spPr>
          <a:xfrm>
            <a:off x="4486275" y="4010025"/>
            <a:ext cx="171450" cy="171450"/>
          </a:xfrm>
          <a:prstGeom prst="ellipse">
            <a:avLst/>
          </a:prstGeom>
          <a:solidFill>
            <a:srgbClr val="243136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27D1A2D4-DB69-4320-82CD-65C524ED1148}"/>
              </a:ext>
            </a:extLst>
          </p:cNvPr>
          <p:cNvSpPr>
            <a:spLocks noGrp="1"/>
          </p:cNvSpPr>
          <p:nvPr/>
        </p:nvSpPr>
        <p:spPr>
          <a:xfrm>
            <a:off x="6953250" y="4000500"/>
            <a:ext cx="1428750" cy="0"/>
          </a:xfrm>
          <a:prstGeom prst="line">
            <a:avLst/>
          </a:prstGeom>
          <a:noFill/>
          <a:ln w="47625">
            <a:solidFill>
              <a:srgbClr val="227C9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" name="Straight Connector 10">
            <a:extLst>
              <a:ext uri="{FF2B5EF4-FFF2-40B4-BE49-F238E27FC236}">
                <a16:creationId xmlns:a16="http://schemas.microsoft.com/office/drawing/2014/main" id="{07BA8169-8B56-426A-BEB8-53A6518F2D31}"/>
              </a:ext>
            </a:extLst>
          </p:cNvPr>
          <p:cNvSpPr>
            <a:spLocks noGrp="1"/>
          </p:cNvSpPr>
          <p:nvPr/>
        </p:nvSpPr>
        <p:spPr>
          <a:xfrm>
            <a:off x="8382000" y="4000500"/>
            <a:ext cx="0" cy="952500"/>
          </a:xfrm>
          <a:prstGeom prst="line">
            <a:avLst/>
          </a:prstGeom>
          <a:noFill/>
          <a:ln w="47625">
            <a:solidFill>
              <a:srgbClr val="227C9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2" name="Straight Connector 11">
            <a:extLst>
              <a:ext uri="{FF2B5EF4-FFF2-40B4-BE49-F238E27FC236}">
                <a16:creationId xmlns:a16="http://schemas.microsoft.com/office/drawing/2014/main" id="{E3488E66-00F5-45F8-9BBA-4CA65933062C}"/>
              </a:ext>
            </a:extLst>
          </p:cNvPr>
          <p:cNvSpPr>
            <a:spLocks noGrp="1"/>
          </p:cNvSpPr>
          <p:nvPr/>
        </p:nvSpPr>
        <p:spPr>
          <a:xfrm>
            <a:off x="8382000" y="4953000"/>
            <a:ext cx="2286000" cy="0"/>
          </a:xfrm>
          <a:prstGeom prst="line">
            <a:avLst/>
          </a:prstGeom>
          <a:noFill/>
          <a:ln w="47625">
            <a:solidFill>
              <a:srgbClr val="227C9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796CE997-B0D6-41A4-9016-64FF17DD7D7F}"/>
              </a:ext>
            </a:extLst>
          </p:cNvPr>
          <p:cNvSpPr>
            <a:spLocks noGrp="1"/>
          </p:cNvSpPr>
          <p:nvPr/>
        </p:nvSpPr>
        <p:spPr>
          <a:xfrm>
            <a:off x="6896100" y="3943350"/>
            <a:ext cx="114300" cy="114300"/>
          </a:xfrm>
          <a:prstGeom prst="ellipse">
            <a:avLst/>
          </a:prstGeom>
          <a:solidFill>
            <a:srgbClr val="227C9D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D3B37051-0267-4468-BBFF-5149BAB67DCB}"/>
              </a:ext>
            </a:extLst>
          </p:cNvPr>
          <p:cNvSpPr>
            <a:spLocks noGrp="1"/>
          </p:cNvSpPr>
          <p:nvPr/>
        </p:nvSpPr>
        <p:spPr>
          <a:xfrm>
            <a:off x="10582275" y="4867275"/>
            <a:ext cx="171450" cy="171450"/>
          </a:xfrm>
          <a:prstGeom prst="ellipse">
            <a:avLst/>
          </a:prstGeom>
          <a:solidFill>
            <a:srgbClr val="243136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CF1A643-A9CD-4948-9F2D-82A4158694A4}"/>
              </a:ext>
            </a:extLst>
          </p:cNvPr>
          <p:cNvSpPr>
            <a:spLocks noGrp="1"/>
          </p:cNvSpPr>
          <p:nvPr/>
        </p:nvSpPr>
        <p:spPr>
          <a:xfrm>
            <a:off x="666750" y="5953125"/>
            <a:ext cx="1076325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Same destination. Different distance—and a different planning question.</a:t>
            </a:r>
          </a:p>
        </p:txBody>
      </p:sp>
    </p:spTree>
    <p:extLst>
      <p:ext uri="{BB962C8B-B14F-4D97-AF65-F5344CB8AC3E}">
        <p14:creationId xmlns:p14="http://schemas.microsoft.com/office/powerpoint/2010/main" val="6989821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94360" y="438912"/>
            <a:ext cx="11009376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What is Pandana?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600200"/>
            <a:ext cx="5669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rPr>
              <a:t>Pandas Network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2331720"/>
            <a:ext cx="54864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A Python library from UDST, the Urban Data Science Toolkit.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You give it two tables: nodes and edges.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It preprocesses the network once (contraction hierarchies, written in C++).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Every query then returns a pandas DataFrame with one row per network node.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903720" y="1600200"/>
            <a:ext cx="4617720" cy="868680"/>
          </a:xfrm>
          <a:prstGeom prst="roundRect">
            <a:avLst>
              <a:gd name="adj" fmla="val 6000"/>
            </a:avLst>
          </a:prstGeom>
          <a:solidFill>
            <a:srgbClr val="ECE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086600" y="1664208"/>
            <a:ext cx="42976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nodes_df</a:t>
            </a:r>
            <a:r>
              <a:rPr sz="15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   id · x · y</a:t>
            </a:r>
          </a:p>
          <a:p>
            <a:pPr algn="l"/>
            <a:r>
              <a:rPr sz="16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edges_df</a:t>
            </a:r>
            <a:r>
              <a:rPr sz="15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   from · to · distance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0" y="2487168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↓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03720" y="2880360"/>
            <a:ext cx="4617720" cy="731520"/>
          </a:xfrm>
          <a:prstGeom prst="roundRect">
            <a:avLst>
              <a:gd name="adj" fmla="val 6000"/>
            </a:avLst>
          </a:prstGeom>
          <a:solidFill>
            <a:srgbClr val="24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086600" y="2880360"/>
            <a:ext cx="42976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8FD4D9"/>
                </a:solidFill>
                <a:latin typeface="Menlo"/>
                <a:ea typeface="Menlo"/>
                <a:cs typeface="Menlo"/>
              </a:rPr>
              <a:t>Network</a:t>
            </a:r>
            <a:r>
              <a:rPr sz="150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   preprocess once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3630168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03720" y="4023360"/>
            <a:ext cx="4617720" cy="1325880"/>
          </a:xfrm>
          <a:prstGeom prst="roundRect">
            <a:avLst>
              <a:gd name="adj" fmla="val 6000"/>
            </a:avLst>
          </a:prstGeom>
          <a:solidFill>
            <a:srgbClr val="ECE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086600" y="4096512"/>
            <a:ext cx="42976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nearest_pois()</a:t>
            </a:r>
          </a:p>
          <a:p>
            <a:pPr algn="l"/>
            <a:r>
              <a:rPr sz="140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distance to the 1st, 2nd … nth nearest place</a:t>
            </a:r>
          </a:p>
          <a:p>
            <a:pPr algn="l"/>
            <a:r>
              <a:rPr sz="16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aggregate()</a:t>
            </a:r>
          </a:p>
          <a:p>
            <a:pPr algn="l"/>
            <a:r>
              <a:rPr sz="140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sum / count / mean of what is within a distance</a:t>
            </a:r>
          </a:p>
        </p:txBody>
      </p:sp>
      <p:sp>
        <p:nvSpPr>
          <p:cNvPr id="13" name="Takeaway"/>
          <p:cNvSpPr txBox="1"/>
          <p:nvPr/>
        </p:nvSpPr>
        <p:spPr>
          <a:xfrm>
            <a:off x="667512" y="5715000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Build the network once, then ask the same question from every node in seconds.</a:t>
            </a:r>
          </a:p>
        </p:txBody>
      </p:sp>
      <p:sp>
        <p:nvSpPr>
          <p:cNvPr id="14" name="Page number"/>
          <p:cNvSpPr txBox="1"/>
          <p:nvPr/>
        </p:nvSpPr>
        <p:spPr>
          <a:xfrm>
            <a:off x="11521440" y="6510528"/>
            <a:ext cx="5486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27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10C22BFD-F6DC-4995-AD33-E8382B785D5D}"/>
              </a:ext>
            </a:extLst>
          </p:cNvPr>
          <p:cNvSpPr>
            <a:spLocks noGrp="1"/>
          </p:cNvSpPr>
          <p:nvPr/>
        </p:nvSpPr>
        <p:spPr>
          <a:xfrm>
            <a:off x="590550" y="438150"/>
            <a:ext cx="11010900" cy="1047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Two tools in the same analysis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80B49E1-2C3B-4BFE-9C1C-742346A15E56}"/>
              </a:ext>
            </a:extLst>
          </p:cNvPr>
          <p:cNvSpPr>
            <a:spLocks noGrp="1"/>
          </p:cNvSpPr>
          <p:nvPr/>
        </p:nvSpPr>
        <p:spPr>
          <a:xfrm>
            <a:off x="11525250" y="6524625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29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253C39C-C55E-40D7-BD14-58958B4C0A6E}"/>
              </a:ext>
            </a:extLst>
          </p:cNvPr>
          <p:cNvSpPr>
            <a:spLocks noGrp="1"/>
          </p:cNvSpPr>
          <p:nvPr/>
        </p:nvSpPr>
        <p:spPr>
          <a:xfrm>
            <a:off x="762000" y="1905000"/>
            <a:ext cx="45720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600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rPr>
              <a:t>OSMnx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379659-E97C-4E5E-81A5-DDF5957040B4}"/>
              </a:ext>
            </a:extLst>
          </p:cNvPr>
          <p:cNvSpPr>
            <a:spLocks noGrp="1"/>
          </p:cNvSpPr>
          <p:nvPr/>
        </p:nvSpPr>
        <p:spPr>
          <a:xfrm>
            <a:off x="6667500" y="1905000"/>
            <a:ext cx="45720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600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rPr>
              <a:t>Pandana</a:t>
            </a: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B62D0338-9A3F-4440-A487-A1F0FFDC0CD3}"/>
              </a:ext>
            </a:extLst>
          </p:cNvPr>
          <p:cNvSpPr>
            <a:spLocks noGrp="1"/>
          </p:cNvSpPr>
          <p:nvPr/>
        </p:nvSpPr>
        <p:spPr>
          <a:xfrm>
            <a:off x="762000" y="2667000"/>
            <a:ext cx="10477500" cy="0"/>
          </a:xfrm>
          <a:prstGeom prst="line">
            <a:avLst/>
          </a:prstGeom>
          <a:noFill/>
          <a:ln w="19050">
            <a:solidFill>
              <a:srgbClr val="9CB7B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4DE9F7D-020D-4844-9F8B-24AC1C383D46}"/>
              </a:ext>
            </a:extLst>
          </p:cNvPr>
          <p:cNvSpPr>
            <a:spLocks noGrp="1"/>
          </p:cNvSpPr>
          <p:nvPr/>
        </p:nvSpPr>
        <p:spPr>
          <a:xfrm>
            <a:off x="762000" y="3048000"/>
            <a:ext cx="4857750" cy="2000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475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75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Retrieve streets and features</a:t>
            </a:r>
          </a:p>
          <a:p>
            <a:pPr>
              <a:defRPr sz="2475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75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Build, inspect, and plot the graph</a:t>
            </a:r>
          </a:p>
          <a:p>
            <a:pPr>
              <a:defRPr sz="2475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75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One route, with its geometry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3886E9C-5D87-4FEF-AAA4-108F24A3FA9A}"/>
              </a:ext>
            </a:extLst>
          </p:cNvPr>
          <p:cNvSpPr>
            <a:spLocks noGrp="1"/>
          </p:cNvSpPr>
          <p:nvPr/>
        </p:nvSpPr>
        <p:spPr>
          <a:xfrm>
            <a:off x="6667500" y="3048000"/>
            <a:ext cx="4762500" cy="2000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475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75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Load a walk or drive network</a:t>
            </a:r>
          </a:p>
          <a:p>
            <a:pPr>
              <a:defRPr sz="2475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75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Attach amenities to nodes</a:t>
            </a:r>
          </a:p>
          <a:p>
            <a:pPr>
              <a:defRPr sz="2475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75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Ask every node at once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9A0E58C-BFE1-4078-ADCB-A9F39EC3E2C4}"/>
              </a:ext>
            </a:extLst>
          </p:cNvPr>
          <p:cNvSpPr>
            <a:spLocks noGrp="1"/>
          </p:cNvSpPr>
          <p:nvPr/>
        </p:nvSpPr>
        <p:spPr>
          <a:xfrm>
            <a:off x="666750" y="5953125"/>
            <a:ext cx="1076325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 dirty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Today </a:t>
            </a:r>
            <a:r>
              <a:rPr sz="1800" b="0" dirty="0" err="1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Pandana</a:t>
            </a:r>
            <a:r>
              <a:rPr sz="1800" b="0" dirty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 downloads its own network. It can also take </a:t>
            </a:r>
            <a:r>
              <a:rPr sz="1800" b="0" dirty="0" err="1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OSMnx’s</a:t>
            </a:r>
            <a:r>
              <a:rPr sz="1800" b="0" dirty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 nodes and edges.</a:t>
            </a:r>
          </a:p>
        </p:txBody>
      </p:sp>
    </p:spTree>
    <p:extLst>
      <p:ext uri="{BB962C8B-B14F-4D97-AF65-F5344CB8AC3E}">
        <p14:creationId xmlns:p14="http://schemas.microsoft.com/office/powerpoint/2010/main" val="46070555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94360" y="438912"/>
            <a:ext cx="11009376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The tutorial in four steps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67512" y="1645920"/>
            <a:ext cx="2514600" cy="3566160"/>
          </a:xfrm>
          <a:prstGeom prst="roundRect">
            <a:avLst>
              <a:gd name="adj" fmla="val 6000"/>
            </a:avLst>
          </a:prstGeom>
          <a:solidFill>
            <a:srgbClr val="ECE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04672" y="1783080"/>
            <a:ext cx="2240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rPr>
              <a:t>STEP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103120"/>
            <a:ext cx="2240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Get amenities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2697480"/>
            <a:ext cx="22402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osm.node_query()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96112" y="3520440"/>
            <a:ext cx="2057400" cy="0"/>
          </a:xfrm>
          <a:prstGeom prst="line">
            <a:avLst/>
          </a:prstGeom>
          <a:ln w="19050">
            <a:solidFill>
              <a:srgbClr val="9CB7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04672" y="3611880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You 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3886200"/>
            <a:ext cx="224028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poi_df: 3,396 OSM points tagged amenity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54680" y="3108960"/>
            <a:ext cx="3291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6432" y="1645920"/>
            <a:ext cx="2514600" cy="3566160"/>
          </a:xfrm>
          <a:prstGeom prst="roundRect">
            <a:avLst>
              <a:gd name="adj" fmla="val 6000"/>
            </a:avLst>
          </a:prstGeom>
          <a:solidFill>
            <a:srgbClr val="ECE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93591" y="1783080"/>
            <a:ext cx="2240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rPr>
              <a:t>STEP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1" y="2103120"/>
            <a:ext cx="2240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Build network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93591" y="2697480"/>
            <a:ext cx="22402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osm.pdna_network_</a:t>
            </a:r>
          </a:p>
          <a:p>
            <a:pPr algn="l"/>
            <a:r>
              <a:rPr sz="13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from_bbox()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685031" y="3520440"/>
            <a:ext cx="2057400" cy="0"/>
          </a:xfrm>
          <a:prstGeom prst="line">
            <a:avLst/>
          </a:prstGeom>
          <a:ln w="19050">
            <a:solidFill>
              <a:srgbClr val="9CB7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593591" y="3611880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You get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93591" y="3886200"/>
            <a:ext cx="224028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net: 30,166 nodes and 44,292 walking edges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3108960"/>
            <a:ext cx="3291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5352" y="1645920"/>
            <a:ext cx="2514600" cy="3566160"/>
          </a:xfrm>
          <a:prstGeom prst="roundRect">
            <a:avLst>
              <a:gd name="adj" fmla="val 6000"/>
            </a:avLst>
          </a:prstGeom>
          <a:solidFill>
            <a:srgbClr val="ECE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382512" y="1783080"/>
            <a:ext cx="2240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rPr>
              <a:t>STEP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2512" y="2103120"/>
            <a:ext cx="2240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Attach places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82512" y="2697480"/>
            <a:ext cx="22402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net.set_pois()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473952" y="3520440"/>
            <a:ext cx="2057400" cy="0"/>
          </a:xfrm>
          <a:prstGeom prst="line">
            <a:avLst/>
          </a:prstGeom>
          <a:ln w="19050">
            <a:solidFill>
              <a:srgbClr val="9CB7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382512" y="3611880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You get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2512" y="3886200"/>
            <a:ext cx="224028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4 categories: restaurant, bar, school, car_sharing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32520" y="3108960"/>
            <a:ext cx="3291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34272" y="1645920"/>
            <a:ext cx="2514600" cy="3566160"/>
          </a:xfrm>
          <a:prstGeom prst="roundRect">
            <a:avLst>
              <a:gd name="adj" fmla="val 6000"/>
            </a:avLst>
          </a:prstGeom>
          <a:solidFill>
            <a:srgbClr val="ECE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171432" y="1783080"/>
            <a:ext cx="2240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rPr>
              <a:t>STEP 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71432" y="2103120"/>
            <a:ext cx="2240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Query and map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71432" y="2697480"/>
            <a:ext cx="22402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net.nearest_pois()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262872" y="3520440"/>
            <a:ext cx="2057400" cy="0"/>
          </a:xfrm>
          <a:prstGeom prst="line">
            <a:avLst/>
          </a:prstGeom>
          <a:ln w="19050">
            <a:solidFill>
              <a:srgbClr val="9CB7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9171432" y="3611880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You get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71432" y="3886200"/>
            <a:ext cx="224028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every node × distance to its 1st … 10th place</a:t>
            </a:r>
          </a:p>
        </p:txBody>
      </p:sp>
      <p:sp>
        <p:nvSpPr>
          <p:cNvPr id="34" name="Takeaway"/>
          <p:cNvSpPr txBox="1"/>
          <p:nvPr/>
        </p:nvSpPr>
        <p:spPr>
          <a:xfrm>
            <a:off x="667512" y="5715000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Open the notebook at “Part 2: Pandana”. We run one step at a time.</a:t>
            </a:r>
          </a:p>
        </p:txBody>
      </p:sp>
      <p:sp>
        <p:nvSpPr>
          <p:cNvPr id="35" name="Page number"/>
          <p:cNvSpPr txBox="1"/>
          <p:nvPr/>
        </p:nvSpPr>
        <p:spPr>
          <a:xfrm>
            <a:off x="11521440" y="6510528"/>
            <a:ext cx="5486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30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94360" y="438912"/>
            <a:ext cx="11009376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Steps 1–2: amenities and a walking network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554480"/>
            <a:ext cx="6492240" cy="393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lng_min, lat_min, lng_max, lat_max = boundary</a:t>
            </a:r>
          </a:p>
          <a:p>
            <a:pPr algn="l"/>
            <a:endParaRPr sz="1500" b="0">
              <a:solidFill>
                <a:srgbClr val="227C9D"/>
              </a:solidFill>
              <a:latin typeface="Menlo"/>
              <a:ea typeface="Menlo"/>
              <a:cs typeface="Menlo"/>
            </a:endParaRPr>
          </a:p>
          <a:p>
            <a:pPr algn="l"/>
            <a:r>
              <a:rPr sz="15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# Step 1: points tagged "amenity"</a:t>
            </a:r>
          </a:p>
          <a:p>
            <a:pPr algn="l"/>
            <a:r>
              <a:rPr sz="15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poi_df = osm.node_query(</a:t>
            </a:r>
          </a:p>
          <a:p>
            <a:pPr algn="l"/>
            <a:r>
              <a:rPr sz="15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    lat_min, lng_min, lat_max, lng_max,</a:t>
            </a:r>
          </a:p>
          <a:p>
            <a:pPr algn="l"/>
            <a:r>
              <a:rPr sz="15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    tags='"amenity"')</a:t>
            </a:r>
          </a:p>
          <a:p>
            <a:pPr algn="l"/>
            <a:endParaRPr sz="1500" b="0">
              <a:solidFill>
                <a:srgbClr val="227C9D"/>
              </a:solidFill>
              <a:latin typeface="Menlo"/>
              <a:ea typeface="Menlo"/>
              <a:cs typeface="Menlo"/>
            </a:endParaRPr>
          </a:p>
          <a:p>
            <a:pPr algn="l"/>
            <a:r>
              <a:rPr sz="15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# Step 2: walk network + preprocessing</a:t>
            </a:r>
          </a:p>
          <a:p>
            <a:pPr algn="l"/>
            <a:r>
              <a:rPr sz="15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net = osm.pdna_network_from_bbox(</a:t>
            </a:r>
          </a:p>
          <a:p>
            <a:pPr algn="l"/>
            <a:r>
              <a:rPr sz="15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    lat_min, lng_min, lat_max, lng_max,</a:t>
            </a:r>
          </a:p>
          <a:p>
            <a:pPr algn="l"/>
            <a:r>
              <a:rPr sz="15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    network_type="walk")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79" y="160020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rPr>
              <a:t>Argument order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1965960"/>
            <a:ext cx="4114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lat first. Shapely .bounds gives lng first, so unpack it before passing it 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292608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rPr>
              <a:t>Only OSM nodes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3291840"/>
            <a:ext cx="4114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node_query skips amenities that are drawn as building outlines.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425196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rPr>
              <a:t>Slow once, fast after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4617720"/>
            <a:ext cx="4114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“Generating contraction hierarchies” is the preprocessing. Every query after it is quick.</a:t>
            </a:r>
          </a:p>
        </p:txBody>
      </p:sp>
      <p:sp>
        <p:nvSpPr>
          <p:cNvPr id="10" name="Takeaway"/>
          <p:cNvSpPr txBox="1"/>
          <p:nvPr/>
        </p:nvSpPr>
        <p:spPr>
          <a:xfrm>
            <a:off x="667512" y="5715000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Same OpenStreetMap data as Part 1, loaded through Pandana’s own loader.</a:t>
            </a:r>
          </a:p>
        </p:txBody>
      </p:sp>
      <p:sp>
        <p:nvSpPr>
          <p:cNvPr id="11" name="Page number"/>
          <p:cNvSpPr txBox="1"/>
          <p:nvPr/>
        </p:nvSpPr>
        <p:spPr>
          <a:xfrm>
            <a:off x="11521440" y="6510528"/>
            <a:ext cx="5486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31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0702" y="437997"/>
            <a:ext cx="11009376" cy="104790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50" b="1">
                <a:solidFill>
                  <a:srgbClr val="243136"/>
                </a:solidFill>
                <a:latin typeface="Helvetica Neue"/>
              </a:rPr>
              <a:t>Step 3: tell the network what to look for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554480"/>
            <a:ext cx="635508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227C9D"/>
                </a:solidFill>
                <a:latin typeface="Menlo"/>
              </a:rPr>
              <a:t>max_distance = 2000   # meters</a:t>
            </a:r>
          </a:p>
          <a:p>
            <a:pPr algn="l"/>
            <a:r>
              <a:rPr sz="1400" b="0">
                <a:solidFill>
                  <a:srgbClr val="227C9D"/>
                </a:solidFill>
                <a:latin typeface="Menlo"/>
              </a:rPr>
              <a:t>num_pois = 10</a:t>
            </a:r>
          </a:p>
          <a:p>
            <a:pPr algn="l"/>
            <a:endParaRPr sz="1400" b="0">
              <a:solidFill>
                <a:srgbClr val="227C9D"/>
              </a:solidFill>
              <a:latin typeface="Menlo"/>
            </a:endParaRPr>
          </a:p>
          <a:p>
            <a:pPr algn="l"/>
            <a:r>
              <a:rPr sz="1400" b="0">
                <a:solidFill>
                  <a:srgbClr val="227C9D"/>
                </a:solidFill>
                <a:latin typeface="Menlo"/>
              </a:rPr>
              <a:t>for amenity in ["restaurant", "bar",</a:t>
            </a:r>
          </a:p>
          <a:p>
            <a:pPr algn="l"/>
            <a:r>
              <a:rPr sz="1400" b="0">
                <a:solidFill>
                  <a:srgbClr val="227C9D"/>
                </a:solidFill>
                <a:latin typeface="Menlo"/>
              </a:rPr>
              <a:t>                "school", "car_sharing"]:</a:t>
            </a:r>
          </a:p>
          <a:p>
            <a:pPr algn="l"/>
            <a:r>
              <a:rPr sz="1400" b="0">
                <a:solidFill>
                  <a:srgbClr val="227C9D"/>
                </a:solidFill>
                <a:latin typeface="Menlo"/>
              </a:rPr>
              <a:t>    subset = poi_df[poi_df["amenity"] == amenity]</a:t>
            </a:r>
          </a:p>
          <a:p>
            <a:pPr algn="l"/>
            <a:r>
              <a:rPr sz="1400" b="0">
                <a:solidFill>
                  <a:srgbClr val="227C9D"/>
                </a:solidFill>
                <a:latin typeface="Menlo"/>
              </a:rPr>
              <a:t>    net.set_pois(amenity, max_distance, num_pois,</a:t>
            </a:r>
          </a:p>
          <a:p>
            <a:pPr algn="l"/>
            <a:r>
              <a:rPr sz="1400" b="0">
                <a:solidFill>
                  <a:srgbClr val="227C9D"/>
                </a:solidFill>
                <a:latin typeface="Menlo"/>
              </a:rPr>
              <a:t>                 subset["lon"], subset["lat"])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3931920"/>
            <a:ext cx="1371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227C9D"/>
                </a:solidFill>
                <a:latin typeface="Helvetica Neue"/>
              </a:rPr>
              <a:t>Register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3931920"/>
            <a:ext cx="5029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243136"/>
                </a:solidFill>
                <a:latin typeface="Helvetica Neue"/>
              </a:rPr>
              <a:t>a category name, e.g. "bar"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4407408"/>
            <a:ext cx="1371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227C9D"/>
                </a:solidFill>
                <a:latin typeface="Helvetica Neue"/>
              </a:rPr>
              <a:t>Attach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4407408"/>
            <a:ext cx="5029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243136"/>
                </a:solidFill>
                <a:latin typeface="Helvetica Neue"/>
              </a:rPr>
              <a:t>each place snaps to its nearest node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4882896"/>
            <a:ext cx="1371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227C9D"/>
                </a:solidFill>
                <a:latin typeface="Helvetica Neue"/>
              </a:rPr>
              <a:t>Limit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4882896"/>
            <a:ext cx="5029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243136"/>
                </a:solidFill>
                <a:latin typeface="Helvetica Neue"/>
              </a:rPr>
              <a:t>search ≤ 2,000 m, keep ≤ 10 per node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223760" y="1783080"/>
            <a:ext cx="0" cy="3017520"/>
          </a:xfrm>
          <a:prstGeom prst="line">
            <a:avLst/>
          </a:prstGeom>
          <a:ln w="12700">
            <a:solidFill>
              <a:srgbClr val="9CB7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726680" y="1783080"/>
            <a:ext cx="0" cy="3017520"/>
          </a:xfrm>
          <a:prstGeom prst="line">
            <a:avLst/>
          </a:prstGeom>
          <a:ln w="12700">
            <a:solidFill>
              <a:srgbClr val="9CB7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229600" y="1783080"/>
            <a:ext cx="0" cy="3017520"/>
          </a:xfrm>
          <a:prstGeom prst="line">
            <a:avLst/>
          </a:prstGeom>
          <a:ln w="12700">
            <a:solidFill>
              <a:srgbClr val="9CB7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732520" y="1783080"/>
            <a:ext cx="0" cy="3017520"/>
          </a:xfrm>
          <a:prstGeom prst="line">
            <a:avLst/>
          </a:prstGeom>
          <a:ln w="12700">
            <a:solidFill>
              <a:srgbClr val="9CB7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235440" y="1783080"/>
            <a:ext cx="0" cy="3017520"/>
          </a:xfrm>
          <a:prstGeom prst="line">
            <a:avLst/>
          </a:prstGeom>
          <a:ln w="12700">
            <a:solidFill>
              <a:srgbClr val="9CB7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9738360" y="1783080"/>
            <a:ext cx="0" cy="3017520"/>
          </a:xfrm>
          <a:prstGeom prst="line">
            <a:avLst/>
          </a:prstGeom>
          <a:ln w="12700">
            <a:solidFill>
              <a:srgbClr val="9CB7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0241280" y="1783080"/>
            <a:ext cx="0" cy="3017520"/>
          </a:xfrm>
          <a:prstGeom prst="line">
            <a:avLst/>
          </a:prstGeom>
          <a:ln w="12700">
            <a:solidFill>
              <a:srgbClr val="9CB7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0744200" y="1783080"/>
            <a:ext cx="0" cy="3017520"/>
          </a:xfrm>
          <a:prstGeom prst="line">
            <a:avLst/>
          </a:prstGeom>
          <a:ln w="12700">
            <a:solidFill>
              <a:srgbClr val="9CB7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223760" y="1783080"/>
            <a:ext cx="3520440" cy="0"/>
          </a:xfrm>
          <a:prstGeom prst="line">
            <a:avLst/>
          </a:prstGeom>
          <a:ln w="12700">
            <a:solidFill>
              <a:srgbClr val="9CB7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223760" y="2286000"/>
            <a:ext cx="3520440" cy="0"/>
          </a:xfrm>
          <a:prstGeom prst="line">
            <a:avLst/>
          </a:prstGeom>
          <a:ln w="12700">
            <a:solidFill>
              <a:srgbClr val="9CB7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223760" y="2788920"/>
            <a:ext cx="3520440" cy="0"/>
          </a:xfrm>
          <a:prstGeom prst="line">
            <a:avLst/>
          </a:prstGeom>
          <a:ln w="12700">
            <a:solidFill>
              <a:srgbClr val="9CB7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223760" y="3291840"/>
            <a:ext cx="3520440" cy="0"/>
          </a:xfrm>
          <a:prstGeom prst="line">
            <a:avLst/>
          </a:prstGeom>
          <a:ln w="12700">
            <a:solidFill>
              <a:srgbClr val="9CB7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223760" y="3794760"/>
            <a:ext cx="3520440" cy="0"/>
          </a:xfrm>
          <a:prstGeom prst="line">
            <a:avLst/>
          </a:prstGeom>
          <a:ln w="12700">
            <a:solidFill>
              <a:srgbClr val="9CB7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223760" y="4297680"/>
            <a:ext cx="3520440" cy="0"/>
          </a:xfrm>
          <a:prstGeom prst="line">
            <a:avLst/>
          </a:prstGeom>
          <a:ln w="12700">
            <a:solidFill>
              <a:srgbClr val="9CB7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223760" y="4800600"/>
            <a:ext cx="3520440" cy="0"/>
          </a:xfrm>
          <a:prstGeom prst="line">
            <a:avLst/>
          </a:prstGeom>
          <a:ln w="12700">
            <a:solidFill>
              <a:srgbClr val="9CB7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7187184" y="174650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7187184" y="224942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7187184" y="275234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7187184" y="325526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7187184" y="375818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7187184" y="426110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7187184" y="476402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7690104" y="174650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7690104" y="224942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7690104" y="275234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7690104" y="325526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7690104" y="375818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7690104" y="426110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7690104" y="476402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8193024" y="174650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8193024" y="224942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8193024" y="275234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Oval 41"/>
          <p:cNvSpPr/>
          <p:nvPr/>
        </p:nvSpPr>
        <p:spPr>
          <a:xfrm>
            <a:off x="8193024" y="325526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8193024" y="375818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8193024" y="426110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8193024" y="476402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8695944" y="174650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Oval 46"/>
          <p:cNvSpPr/>
          <p:nvPr/>
        </p:nvSpPr>
        <p:spPr>
          <a:xfrm>
            <a:off x="8695944" y="224942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Oval 47"/>
          <p:cNvSpPr/>
          <p:nvPr/>
        </p:nvSpPr>
        <p:spPr>
          <a:xfrm>
            <a:off x="8695944" y="275234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8695944" y="325526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8695944" y="375818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Oval 50"/>
          <p:cNvSpPr/>
          <p:nvPr/>
        </p:nvSpPr>
        <p:spPr>
          <a:xfrm>
            <a:off x="8695944" y="426110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Oval 51"/>
          <p:cNvSpPr/>
          <p:nvPr/>
        </p:nvSpPr>
        <p:spPr>
          <a:xfrm>
            <a:off x="8695944" y="476402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Oval 52"/>
          <p:cNvSpPr/>
          <p:nvPr/>
        </p:nvSpPr>
        <p:spPr>
          <a:xfrm>
            <a:off x="9198864" y="174650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/>
          <p:cNvSpPr/>
          <p:nvPr/>
        </p:nvSpPr>
        <p:spPr>
          <a:xfrm>
            <a:off x="9198864" y="224942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Oval 54"/>
          <p:cNvSpPr/>
          <p:nvPr/>
        </p:nvSpPr>
        <p:spPr>
          <a:xfrm>
            <a:off x="9198864" y="275234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Oval 55"/>
          <p:cNvSpPr/>
          <p:nvPr/>
        </p:nvSpPr>
        <p:spPr>
          <a:xfrm>
            <a:off x="9198864" y="325526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Oval 56"/>
          <p:cNvSpPr/>
          <p:nvPr/>
        </p:nvSpPr>
        <p:spPr>
          <a:xfrm>
            <a:off x="9198864" y="375818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Oval 57"/>
          <p:cNvSpPr/>
          <p:nvPr/>
        </p:nvSpPr>
        <p:spPr>
          <a:xfrm>
            <a:off x="9198864" y="426110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Oval 58"/>
          <p:cNvSpPr/>
          <p:nvPr/>
        </p:nvSpPr>
        <p:spPr>
          <a:xfrm>
            <a:off x="9198864" y="476402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Oval 59"/>
          <p:cNvSpPr/>
          <p:nvPr/>
        </p:nvSpPr>
        <p:spPr>
          <a:xfrm>
            <a:off x="9701784" y="174650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Oval 60"/>
          <p:cNvSpPr/>
          <p:nvPr/>
        </p:nvSpPr>
        <p:spPr>
          <a:xfrm>
            <a:off x="9701784" y="224942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Oval 61"/>
          <p:cNvSpPr/>
          <p:nvPr/>
        </p:nvSpPr>
        <p:spPr>
          <a:xfrm>
            <a:off x="9701784" y="275234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Oval 62"/>
          <p:cNvSpPr/>
          <p:nvPr/>
        </p:nvSpPr>
        <p:spPr>
          <a:xfrm>
            <a:off x="9701784" y="325526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Oval 63"/>
          <p:cNvSpPr/>
          <p:nvPr/>
        </p:nvSpPr>
        <p:spPr>
          <a:xfrm>
            <a:off x="9701784" y="375818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Oval 64"/>
          <p:cNvSpPr/>
          <p:nvPr/>
        </p:nvSpPr>
        <p:spPr>
          <a:xfrm>
            <a:off x="9701784" y="426110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Oval 65"/>
          <p:cNvSpPr/>
          <p:nvPr/>
        </p:nvSpPr>
        <p:spPr>
          <a:xfrm>
            <a:off x="9701784" y="476402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Oval 66"/>
          <p:cNvSpPr/>
          <p:nvPr/>
        </p:nvSpPr>
        <p:spPr>
          <a:xfrm>
            <a:off x="10204704" y="174650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Oval 67"/>
          <p:cNvSpPr/>
          <p:nvPr/>
        </p:nvSpPr>
        <p:spPr>
          <a:xfrm>
            <a:off x="10204704" y="224942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Oval 68"/>
          <p:cNvSpPr/>
          <p:nvPr/>
        </p:nvSpPr>
        <p:spPr>
          <a:xfrm>
            <a:off x="10204704" y="275234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Oval 69"/>
          <p:cNvSpPr/>
          <p:nvPr/>
        </p:nvSpPr>
        <p:spPr>
          <a:xfrm>
            <a:off x="10204704" y="325526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Oval 70"/>
          <p:cNvSpPr/>
          <p:nvPr/>
        </p:nvSpPr>
        <p:spPr>
          <a:xfrm>
            <a:off x="10204704" y="375818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Oval 71"/>
          <p:cNvSpPr/>
          <p:nvPr/>
        </p:nvSpPr>
        <p:spPr>
          <a:xfrm>
            <a:off x="10204704" y="426110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Oval 72"/>
          <p:cNvSpPr/>
          <p:nvPr/>
        </p:nvSpPr>
        <p:spPr>
          <a:xfrm>
            <a:off x="10204704" y="476402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Oval 73"/>
          <p:cNvSpPr/>
          <p:nvPr/>
        </p:nvSpPr>
        <p:spPr>
          <a:xfrm>
            <a:off x="10707624" y="174650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Oval 74"/>
          <p:cNvSpPr/>
          <p:nvPr/>
        </p:nvSpPr>
        <p:spPr>
          <a:xfrm>
            <a:off x="10707624" y="224942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Oval 75"/>
          <p:cNvSpPr/>
          <p:nvPr/>
        </p:nvSpPr>
        <p:spPr>
          <a:xfrm>
            <a:off x="10707624" y="275234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Oval 76"/>
          <p:cNvSpPr/>
          <p:nvPr/>
        </p:nvSpPr>
        <p:spPr>
          <a:xfrm>
            <a:off x="10707624" y="325526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Oval 77"/>
          <p:cNvSpPr/>
          <p:nvPr/>
        </p:nvSpPr>
        <p:spPr>
          <a:xfrm>
            <a:off x="10707624" y="375818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Oval 78"/>
          <p:cNvSpPr/>
          <p:nvPr/>
        </p:nvSpPr>
        <p:spPr>
          <a:xfrm>
            <a:off x="10707624" y="426110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Oval 79"/>
          <p:cNvSpPr/>
          <p:nvPr/>
        </p:nvSpPr>
        <p:spPr>
          <a:xfrm>
            <a:off x="10707624" y="476402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1" name="Connector 80"/>
          <p:cNvCxnSpPr/>
          <p:nvPr/>
        </p:nvCxnSpPr>
        <p:spPr>
          <a:xfrm flipH="1">
            <a:off x="7726680" y="2121408"/>
            <a:ext cx="201168" cy="164592"/>
          </a:xfrm>
          <a:prstGeom prst="line">
            <a:avLst/>
          </a:prstGeom>
          <a:ln w="22225">
            <a:solidFill>
              <a:srgbClr val="DB724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Oval 81"/>
          <p:cNvSpPr/>
          <p:nvPr/>
        </p:nvSpPr>
        <p:spPr>
          <a:xfrm>
            <a:off x="7653528" y="2212848"/>
            <a:ext cx="146304" cy="146304"/>
          </a:xfrm>
          <a:prstGeom prst="ellipse">
            <a:avLst/>
          </a:prstGeom>
          <a:solidFill>
            <a:srgbClr val="24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Oval 82"/>
          <p:cNvSpPr/>
          <p:nvPr/>
        </p:nvSpPr>
        <p:spPr>
          <a:xfrm>
            <a:off x="7836408" y="2029967"/>
            <a:ext cx="182880" cy="182880"/>
          </a:xfrm>
          <a:prstGeom prst="ellipse">
            <a:avLst/>
          </a:prstGeom>
          <a:solidFill>
            <a:srgbClr val="DB7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4" name="Connector 83"/>
          <p:cNvCxnSpPr/>
          <p:nvPr/>
        </p:nvCxnSpPr>
        <p:spPr>
          <a:xfrm flipV="1">
            <a:off x="9555480" y="2788920"/>
            <a:ext cx="182880" cy="182880"/>
          </a:xfrm>
          <a:prstGeom prst="line">
            <a:avLst/>
          </a:prstGeom>
          <a:ln w="22225">
            <a:solidFill>
              <a:srgbClr val="DB724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Oval 84"/>
          <p:cNvSpPr/>
          <p:nvPr/>
        </p:nvSpPr>
        <p:spPr>
          <a:xfrm>
            <a:off x="9665208" y="2715768"/>
            <a:ext cx="146304" cy="146304"/>
          </a:xfrm>
          <a:prstGeom prst="ellipse">
            <a:avLst/>
          </a:prstGeom>
          <a:solidFill>
            <a:srgbClr val="24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Oval 85"/>
          <p:cNvSpPr/>
          <p:nvPr/>
        </p:nvSpPr>
        <p:spPr>
          <a:xfrm>
            <a:off x="9464040" y="2880360"/>
            <a:ext cx="182880" cy="182880"/>
          </a:xfrm>
          <a:prstGeom prst="ellipse">
            <a:avLst/>
          </a:prstGeom>
          <a:solidFill>
            <a:srgbClr val="DB7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7" name="Connector 86"/>
          <p:cNvCxnSpPr/>
          <p:nvPr/>
        </p:nvCxnSpPr>
        <p:spPr>
          <a:xfrm flipH="1" flipV="1">
            <a:off x="8229600" y="4297680"/>
            <a:ext cx="228600" cy="137160"/>
          </a:xfrm>
          <a:prstGeom prst="line">
            <a:avLst/>
          </a:prstGeom>
          <a:ln w="22225">
            <a:solidFill>
              <a:srgbClr val="DB724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Oval 87"/>
          <p:cNvSpPr/>
          <p:nvPr/>
        </p:nvSpPr>
        <p:spPr>
          <a:xfrm>
            <a:off x="8156448" y="4224528"/>
            <a:ext cx="146304" cy="146304"/>
          </a:xfrm>
          <a:prstGeom prst="ellipse">
            <a:avLst/>
          </a:prstGeom>
          <a:solidFill>
            <a:srgbClr val="24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Oval 88"/>
          <p:cNvSpPr/>
          <p:nvPr/>
        </p:nvSpPr>
        <p:spPr>
          <a:xfrm>
            <a:off x="8366760" y="4343400"/>
            <a:ext cx="182880" cy="182880"/>
          </a:xfrm>
          <a:prstGeom prst="ellipse">
            <a:avLst/>
          </a:prstGeom>
          <a:solidFill>
            <a:srgbClr val="DB7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0" name="Connector 89"/>
          <p:cNvCxnSpPr/>
          <p:nvPr/>
        </p:nvCxnSpPr>
        <p:spPr>
          <a:xfrm flipH="1">
            <a:off x="10241280" y="4096512"/>
            <a:ext cx="164592" cy="201168"/>
          </a:xfrm>
          <a:prstGeom prst="line">
            <a:avLst/>
          </a:prstGeom>
          <a:ln w="22225">
            <a:solidFill>
              <a:srgbClr val="DB724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Oval 90"/>
          <p:cNvSpPr/>
          <p:nvPr/>
        </p:nvSpPr>
        <p:spPr>
          <a:xfrm>
            <a:off x="10168128" y="4224528"/>
            <a:ext cx="146304" cy="146304"/>
          </a:xfrm>
          <a:prstGeom prst="ellipse">
            <a:avLst/>
          </a:prstGeom>
          <a:solidFill>
            <a:srgbClr val="24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Oval 91"/>
          <p:cNvSpPr/>
          <p:nvPr/>
        </p:nvSpPr>
        <p:spPr>
          <a:xfrm>
            <a:off x="10314432" y="4005072"/>
            <a:ext cx="182880" cy="182880"/>
          </a:xfrm>
          <a:prstGeom prst="ellipse">
            <a:avLst/>
          </a:prstGeom>
          <a:solidFill>
            <a:srgbClr val="DB7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7132320" y="4892040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DB724C"/>
                </a:solidFill>
                <a:latin typeface="Helvetica Neue"/>
              </a:rPr>
              <a:t>●</a:t>
            </a:r>
            <a:r>
              <a:rPr sz="1400" b="0">
                <a:solidFill>
                  <a:srgbClr val="5B676A"/>
                </a:solidFill>
                <a:latin typeface="Helvetica Neue"/>
              </a:rPr>
              <a:t>  place    </a:t>
            </a:r>
            <a:r>
              <a:rPr sz="1400" b="0">
                <a:solidFill>
                  <a:srgbClr val="243136"/>
                </a:solidFill>
                <a:latin typeface="Helvetica Neue"/>
              </a:rPr>
              <a:t>●</a:t>
            </a:r>
            <a:r>
              <a:rPr sz="1400" b="0">
                <a:solidFill>
                  <a:srgbClr val="5B676A"/>
                </a:solidFill>
                <a:latin typeface="Helvetica Neue"/>
              </a:rPr>
              <a:t>  node holding a place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66597" y="5715000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243136"/>
                </a:solidFill>
                <a:latin typeface="Helvetica Neue"/>
              </a:rPr>
              <a:t>Queries can’t go past this limit. New amenity? Run set_pois again.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1594592" y="6515100"/>
            <a:ext cx="47548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B676A"/>
                </a:solidFill>
                <a:latin typeface="Helvetica Neue"/>
              </a:rPr>
              <a:t>32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0702" y="437997"/>
            <a:ext cx="11009376" cy="104790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50" b="1">
                <a:solidFill>
                  <a:srgbClr val="243136"/>
                </a:solidFill>
                <a:latin typeface="Helvetica Neue"/>
              </a:rPr>
              <a:t>Step 4: ask every node at once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554480"/>
            <a:ext cx="56692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227C9D"/>
                </a:solidFill>
                <a:latin typeface="Menlo"/>
              </a:rPr>
              <a:t>access = net.nearest_pois(</a:t>
            </a:r>
          </a:p>
          <a:p>
            <a:pPr algn="l"/>
            <a:r>
              <a:rPr sz="1700" b="0">
                <a:solidFill>
                  <a:srgbClr val="227C9D"/>
                </a:solidFill>
                <a:latin typeface="Menlo"/>
              </a:rPr>
              <a:t>    distance=2000,</a:t>
            </a:r>
          </a:p>
          <a:p>
            <a:pPr algn="l"/>
            <a:r>
              <a:rPr sz="1700" b="0">
                <a:solidFill>
                  <a:srgbClr val="227C9D"/>
                </a:solidFill>
                <a:latin typeface="Menlo"/>
              </a:rPr>
              <a:t>    category="bar",</a:t>
            </a:r>
          </a:p>
          <a:p>
            <a:pPr algn="l"/>
            <a:r>
              <a:rPr sz="1700" b="0">
                <a:solidFill>
                  <a:srgbClr val="227C9D"/>
                </a:solidFill>
                <a:latin typeface="Menlo"/>
              </a:rPr>
              <a:t>    num_pois=10)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3611880"/>
            <a:ext cx="123444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27C9D"/>
                </a:solidFill>
                <a:latin typeface="Helvetica Neue"/>
              </a:rPr>
              <a:t>node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93392" y="3611880"/>
            <a:ext cx="123444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27C9D"/>
                </a:solidFill>
                <a:latin typeface="Helvetica Neue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27832" y="3611880"/>
            <a:ext cx="123444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27C9D"/>
                </a:solidFill>
                <a:latin typeface="Helvetica Ne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62272" y="3611880"/>
            <a:ext cx="123444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27C9D"/>
                </a:solidFill>
                <a:latin typeface="Helvetica Neue"/>
              </a:rPr>
              <a:t>3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04672" y="4032504"/>
            <a:ext cx="4800600" cy="0"/>
          </a:xfrm>
          <a:prstGeom prst="line">
            <a:avLst/>
          </a:prstGeom>
          <a:ln w="12700">
            <a:solidFill>
              <a:srgbClr val="9CB7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58952" y="4078224"/>
            <a:ext cx="123444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243136"/>
                </a:solidFill>
                <a:latin typeface="Helvetica Neue"/>
              </a:rPr>
              <a:t>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93392" y="4078224"/>
            <a:ext cx="123444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243136"/>
                </a:solidFill>
                <a:latin typeface="Helvetica Neue"/>
              </a:rPr>
              <a:t>103 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27832" y="4078224"/>
            <a:ext cx="123444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243136"/>
                </a:solidFill>
                <a:latin typeface="Helvetica Neue"/>
              </a:rPr>
              <a:t>199 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62272" y="4078224"/>
            <a:ext cx="123444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243136"/>
                </a:solidFill>
                <a:latin typeface="Helvetica Neue"/>
              </a:rPr>
              <a:t>525 m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04672" y="4498848"/>
            <a:ext cx="4800600" cy="0"/>
          </a:xfrm>
          <a:prstGeom prst="line">
            <a:avLst/>
          </a:prstGeom>
          <a:ln w="6350">
            <a:solidFill>
              <a:srgbClr val="9CB7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58952" y="4498848"/>
            <a:ext cx="123444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243136"/>
                </a:solidFill>
                <a:latin typeface="Helvetica Neue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93392" y="4498848"/>
            <a:ext cx="123444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243136"/>
                </a:solidFill>
                <a:latin typeface="Helvetica Neue"/>
              </a:rPr>
              <a:t>1,745 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27832" y="4498848"/>
            <a:ext cx="123444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243136"/>
                </a:solidFill>
                <a:latin typeface="Helvetica Neue"/>
              </a:rPr>
              <a:t>2,000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4498848"/>
            <a:ext cx="123444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243136"/>
                </a:solidFill>
                <a:latin typeface="Helvetica Neue"/>
              </a:rPr>
              <a:t>2,000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04672" y="4919472"/>
            <a:ext cx="4800600" cy="0"/>
          </a:xfrm>
          <a:prstGeom prst="line">
            <a:avLst/>
          </a:prstGeom>
          <a:ln w="6350">
            <a:solidFill>
              <a:srgbClr val="9CB7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223760" y="1783080"/>
            <a:ext cx="0" cy="2514600"/>
          </a:xfrm>
          <a:prstGeom prst="line">
            <a:avLst/>
          </a:prstGeom>
          <a:ln w="12700">
            <a:solidFill>
              <a:srgbClr val="9CB7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726680" y="1783080"/>
            <a:ext cx="0" cy="2514600"/>
          </a:xfrm>
          <a:prstGeom prst="line">
            <a:avLst/>
          </a:prstGeom>
          <a:ln w="12700">
            <a:solidFill>
              <a:srgbClr val="9CB7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229600" y="1783080"/>
            <a:ext cx="0" cy="2514600"/>
          </a:xfrm>
          <a:prstGeom prst="line">
            <a:avLst/>
          </a:prstGeom>
          <a:ln w="12700">
            <a:solidFill>
              <a:srgbClr val="9CB7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732520" y="1783080"/>
            <a:ext cx="0" cy="2514600"/>
          </a:xfrm>
          <a:prstGeom prst="line">
            <a:avLst/>
          </a:prstGeom>
          <a:ln w="12700">
            <a:solidFill>
              <a:srgbClr val="9CB7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235440" y="1783080"/>
            <a:ext cx="0" cy="2514600"/>
          </a:xfrm>
          <a:prstGeom prst="line">
            <a:avLst/>
          </a:prstGeom>
          <a:ln w="12700">
            <a:solidFill>
              <a:srgbClr val="9CB7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9738360" y="1783080"/>
            <a:ext cx="0" cy="2514600"/>
          </a:xfrm>
          <a:prstGeom prst="line">
            <a:avLst/>
          </a:prstGeom>
          <a:ln w="12700">
            <a:solidFill>
              <a:srgbClr val="9CB7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241280" y="1783080"/>
            <a:ext cx="0" cy="2514600"/>
          </a:xfrm>
          <a:prstGeom prst="line">
            <a:avLst/>
          </a:prstGeom>
          <a:ln w="12700">
            <a:solidFill>
              <a:srgbClr val="9CB7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0744200" y="1783080"/>
            <a:ext cx="0" cy="2514600"/>
          </a:xfrm>
          <a:prstGeom prst="line">
            <a:avLst/>
          </a:prstGeom>
          <a:ln w="12700">
            <a:solidFill>
              <a:srgbClr val="9CB7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7223760" y="1783080"/>
            <a:ext cx="3520440" cy="0"/>
          </a:xfrm>
          <a:prstGeom prst="line">
            <a:avLst/>
          </a:prstGeom>
          <a:ln w="12700">
            <a:solidFill>
              <a:srgbClr val="9CB7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223760" y="2286000"/>
            <a:ext cx="3520440" cy="0"/>
          </a:xfrm>
          <a:prstGeom prst="line">
            <a:avLst/>
          </a:prstGeom>
          <a:ln w="12700">
            <a:solidFill>
              <a:srgbClr val="9CB7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223760" y="2788920"/>
            <a:ext cx="3520440" cy="0"/>
          </a:xfrm>
          <a:prstGeom prst="line">
            <a:avLst/>
          </a:prstGeom>
          <a:ln w="12700">
            <a:solidFill>
              <a:srgbClr val="9CB7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223760" y="3291840"/>
            <a:ext cx="3520440" cy="0"/>
          </a:xfrm>
          <a:prstGeom prst="line">
            <a:avLst/>
          </a:prstGeom>
          <a:ln w="12700">
            <a:solidFill>
              <a:srgbClr val="9CB7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223760" y="3794760"/>
            <a:ext cx="3520440" cy="0"/>
          </a:xfrm>
          <a:prstGeom prst="line">
            <a:avLst/>
          </a:prstGeom>
          <a:ln w="12700">
            <a:solidFill>
              <a:srgbClr val="9CB7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7223760" y="4297680"/>
            <a:ext cx="3520440" cy="0"/>
          </a:xfrm>
          <a:prstGeom prst="line">
            <a:avLst/>
          </a:prstGeom>
          <a:ln w="12700">
            <a:solidFill>
              <a:srgbClr val="9CB7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7187184" y="174650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7187184" y="224942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7187184" y="275234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7187184" y="325526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7187184" y="375818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7187184" y="426110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7690104" y="174650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7690104" y="224942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7690104" y="275234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Oval 41"/>
          <p:cNvSpPr/>
          <p:nvPr/>
        </p:nvSpPr>
        <p:spPr>
          <a:xfrm>
            <a:off x="7690104" y="325526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7690104" y="375818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7690104" y="426110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8193024" y="174650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8193024" y="224942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Oval 46"/>
          <p:cNvSpPr/>
          <p:nvPr/>
        </p:nvSpPr>
        <p:spPr>
          <a:xfrm>
            <a:off x="8193024" y="275234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Oval 47"/>
          <p:cNvSpPr/>
          <p:nvPr/>
        </p:nvSpPr>
        <p:spPr>
          <a:xfrm>
            <a:off x="8193024" y="325526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8193024" y="375818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8193024" y="426110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Oval 50"/>
          <p:cNvSpPr/>
          <p:nvPr/>
        </p:nvSpPr>
        <p:spPr>
          <a:xfrm>
            <a:off x="8695944" y="174650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Oval 51"/>
          <p:cNvSpPr/>
          <p:nvPr/>
        </p:nvSpPr>
        <p:spPr>
          <a:xfrm>
            <a:off x="8695944" y="224942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Oval 52"/>
          <p:cNvSpPr/>
          <p:nvPr/>
        </p:nvSpPr>
        <p:spPr>
          <a:xfrm>
            <a:off x="8695944" y="275234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/>
          <p:cNvSpPr/>
          <p:nvPr/>
        </p:nvSpPr>
        <p:spPr>
          <a:xfrm>
            <a:off x="8695944" y="325526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Oval 54"/>
          <p:cNvSpPr/>
          <p:nvPr/>
        </p:nvSpPr>
        <p:spPr>
          <a:xfrm>
            <a:off x="8695944" y="375818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Oval 55"/>
          <p:cNvSpPr/>
          <p:nvPr/>
        </p:nvSpPr>
        <p:spPr>
          <a:xfrm>
            <a:off x="8695944" y="426110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Oval 56"/>
          <p:cNvSpPr/>
          <p:nvPr/>
        </p:nvSpPr>
        <p:spPr>
          <a:xfrm>
            <a:off x="9198864" y="174650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Oval 57"/>
          <p:cNvSpPr/>
          <p:nvPr/>
        </p:nvSpPr>
        <p:spPr>
          <a:xfrm>
            <a:off x="9198864" y="224942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Oval 58"/>
          <p:cNvSpPr/>
          <p:nvPr/>
        </p:nvSpPr>
        <p:spPr>
          <a:xfrm>
            <a:off x="9198864" y="275234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Oval 59"/>
          <p:cNvSpPr/>
          <p:nvPr/>
        </p:nvSpPr>
        <p:spPr>
          <a:xfrm>
            <a:off x="9198864" y="325526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Oval 60"/>
          <p:cNvSpPr/>
          <p:nvPr/>
        </p:nvSpPr>
        <p:spPr>
          <a:xfrm>
            <a:off x="9198864" y="375818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Oval 61"/>
          <p:cNvSpPr/>
          <p:nvPr/>
        </p:nvSpPr>
        <p:spPr>
          <a:xfrm>
            <a:off x="9198864" y="426110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Oval 62"/>
          <p:cNvSpPr/>
          <p:nvPr/>
        </p:nvSpPr>
        <p:spPr>
          <a:xfrm>
            <a:off x="9701784" y="174650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Oval 63"/>
          <p:cNvSpPr/>
          <p:nvPr/>
        </p:nvSpPr>
        <p:spPr>
          <a:xfrm>
            <a:off x="9701784" y="224942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Oval 64"/>
          <p:cNvSpPr/>
          <p:nvPr/>
        </p:nvSpPr>
        <p:spPr>
          <a:xfrm>
            <a:off x="9701784" y="275234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Oval 65"/>
          <p:cNvSpPr/>
          <p:nvPr/>
        </p:nvSpPr>
        <p:spPr>
          <a:xfrm>
            <a:off x="9701784" y="325526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Oval 66"/>
          <p:cNvSpPr/>
          <p:nvPr/>
        </p:nvSpPr>
        <p:spPr>
          <a:xfrm>
            <a:off x="9701784" y="375818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Oval 67"/>
          <p:cNvSpPr/>
          <p:nvPr/>
        </p:nvSpPr>
        <p:spPr>
          <a:xfrm>
            <a:off x="9701784" y="426110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Oval 68"/>
          <p:cNvSpPr/>
          <p:nvPr/>
        </p:nvSpPr>
        <p:spPr>
          <a:xfrm>
            <a:off x="10204704" y="174650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Oval 69"/>
          <p:cNvSpPr/>
          <p:nvPr/>
        </p:nvSpPr>
        <p:spPr>
          <a:xfrm>
            <a:off x="10204704" y="224942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Oval 70"/>
          <p:cNvSpPr/>
          <p:nvPr/>
        </p:nvSpPr>
        <p:spPr>
          <a:xfrm>
            <a:off x="10204704" y="275234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Oval 71"/>
          <p:cNvSpPr/>
          <p:nvPr/>
        </p:nvSpPr>
        <p:spPr>
          <a:xfrm>
            <a:off x="10204704" y="325526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Oval 72"/>
          <p:cNvSpPr/>
          <p:nvPr/>
        </p:nvSpPr>
        <p:spPr>
          <a:xfrm>
            <a:off x="10204704" y="375818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Oval 73"/>
          <p:cNvSpPr/>
          <p:nvPr/>
        </p:nvSpPr>
        <p:spPr>
          <a:xfrm>
            <a:off x="10204704" y="426110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Oval 74"/>
          <p:cNvSpPr/>
          <p:nvPr/>
        </p:nvSpPr>
        <p:spPr>
          <a:xfrm>
            <a:off x="10707624" y="174650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Oval 75"/>
          <p:cNvSpPr/>
          <p:nvPr/>
        </p:nvSpPr>
        <p:spPr>
          <a:xfrm>
            <a:off x="10707624" y="224942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Oval 76"/>
          <p:cNvSpPr/>
          <p:nvPr/>
        </p:nvSpPr>
        <p:spPr>
          <a:xfrm>
            <a:off x="10707624" y="275234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Oval 77"/>
          <p:cNvSpPr/>
          <p:nvPr/>
        </p:nvSpPr>
        <p:spPr>
          <a:xfrm>
            <a:off x="10707624" y="325526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Oval 78"/>
          <p:cNvSpPr/>
          <p:nvPr/>
        </p:nvSpPr>
        <p:spPr>
          <a:xfrm>
            <a:off x="10707624" y="375818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Oval 79"/>
          <p:cNvSpPr/>
          <p:nvPr/>
        </p:nvSpPr>
        <p:spPr>
          <a:xfrm>
            <a:off x="10707624" y="4261104"/>
            <a:ext cx="73152" cy="73152"/>
          </a:xfrm>
          <a:prstGeom prst="ellipse">
            <a:avLst/>
          </a:prstGeom>
          <a:solidFill>
            <a:srgbClr val="9CB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Oval 80"/>
          <p:cNvSpPr/>
          <p:nvPr/>
        </p:nvSpPr>
        <p:spPr>
          <a:xfrm>
            <a:off x="10341864" y="2039112"/>
            <a:ext cx="164592" cy="164592"/>
          </a:xfrm>
          <a:prstGeom prst="ellipse">
            <a:avLst/>
          </a:prstGeom>
          <a:solidFill>
            <a:srgbClr val="DB7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Oval 81"/>
          <p:cNvSpPr/>
          <p:nvPr/>
        </p:nvSpPr>
        <p:spPr>
          <a:xfrm>
            <a:off x="7461504" y="3895344"/>
            <a:ext cx="164592" cy="164592"/>
          </a:xfrm>
          <a:prstGeom prst="ellipse">
            <a:avLst/>
          </a:prstGeom>
          <a:solidFill>
            <a:srgbClr val="DB7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Oval 82"/>
          <p:cNvSpPr/>
          <p:nvPr/>
        </p:nvSpPr>
        <p:spPr>
          <a:xfrm>
            <a:off x="9838944" y="3877056"/>
            <a:ext cx="164592" cy="164592"/>
          </a:xfrm>
          <a:prstGeom prst="ellipse">
            <a:avLst/>
          </a:prstGeom>
          <a:solidFill>
            <a:srgbClr val="DB7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Oval 83"/>
          <p:cNvSpPr/>
          <p:nvPr/>
        </p:nvSpPr>
        <p:spPr>
          <a:xfrm>
            <a:off x="8138160" y="2194560"/>
            <a:ext cx="182880" cy="182880"/>
          </a:xfrm>
          <a:prstGeom prst="ellipse">
            <a:avLst/>
          </a:prstGeom>
          <a:solidFill>
            <a:srgbClr val="227C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7818120" y="1847088"/>
            <a:ext cx="411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700" b="1">
                <a:solidFill>
                  <a:srgbClr val="227C9D"/>
                </a:solidFill>
                <a:latin typeface="Helvetica Neue"/>
              </a:rPr>
              <a:t>A</a:t>
            </a:r>
          </a:p>
        </p:txBody>
      </p:sp>
      <p:sp>
        <p:nvSpPr>
          <p:cNvPr id="86" name="Oval 85"/>
          <p:cNvSpPr/>
          <p:nvPr/>
        </p:nvSpPr>
        <p:spPr>
          <a:xfrm>
            <a:off x="9144000" y="3200400"/>
            <a:ext cx="182880" cy="182880"/>
          </a:xfrm>
          <a:prstGeom prst="ellipse">
            <a:avLst/>
          </a:prstGeom>
          <a:solidFill>
            <a:srgbClr val="227C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8823960" y="2852928"/>
            <a:ext cx="411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700" b="1">
                <a:solidFill>
                  <a:srgbClr val="227C9D"/>
                </a:solidFill>
                <a:latin typeface="Helvetica Neue"/>
              </a:rPr>
              <a:t>B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132320" y="452628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227C9D"/>
                </a:solidFill>
                <a:latin typeface="Helvetica Neue"/>
              </a:rPr>
              <a:t>—  </a:t>
            </a:r>
            <a:r>
              <a:rPr sz="1600" b="0">
                <a:solidFill>
                  <a:srgbClr val="243136"/>
                </a:solidFill>
                <a:latin typeface="Helvetica Neue"/>
              </a:rPr>
              <a:t>One row per network node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132320" y="489204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227C9D"/>
                </a:solidFill>
                <a:latin typeface="Helvetica Neue"/>
              </a:rPr>
              <a:t>—  </a:t>
            </a:r>
            <a:r>
              <a:rPr sz="1600" b="0">
                <a:solidFill>
                  <a:srgbClr val="243136"/>
                </a:solidFill>
                <a:latin typeface="Helvetica Neue"/>
              </a:rPr>
              <a:t>Column n: distance to nth nearest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132320" y="525780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227C9D"/>
                </a:solidFill>
                <a:latin typeface="Helvetica Neue"/>
              </a:rPr>
              <a:t>—  </a:t>
            </a:r>
            <a:r>
              <a:rPr sz="1600" b="0">
                <a:solidFill>
                  <a:srgbClr val="243136"/>
                </a:solidFill>
                <a:latin typeface="Helvetica Neue"/>
              </a:rPr>
              <a:t>2,000 = none found within 2 km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66597" y="5715000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243136"/>
                </a:solidFill>
                <a:latin typeface="Helvetica Neue"/>
              </a:rPr>
              <a:t>Real rows from the notebook. 2,000 is the search limit, not a measured distance.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1594592" y="6515100"/>
            <a:ext cx="47548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B676A"/>
                </a:solidFill>
                <a:latin typeface="Helvetica Neue"/>
              </a:rPr>
              <a:t>33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94360" y="438912"/>
            <a:ext cx="11009376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Step 4: merge, then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554480"/>
            <a:ext cx="5760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nodes = pd.merge(net.nodes_df, access,</a:t>
            </a:r>
          </a:p>
          <a:p>
            <a:pPr algn="l"/>
            <a:r>
              <a:rPr sz="14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                 left_index=True,</a:t>
            </a:r>
          </a:p>
          <a:p>
            <a:pPr algn="l"/>
            <a:r>
              <a:rPr sz="14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                 right_index=True)</a:t>
            </a:r>
          </a:p>
          <a:p>
            <a:pPr algn="l"/>
            <a:r>
              <a:rPr sz="14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nodes = gpd.GeoDataFrame(nodes,</a:t>
            </a:r>
          </a:p>
          <a:p>
            <a:pPr algn="l"/>
            <a:r>
              <a:rPr sz="14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    geometry=gpd.points_from_xy(nodes.x, nodes.y),</a:t>
            </a:r>
          </a:p>
          <a:p>
            <a:pPr algn="l"/>
            <a:r>
              <a:rPr sz="14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    crs="EPSG:4326")</a:t>
            </a:r>
          </a:p>
          <a:p>
            <a:pPr algn="l"/>
            <a:r>
              <a:rPr sz="14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nodes.plot(column=1)   # 1 = nearest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3886200"/>
            <a:ext cx="539496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net.nodes_df</a:t>
            </a:r>
            <a:r>
              <a:rPr sz="170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 has x and y.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access</a:t>
            </a:r>
            <a:r>
              <a:rPr sz="170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 has the distances.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Both are indexed by node id, so they join directly.</a:t>
            </a:r>
          </a:p>
        </p:txBody>
      </p:sp>
      <p:pic>
        <p:nvPicPr>
          <p:cNvPr id="5" name="Picture 4" descr="map_16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463040"/>
            <a:ext cx="5120640" cy="33395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0" y="5074920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Walking distance (m) to the nearest bar · ★ bar · © OpenStreetMap contributors</a:t>
            </a:r>
          </a:p>
        </p:txBody>
      </p:sp>
      <p:sp>
        <p:nvSpPr>
          <p:cNvPr id="7" name="Takeaway"/>
          <p:cNvSpPr txBox="1"/>
          <p:nvPr/>
        </p:nvSpPr>
        <p:spPr>
          <a:xfrm>
            <a:off x="667512" y="5715000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Each dot is a network node, colored by how far you walk to the nearest bar.</a:t>
            </a:r>
          </a:p>
        </p:txBody>
      </p:sp>
      <p:sp>
        <p:nvSpPr>
          <p:cNvPr id="8" name="Page number"/>
          <p:cNvSpPr txBox="1"/>
          <p:nvPr/>
        </p:nvSpPr>
        <p:spPr>
          <a:xfrm>
            <a:off x="11521440" y="6510528"/>
            <a:ext cx="5486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34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94360" y="438912"/>
            <a:ext cx="11009376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Nearest vs. 3rd nearest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41732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rPr>
              <a:t>Nearest bar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45352" y="141732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rPr>
              <a:t>3rd nearest bar</a:t>
            </a:r>
          </a:p>
        </p:txBody>
      </p:sp>
      <p:pic>
        <p:nvPicPr>
          <p:cNvPr id="5" name="Picture 4" descr="map_16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" y="1828800"/>
            <a:ext cx="5303520" cy="3458817"/>
          </a:xfrm>
          <a:prstGeom prst="rect">
            <a:avLst/>
          </a:prstGeom>
        </p:spPr>
      </p:pic>
      <p:pic>
        <p:nvPicPr>
          <p:cNvPr id="6" name="Picture 5" descr="map_16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5352" y="1828800"/>
            <a:ext cx="5303520" cy="3458817"/>
          </a:xfrm>
          <a:prstGeom prst="rect">
            <a:avLst/>
          </a:prstGeom>
        </p:spPr>
      </p:pic>
      <p:sp>
        <p:nvSpPr>
          <p:cNvPr id="7" name="Takeaway"/>
          <p:cNvSpPr txBox="1"/>
          <p:nvPr/>
        </p:nvSpPr>
        <p:spPr>
          <a:xfrm>
            <a:off x="667512" y="5715000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The nearest tells you about access. The nth nearest tells you about choice.</a:t>
            </a:r>
          </a:p>
        </p:txBody>
      </p:sp>
      <p:sp>
        <p:nvSpPr>
          <p:cNvPr id="8" name="Page number"/>
          <p:cNvSpPr txBox="1"/>
          <p:nvPr/>
        </p:nvSpPr>
        <p:spPr>
          <a:xfrm>
            <a:off x="11521440" y="6510528"/>
            <a:ext cx="5486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35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0702" y="437997"/>
            <a:ext cx="11009376" cy="104790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50" b="1">
                <a:solidFill>
                  <a:srgbClr val="243136"/>
                </a:solidFill>
                <a:latin typeface="Helvetica Neue"/>
              </a:rPr>
              <a:t>From nearest POI to accessibility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67512" y="1554480"/>
            <a:ext cx="3474720" cy="1234440"/>
          </a:xfrm>
          <a:prstGeom prst="roundRect">
            <a:avLst>
              <a:gd name="adj" fmla="val 12000"/>
            </a:avLst>
          </a:prstGeom>
          <a:solidFill>
            <a:srgbClr val="ECE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04672" y="164592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227C9D"/>
                </a:solidFill>
                <a:latin typeface="Helvetica Neue"/>
              </a:rPr>
              <a:t>Nearest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011680"/>
            <a:ext cx="3200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243136"/>
                </a:solidFill>
                <a:latin typeface="Helvetica Neue"/>
              </a:rPr>
              <a:t>What is the nearest grocery store?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70831" y="1554480"/>
            <a:ext cx="3474720" cy="1234440"/>
          </a:xfrm>
          <a:prstGeom prst="roundRect">
            <a:avLst>
              <a:gd name="adj" fmla="val 12000"/>
            </a:avLst>
          </a:prstGeom>
          <a:solidFill>
            <a:srgbClr val="ECE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07992" y="164592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227C9D"/>
                </a:solidFill>
                <a:latin typeface="Helvetica Neue"/>
              </a:rPr>
              <a:t>Count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07992" y="2011680"/>
            <a:ext cx="3200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243136"/>
                </a:solidFill>
                <a:latin typeface="Helvetica Neue"/>
              </a:rPr>
              <a:t>How many parks are reachable within 800 m?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74152" y="1554480"/>
            <a:ext cx="3474720" cy="1234440"/>
          </a:xfrm>
          <a:prstGeom prst="roundRect">
            <a:avLst>
              <a:gd name="adj" fmla="val 12000"/>
            </a:avLst>
          </a:prstGeom>
          <a:solidFill>
            <a:srgbClr val="ECE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11312" y="164592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227C9D"/>
                </a:solidFill>
                <a:latin typeface="Helvetica Neue"/>
              </a:rPr>
              <a:t>Gaps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11312" y="2011680"/>
            <a:ext cx="3200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243136"/>
                </a:solidFill>
                <a:latin typeface="Helvetica Neue"/>
              </a:rPr>
              <a:t>Which areas have poor access to rapid transit?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88720" y="4069080"/>
            <a:ext cx="9692640" cy="0"/>
          </a:xfrm>
          <a:prstGeom prst="line">
            <a:avLst/>
          </a:prstGeom>
          <a:ln w="19050">
            <a:solidFill>
              <a:srgbClr val="5B67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188720" y="4014216"/>
            <a:ext cx="0" cy="109728"/>
          </a:xfrm>
          <a:prstGeom prst="line">
            <a:avLst/>
          </a:prstGeom>
          <a:ln w="12700">
            <a:solidFill>
              <a:srgbClr val="5B67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4160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B676A"/>
                </a:solidFill>
                <a:latin typeface="Helvetica Neue"/>
              </a:rPr>
              <a:t>0 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419600" y="4014216"/>
            <a:ext cx="0" cy="109728"/>
          </a:xfrm>
          <a:prstGeom prst="line">
            <a:avLst/>
          </a:prstGeom>
          <a:ln w="12700">
            <a:solidFill>
              <a:srgbClr val="5B67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962399" y="4160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B676A"/>
                </a:solidFill>
                <a:latin typeface="Helvetica Neue"/>
              </a:rPr>
              <a:t>400 m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650480" y="4014216"/>
            <a:ext cx="0" cy="109728"/>
          </a:xfrm>
          <a:prstGeom prst="line">
            <a:avLst/>
          </a:prstGeom>
          <a:ln w="12700">
            <a:solidFill>
              <a:srgbClr val="5B67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193280" y="4160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B676A"/>
                </a:solidFill>
                <a:latin typeface="Helvetica Neue"/>
              </a:rPr>
              <a:t>800 m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0881360" y="4014216"/>
            <a:ext cx="0" cy="109728"/>
          </a:xfrm>
          <a:prstGeom prst="line">
            <a:avLst/>
          </a:prstGeom>
          <a:ln w="12700">
            <a:solidFill>
              <a:srgbClr val="5B67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0424160" y="4160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B676A"/>
                </a:solidFill>
                <a:latin typeface="Helvetica Neue"/>
              </a:rPr>
              <a:t>1200 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88720" y="3941064"/>
            <a:ext cx="6461760" cy="256032"/>
          </a:xfrm>
          <a:prstGeom prst="rect">
            <a:avLst/>
          </a:prstGeom>
          <a:solidFill>
            <a:srgbClr val="8FD4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2" name="Connector 21"/>
          <p:cNvCxnSpPr/>
          <p:nvPr/>
        </p:nvCxnSpPr>
        <p:spPr>
          <a:xfrm>
            <a:off x="7650480" y="3566160"/>
            <a:ext cx="0" cy="868680"/>
          </a:xfrm>
          <a:prstGeom prst="line">
            <a:avLst/>
          </a:prstGeom>
          <a:ln w="28575">
            <a:solidFill>
              <a:srgbClr val="227C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187440" y="320040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227C9D"/>
                </a:solidFill>
                <a:latin typeface="Helvetica Neue"/>
              </a:rPr>
              <a:t>budget C = 800 m</a:t>
            </a:r>
          </a:p>
        </p:txBody>
      </p:sp>
      <p:sp>
        <p:nvSpPr>
          <p:cNvPr id="24" name="Oval 23"/>
          <p:cNvSpPr/>
          <p:nvPr/>
        </p:nvSpPr>
        <p:spPr>
          <a:xfrm>
            <a:off x="1864614" y="3977640"/>
            <a:ext cx="182880" cy="182880"/>
          </a:xfrm>
          <a:prstGeom prst="ellipse">
            <a:avLst/>
          </a:prstGeom>
          <a:solidFill>
            <a:srgbClr val="227C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681734" y="356616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227C9D"/>
                </a:solidFill>
                <a:latin typeface="Helvetica Neue"/>
              </a:rPr>
              <a:t>B</a:t>
            </a:r>
          </a:p>
        </p:txBody>
      </p:sp>
      <p:sp>
        <p:nvSpPr>
          <p:cNvPr id="26" name="Oval 25"/>
          <p:cNvSpPr/>
          <p:nvPr/>
        </p:nvSpPr>
        <p:spPr>
          <a:xfrm>
            <a:off x="2551176" y="3977640"/>
            <a:ext cx="182880" cy="182880"/>
          </a:xfrm>
          <a:prstGeom prst="ellipse">
            <a:avLst/>
          </a:prstGeom>
          <a:solidFill>
            <a:srgbClr val="227C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2368296" y="356616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227C9D"/>
                </a:solidFill>
                <a:latin typeface="Helvetica Neue"/>
              </a:rPr>
              <a:t>A</a:t>
            </a:r>
          </a:p>
        </p:txBody>
      </p:sp>
      <p:sp>
        <p:nvSpPr>
          <p:cNvPr id="28" name="Oval 27"/>
          <p:cNvSpPr/>
          <p:nvPr/>
        </p:nvSpPr>
        <p:spPr>
          <a:xfrm>
            <a:off x="8770620" y="3977640"/>
            <a:ext cx="182880" cy="182880"/>
          </a:xfrm>
          <a:prstGeom prst="ellipse">
            <a:avLst/>
          </a:prstGeom>
          <a:solidFill>
            <a:srgbClr val="5B67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587740" y="356616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5B676A"/>
                </a:solidFill>
                <a:latin typeface="Helvetica Neue"/>
              </a:rPr>
              <a:t>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" y="4617720"/>
            <a:ext cx="6400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227C9D"/>
                </a:solidFill>
                <a:latin typeface="Helvetica Neue"/>
              </a:rPr>
              <a:t>Accessible</a:t>
            </a:r>
            <a:r>
              <a:rPr sz="2000" b="0">
                <a:solidFill>
                  <a:srgbClr val="243136"/>
                </a:solidFill>
                <a:latin typeface="Helvetica Neue"/>
              </a:rPr>
              <a:t> if network distance ≤ budget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23760" y="4663440"/>
            <a:ext cx="4297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700" b="0">
                <a:solidFill>
                  <a:srgbClr val="5B676A"/>
                </a:solidFill>
                <a:latin typeface="Helvetica Neue"/>
              </a:rPr>
              <a:t>Accessible</a:t>
            </a:r>
            <a:r>
              <a:rPr sz="1700" b="0" baseline="-25000">
                <a:solidFill>
                  <a:srgbClr val="5B676A"/>
                </a:solidFill>
                <a:latin typeface="Helvetica Neue"/>
              </a:rPr>
              <a:t>i</a:t>
            </a:r>
            <a:r>
              <a:rPr sz="1700" b="0">
                <a:solidFill>
                  <a:srgbClr val="5B676A"/>
                </a:solidFill>
                <a:latin typeface="Helvetica Neue"/>
              </a:rPr>
              <a:t> = 1[ d</a:t>
            </a:r>
            <a:r>
              <a:rPr sz="1700" b="0" baseline="-25000">
                <a:solidFill>
                  <a:srgbClr val="5B676A"/>
                </a:solidFill>
                <a:latin typeface="Helvetica Neue"/>
              </a:rPr>
              <a:t>i</a:t>
            </a:r>
            <a:r>
              <a:rPr sz="1700" b="0">
                <a:solidFill>
                  <a:srgbClr val="5B676A"/>
                </a:solidFill>
                <a:latin typeface="Helvetica Neue"/>
              </a:rPr>
              <a:t> ≤ C ]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6597" y="5715000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243136"/>
                </a:solidFill>
                <a:latin typeface="Helvetica Neue"/>
              </a:rPr>
              <a:t>The query gives a distance. A threshold turns it into an access answer.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594592" y="6515100"/>
            <a:ext cx="47548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B676A"/>
                </a:solidFill>
                <a:latin typeface="Helvetica Neue"/>
              </a:rPr>
              <a:t>36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94360" y="438912"/>
            <a:ext cx="11009376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Using Pandana well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67512" y="1508760"/>
            <a:ext cx="3429000" cy="1920240"/>
          </a:xfrm>
          <a:prstGeom prst="roundRect">
            <a:avLst>
              <a:gd name="adj" fmla="val 6000"/>
            </a:avLst>
          </a:prstGeom>
          <a:solidFill>
            <a:srgbClr val="ECE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04672" y="1618488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rPr>
              <a:t>Match the ceiling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011680"/>
            <a:ext cx="31546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nearest_pois can’t search past the maxdist or num_pois you gave set_pois. Set them for the biggest question you will ask.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70831" y="1508760"/>
            <a:ext cx="3429000" cy="1920240"/>
          </a:xfrm>
          <a:prstGeom prst="roundRect">
            <a:avLst>
              <a:gd name="adj" fmla="val 6000"/>
            </a:avLst>
          </a:prstGeom>
          <a:solidFill>
            <a:srgbClr val="ECE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07992" y="1618488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rPr>
              <a:t>Mask the cap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07992" y="2011680"/>
            <a:ext cx="31546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A value equal to maxdist means nothing was found. Set it to NaN or label it “&gt; 2 km” before you map or average.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74152" y="1508760"/>
            <a:ext cx="3429000" cy="1920240"/>
          </a:xfrm>
          <a:prstGeom prst="roundRect">
            <a:avLst>
              <a:gd name="adj" fmla="val 6000"/>
            </a:avLst>
          </a:prstGeom>
          <a:solidFill>
            <a:srgbClr val="ECE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11312" y="1618488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rPr>
              <a:t>Pad the bounding box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11312" y="2011680"/>
            <a:ext cx="31546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Places just outside the box are invisible, so edge nodes look worse than they are. Download a larger box, then clip.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" y="3657600"/>
            <a:ext cx="3429000" cy="1920240"/>
          </a:xfrm>
          <a:prstGeom prst="roundRect">
            <a:avLst>
              <a:gd name="adj" fmla="val 6000"/>
            </a:avLst>
          </a:prstGeom>
          <a:solidFill>
            <a:srgbClr val="ECE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04672" y="3767328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rPr>
              <a:t>Check what counts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160520"/>
            <a:ext cx="31546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Look at poi_df before trusting a category: missing names, duplicates, and amenities drawn as polygons.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0831" y="3657600"/>
            <a:ext cx="3429000" cy="1920240"/>
          </a:xfrm>
          <a:prstGeom prst="roundRect">
            <a:avLst>
              <a:gd name="adj" fmla="val 6000"/>
            </a:avLst>
          </a:prstGeom>
          <a:solidFill>
            <a:srgbClr val="ECE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07992" y="3767328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rPr>
              <a:t>Watch lat / lon order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07992" y="4160520"/>
            <a:ext cx="31546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Loaders take (lat_min, lng_min, …); set_pois takes x = lon, y = lat. A swap fails quietly.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74152" y="3657600"/>
            <a:ext cx="3429000" cy="1920240"/>
          </a:xfrm>
          <a:prstGeom prst="roundRect">
            <a:avLst>
              <a:gd name="adj" fmla="val 6000"/>
            </a:avLst>
          </a:prstGeom>
          <a:solidFill>
            <a:srgbClr val="ECE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11312" y="3767328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rPr>
              <a:t>Count, not only nearest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1312" y="4160520"/>
            <a:ext cx="31546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net.set(node_ids, jobs) then net.aggregate(800, type="sum", decay="flat") totals what is within 800 m.</a:t>
            </a:r>
          </a:p>
        </p:txBody>
      </p:sp>
      <p:sp>
        <p:nvSpPr>
          <p:cNvPr id="21" name="Page number"/>
          <p:cNvSpPr txBox="1"/>
          <p:nvPr/>
        </p:nvSpPr>
        <p:spPr>
          <a:xfrm>
            <a:off x="11521440" y="6510528"/>
            <a:ext cx="5486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37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94360" y="438912"/>
            <a:ext cx="11009376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Pandana or r5r?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325880"/>
            <a:ext cx="107899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What if the destination is a bus or train ride away?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874519"/>
          <a:ext cx="10835640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80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endParaRPr/>
                    </a:p>
                  </a:txBody>
                  <a:tcPr marL="109728" marR="109728" anchor="ctr">
                    <a:solidFill>
                      <a:srgbClr val="ECE7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227C9D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Pandana</a:t>
                      </a:r>
                    </a:p>
                  </a:txBody>
                  <a:tcPr marL="109728" marR="109728" anchor="ctr">
                    <a:solidFill>
                      <a:srgbClr val="ECE7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227C9D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r5r</a:t>
                      </a:r>
                    </a:p>
                  </a:txBody>
                  <a:tcPr marL="109728" marR="109728" anchor="ctr">
                    <a:solidFill>
                      <a:srgbClr val="ECE7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5B676A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Language</a:t>
                      </a:r>
                    </a:p>
                  </a:txBody>
                  <a:tcPr marL="109728" marR="109728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431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Python</a:t>
                      </a:r>
                    </a:p>
                  </a:txBody>
                  <a:tcPr marL="109728" marR="109728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431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  (r5py: same engine in Python)</a:t>
                      </a:r>
                    </a:p>
                  </a:txBody>
                  <a:tcPr marL="109728" marR="109728" anchor="ctr">
                    <a:solidFill>
                      <a:srgbClr val="F6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5B676A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Network</a:t>
                      </a:r>
                    </a:p>
                  </a:txBody>
                  <a:tcPr marL="109728" marR="109728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431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walk or drive streets</a:t>
                      </a:r>
                    </a:p>
                  </a:txBody>
                  <a:tcPr marL="109728" marR="109728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431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streets + transit schedules (GTFS)</a:t>
                      </a:r>
                    </a:p>
                  </a:txBody>
                  <a:tcPr marL="109728" marR="109728" anchor="ctr">
                    <a:solidFill>
                      <a:srgbClr val="F6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5B676A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Cost on a link</a:t>
                      </a:r>
                    </a:p>
                  </a:txBody>
                  <a:tcPr marL="109728" marR="109728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431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one fixed number (m or min)</a:t>
                      </a:r>
                    </a:p>
                  </a:txBody>
                  <a:tcPr marL="109728" marR="109728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431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time that depends on when you leave</a:t>
                      </a:r>
                    </a:p>
                  </a:txBody>
                  <a:tcPr marL="109728" marR="109728" anchor="ctr">
                    <a:solidFill>
                      <a:srgbClr val="F6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5B676A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Waiting, transfers</a:t>
                      </a:r>
                    </a:p>
                  </a:txBody>
                  <a:tcPr marL="109728" marR="109728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431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not modeled</a:t>
                      </a:r>
                    </a:p>
                  </a:txBody>
                  <a:tcPr marL="109728" marR="109728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431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modeled from the timetable</a:t>
                      </a:r>
                    </a:p>
                  </a:txBody>
                  <a:tcPr marL="109728" marR="109728" anchor="ctr">
                    <a:solidFill>
                      <a:srgbClr val="F6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5B676A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Typical output</a:t>
                      </a:r>
                    </a:p>
                  </a:txBody>
                  <a:tcPr marL="109728" marR="109728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dirty="0">
                          <a:solidFill>
                            <a:srgbClr val="2431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distance to nearest places, every node</a:t>
                      </a:r>
                    </a:p>
                  </a:txBody>
                  <a:tcPr marL="109728" marR="109728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431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travel-time matrix, accessibility by time of day</a:t>
                      </a:r>
                    </a:p>
                  </a:txBody>
                  <a:tcPr marL="109728" marR="109728" anchor="ctr">
                    <a:solidFill>
                      <a:srgbClr val="F6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5B676A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Best for</a:t>
                      </a:r>
                    </a:p>
                  </a:txBody>
                  <a:tcPr marL="109728" marR="109728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431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fast citywide walk / drive access</a:t>
                      </a:r>
                    </a:p>
                  </a:txBody>
                  <a:tcPr marL="109728" marR="109728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dirty="0">
                          <a:solidFill>
                            <a:srgbClr val="24313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transit access and equity analysis</a:t>
                      </a:r>
                    </a:p>
                  </a:txBody>
                  <a:tcPr marL="109728" marR="109728" anchor="ctr">
                    <a:solidFill>
                      <a:srgbClr val="F6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akeaway"/>
          <p:cNvSpPr txBox="1"/>
          <p:nvPr/>
        </p:nvSpPr>
        <p:spPr>
          <a:xfrm>
            <a:off x="667512" y="5715000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 dirty="0" err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Pandana</a:t>
            </a:r>
            <a:r>
              <a:rPr sz="1900" b="0" dirty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 asks “how far?” Transit asks “how long, if I leave at 8:00?”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1521440" y="6510528"/>
            <a:ext cx="5486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38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94360" y="438912"/>
            <a:ext cx="11009376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r5r: transit accessibility in 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67512" y="1554480"/>
            <a:ext cx="3520440" cy="1691640"/>
          </a:xfrm>
          <a:prstGeom prst="roundRect">
            <a:avLst>
              <a:gd name="adj" fmla="val 6000"/>
            </a:avLst>
          </a:prstGeom>
          <a:solidFill>
            <a:srgbClr val="ECE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32103" y="1664208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rPr>
              <a:t>INPUTS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3" y="2011680"/>
            <a:ext cx="3200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street network:  .osm.pbf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transit schedule:  GTFS .zip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elevation .tif  (optional)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87952" y="219456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53712" y="1554480"/>
            <a:ext cx="3520440" cy="1691640"/>
          </a:xfrm>
          <a:prstGeom prst="roundRect">
            <a:avLst>
              <a:gd name="adj" fmla="val 6000"/>
            </a:avLst>
          </a:prstGeom>
          <a:solidFill>
            <a:srgbClr val="24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718304" y="1664208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8FD4D9"/>
                </a:solidFill>
                <a:latin typeface="Helvetica Neue"/>
                <a:ea typeface="Helvetica Neue"/>
                <a:cs typeface="Helvetica Neue"/>
              </a:rPr>
              <a:t>ENGINE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18304" y="2011680"/>
            <a:ext cx="3200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build_network()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R5 router by Conveyal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Java (JDK 21) under the hood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74152" y="219456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39912" y="1554480"/>
            <a:ext cx="3081528" cy="1691640"/>
          </a:xfrm>
          <a:prstGeom prst="roundRect">
            <a:avLst>
              <a:gd name="adj" fmla="val 6000"/>
            </a:avLst>
          </a:prstGeom>
          <a:solidFill>
            <a:srgbClr val="ECE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04504" y="1664208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rPr>
              <a:t>OUTPUTS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04504" y="2011680"/>
            <a:ext cx="27432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data.frames / sf objects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ready for ggplot or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a join to census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" y="3611880"/>
            <a:ext cx="3383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travel_time_matrix()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60520" y="3611880"/>
            <a:ext cx="7315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minutes between every origin–destination pair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4087368"/>
            <a:ext cx="3383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accessibility()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60520" y="4087368"/>
            <a:ext cx="7315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opportunities reachable within a cutoff, with step or decay weights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" y="4562856"/>
            <a:ext cx="3383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detailed_itineraries()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60520" y="4562856"/>
            <a:ext cx="7315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the actual trips: walk, wait, ride, transfer, as sf lines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" y="5038344"/>
            <a:ext cx="3383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isochrone()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0520" y="5038344"/>
            <a:ext cx="7315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the area reachable within N minutes</a:t>
            </a:r>
          </a:p>
        </p:txBody>
      </p:sp>
      <p:sp>
        <p:nvSpPr>
          <p:cNvPr id="22" name="Takeaway"/>
          <p:cNvSpPr txBox="1"/>
          <p:nvPr/>
        </p:nvSpPr>
        <p:spPr>
          <a:xfrm>
            <a:off x="667512" y="5715000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Developed by IPEA (Brazil)  ·  ipeagit.github.io/r5r  ·  Python twin: r5py</a:t>
            </a:r>
          </a:p>
        </p:txBody>
      </p:sp>
      <p:sp>
        <p:nvSpPr>
          <p:cNvPr id="23" name="Page number"/>
          <p:cNvSpPr txBox="1"/>
          <p:nvPr/>
        </p:nvSpPr>
        <p:spPr>
          <a:xfrm>
            <a:off x="11521440" y="6510528"/>
            <a:ext cx="5486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39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94360" y="438912"/>
            <a:ext cx="11009376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50" b="1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r5r in 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463040"/>
            <a:ext cx="676656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options(java.parameters = "-Xmx4G")</a:t>
            </a:r>
          </a:p>
          <a:p>
            <a:pPr algn="l"/>
            <a:r>
              <a:rPr sz="13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library(r5r)</a:t>
            </a:r>
          </a:p>
          <a:p>
            <a:pPr algn="l"/>
            <a:endParaRPr sz="1300" b="0">
              <a:solidFill>
                <a:srgbClr val="227C9D"/>
              </a:solidFill>
              <a:latin typeface="Menlo"/>
              <a:ea typeface="Menlo"/>
              <a:cs typeface="Menlo"/>
            </a:endParaRPr>
          </a:p>
          <a:p>
            <a:pPr algn="l"/>
            <a:r>
              <a:rPr sz="13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# folder holds philly.osm.pbf + septa_gtfs.zip</a:t>
            </a:r>
          </a:p>
          <a:p>
            <a:pPr algn="l"/>
            <a:r>
              <a:rPr sz="13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net &lt;- build_network(data_path = "data/philly")</a:t>
            </a:r>
          </a:p>
          <a:p>
            <a:pPr algn="l"/>
            <a:endParaRPr sz="1300" b="0">
              <a:solidFill>
                <a:srgbClr val="227C9D"/>
              </a:solidFill>
              <a:latin typeface="Menlo"/>
              <a:ea typeface="Menlo"/>
              <a:cs typeface="Menlo"/>
            </a:endParaRPr>
          </a:p>
          <a:p>
            <a:pPr algn="l"/>
            <a:r>
              <a:rPr sz="13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access &lt;- accessibility(</a:t>
            </a:r>
          </a:p>
          <a:p>
            <a:pPr algn="l"/>
            <a:r>
              <a:rPr sz="13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  net,</a:t>
            </a:r>
          </a:p>
          <a:p>
            <a:pPr algn="l"/>
            <a:r>
              <a:rPr sz="13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  origins      = hexes,   # id, lat, lon</a:t>
            </a:r>
          </a:p>
          <a:p>
            <a:pPr algn="l"/>
            <a:r>
              <a:rPr sz="13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  destinations = hexes,   # + a jobs column</a:t>
            </a:r>
          </a:p>
          <a:p>
            <a:pPr algn="l"/>
            <a:r>
              <a:rPr sz="13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  opportunities_colnames = "jobs",</a:t>
            </a:r>
          </a:p>
          <a:p>
            <a:pPr algn="l"/>
            <a:r>
              <a:rPr sz="13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  mode = c("WALK", "TRANSIT"),</a:t>
            </a:r>
          </a:p>
          <a:p>
            <a:pPr algn="l"/>
            <a:r>
              <a:rPr sz="13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  departure_datetime = as.POSIXct("2026-10-13 08:00"),</a:t>
            </a:r>
          </a:p>
          <a:p>
            <a:pPr algn="l"/>
            <a:r>
              <a:rPr sz="13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  time_window = 60,</a:t>
            </a:r>
          </a:p>
          <a:p>
            <a:pPr algn="l"/>
            <a:r>
              <a:rPr sz="13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  percentiles = c(25, 50, 75),</a:t>
            </a:r>
          </a:p>
          <a:p>
            <a:pPr algn="l"/>
            <a:r>
              <a:rPr sz="13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  decay_function = "step",</a:t>
            </a:r>
          </a:p>
          <a:p>
            <a:pPr algn="l"/>
            <a:r>
              <a:rPr sz="1300" b="0">
                <a:solidFill>
                  <a:srgbClr val="227C9D"/>
                </a:solidFill>
                <a:latin typeface="Menlo"/>
                <a:ea typeface="Menlo"/>
                <a:cs typeface="Menlo"/>
              </a:rPr>
              <a:t>  cutoffs = c(30, 45))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26679" y="1508760"/>
            <a:ext cx="3931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rPr>
              <a:t>Departure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26679" y="1874519"/>
            <a:ext cx="39319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Transit access changes minute to minute. Pick a realistic weekday time.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26679" y="2834639"/>
            <a:ext cx="3931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rPr>
              <a:t>time_window + percentiles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26679" y="3200399"/>
            <a:ext cx="39319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One run per minute in the window; percentiles show lucky, typical, and unlucky trips.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26679" y="4160520"/>
            <a:ext cx="3931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227C9D"/>
                </a:solidFill>
                <a:latin typeface="Helvetica Neue"/>
                <a:ea typeface="Helvetica Neue"/>
                <a:cs typeface="Helvetica Neue"/>
              </a:rPr>
              <a:t>Same idea as Pandana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4526280"/>
            <a:ext cx="39319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Opportunities, a cost, a cutoff. The cost now depends on the schedule.</a:t>
            </a:r>
          </a:p>
        </p:txBody>
      </p:sp>
      <p:sp>
        <p:nvSpPr>
          <p:cNvPr id="10" name="Takeaway"/>
          <p:cNvSpPr txBox="1"/>
          <p:nvPr/>
        </p:nvSpPr>
        <p:spPr>
          <a:xfrm>
            <a:off x="667512" y="5715000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243136"/>
                </a:solidFill>
                <a:latin typeface="Helvetica Neue"/>
                <a:ea typeface="Helvetica Neue"/>
                <a:cs typeface="Helvetica Neue"/>
              </a:rPr>
              <a:t>Check the GTFS service dates cover your departure date, or no transit trips are found.</a:t>
            </a:r>
          </a:p>
        </p:txBody>
      </p:sp>
      <p:sp>
        <p:nvSpPr>
          <p:cNvPr id="11" name="Page number"/>
          <p:cNvSpPr txBox="1"/>
          <p:nvPr/>
        </p:nvSpPr>
        <p:spPr>
          <a:xfrm>
            <a:off x="11521440" y="6510528"/>
            <a:ext cx="5486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B676A"/>
                </a:solidFill>
                <a:latin typeface="Helvetica Neue"/>
                <a:ea typeface="Helvetica Neue"/>
                <a:cs typeface="Helvetica Neue"/>
              </a:rPr>
              <a:t>40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0702" y="437997"/>
            <a:ext cx="11009376" cy="104790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50" b="1">
                <a:solidFill>
                  <a:srgbClr val="243136"/>
                </a:solidFill>
                <a:latin typeface="Helvetica Neue"/>
              </a:rPr>
              <a:t>OSMnx represents movement;</a:t>
            </a:r>
          </a:p>
          <a:p>
            <a:pPr algn="l"/>
            <a:r>
              <a:rPr sz="3450" b="1">
                <a:solidFill>
                  <a:srgbClr val="243136"/>
                </a:solidFill>
                <a:latin typeface="Helvetica Neue"/>
              </a:rPr>
              <a:t>Pandana measures access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214884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227C9D"/>
                </a:solidFill>
                <a:latin typeface="Helvetica Neue"/>
              </a:rPr>
              <a:t>OSM</a:t>
            </a:r>
            <a:r>
              <a:rPr sz="2000" b="0">
                <a:solidFill>
                  <a:srgbClr val="5B676A"/>
                </a:solidFill>
                <a:latin typeface="Helvetica Neue"/>
              </a:rPr>
              <a:t> → </a:t>
            </a:r>
            <a:r>
              <a:rPr sz="2000" b="1">
                <a:solidFill>
                  <a:srgbClr val="227C9D"/>
                </a:solidFill>
                <a:latin typeface="Helvetica Neue"/>
              </a:rPr>
              <a:t>OSMnx graph</a:t>
            </a:r>
            <a:r>
              <a:rPr sz="2000" b="0">
                <a:solidFill>
                  <a:srgbClr val="5B676A"/>
                </a:solidFill>
                <a:latin typeface="Helvetica Neue"/>
              </a:rPr>
              <a:t> → </a:t>
            </a:r>
            <a:r>
              <a:rPr sz="2000" b="1">
                <a:solidFill>
                  <a:srgbClr val="227C9D"/>
                </a:solidFill>
                <a:latin typeface="Helvetica Neue"/>
              </a:rPr>
              <a:t>Pandana network</a:t>
            </a:r>
            <a:r>
              <a:rPr sz="2000" b="0">
                <a:solidFill>
                  <a:srgbClr val="5B676A"/>
                </a:solidFill>
                <a:latin typeface="Helvetica Neue"/>
              </a:rPr>
              <a:t> → </a:t>
            </a:r>
            <a:r>
              <a:rPr sz="2000" b="1">
                <a:solidFill>
                  <a:srgbClr val="227C9D"/>
                </a:solidFill>
                <a:latin typeface="Helvetica Neue"/>
              </a:rPr>
              <a:t>opportunities</a:t>
            </a:r>
            <a:r>
              <a:rPr sz="2000" b="0">
                <a:solidFill>
                  <a:srgbClr val="5B676A"/>
                </a:solidFill>
                <a:latin typeface="Helvetica Neue"/>
              </a:rPr>
              <a:t> → </a:t>
            </a:r>
            <a:r>
              <a:rPr sz="2000" b="1">
                <a:solidFill>
                  <a:srgbClr val="227C9D"/>
                </a:solidFill>
                <a:latin typeface="Helvetica Neue"/>
              </a:rPr>
              <a:t>accessibility</a:t>
            </a:r>
          </a:p>
          <a:p>
            <a:pPr algn="l"/>
            <a:r>
              <a:rPr sz="2000" b="1">
                <a:solidFill>
                  <a:srgbClr val="227C9D"/>
                </a:solidFill>
                <a:latin typeface="Helvetica Neue"/>
              </a:rPr>
              <a:t>GTFS schedule</a:t>
            </a:r>
            <a:r>
              <a:rPr sz="2000" b="0">
                <a:solidFill>
                  <a:srgbClr val="5B676A"/>
                </a:solidFill>
                <a:latin typeface="Helvetica Neue"/>
              </a:rPr>
              <a:t> → </a:t>
            </a:r>
            <a:r>
              <a:rPr sz="2000" b="1">
                <a:solidFill>
                  <a:srgbClr val="227C9D"/>
                </a:solidFill>
                <a:latin typeface="Helvetica Neue"/>
              </a:rPr>
              <a:t>r5r</a:t>
            </a:r>
            <a:r>
              <a:rPr sz="2000" b="0">
                <a:solidFill>
                  <a:srgbClr val="5B676A"/>
                </a:solidFill>
                <a:latin typeface="Helvetica Neue"/>
              </a:rPr>
              <a:t> → </a:t>
            </a:r>
            <a:r>
              <a:rPr sz="2000" b="1">
                <a:solidFill>
                  <a:srgbClr val="227C9D"/>
                </a:solidFill>
                <a:latin typeface="Helvetica Neue"/>
              </a:rPr>
              <a:t>transit access by time of 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3429000"/>
            <a:ext cx="106070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243136"/>
                </a:solidFill>
                <a:latin typeface="Helvetica Neue"/>
              </a:rPr>
              <a:t>The software answers the network query.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243136"/>
                </a:solidFill>
                <a:latin typeface="Helvetica Neue"/>
              </a:rPr>
              <a:t>The analyst defines what counts as an </a:t>
            </a:r>
            <a:r>
              <a:rPr sz="2300" b="1">
                <a:solidFill>
                  <a:srgbClr val="227C9D"/>
                </a:solidFill>
                <a:latin typeface="Helvetica Neue"/>
              </a:rPr>
              <a:t>opportunity</a:t>
            </a:r>
            <a:r>
              <a:rPr sz="2300" b="0">
                <a:solidFill>
                  <a:srgbClr val="243136"/>
                </a:solidFill>
                <a:latin typeface="Helvetica Neue"/>
              </a:rPr>
              <a:t>, a </a:t>
            </a:r>
            <a:r>
              <a:rPr sz="2300" b="1">
                <a:solidFill>
                  <a:srgbClr val="227C9D"/>
                </a:solidFill>
                <a:latin typeface="Helvetica Neue"/>
              </a:rPr>
              <a:t>cost</a:t>
            </a:r>
            <a:r>
              <a:rPr sz="2300" b="0">
                <a:solidFill>
                  <a:srgbClr val="243136"/>
                </a:solidFill>
                <a:latin typeface="Helvetica Neue"/>
              </a:rPr>
              <a:t>, and an acceptable </a:t>
            </a:r>
            <a:r>
              <a:rPr sz="2300" b="1">
                <a:solidFill>
                  <a:srgbClr val="227C9D"/>
                </a:solidFill>
                <a:latin typeface="Helvetica Neue"/>
              </a:rPr>
              <a:t>threshold</a:t>
            </a:r>
            <a:r>
              <a:rPr sz="2300" b="0">
                <a:solidFill>
                  <a:srgbClr val="243136"/>
                </a:solidFill>
                <a:latin typeface="Helvetica Neue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94592" y="6515100"/>
            <a:ext cx="47548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B676A"/>
                </a:solidFill>
                <a:latin typeface="Helvetica Neue"/>
              </a:rPr>
              <a:t>41</a:t>
            </a:r>
          </a:p>
        </p:txBody>
      </p:sp>
    </p:spTree>
    <p:extLst>
      <p:ext uri="{BB962C8B-B14F-4D97-AF65-F5344CB8AC3E}">
        <p14:creationId xmlns:p14="http://schemas.microsoft.com/office/powerpoint/2010/main" val="963554197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9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10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1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1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1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1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1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16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4648</Words>
  <Application>Microsoft Macintosh PowerPoint</Application>
  <DocSecurity>0</DocSecurity>
  <PresentationFormat>Widescreen</PresentationFormat>
  <Paragraphs>558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15</vt:i4>
      </vt:variant>
      <vt:variant>
        <vt:lpstr>Slide Titles</vt:lpstr>
      </vt:variant>
      <vt:variant>
        <vt:i4>39</vt:i4>
      </vt:variant>
    </vt:vector>
  </HeadingPairs>
  <TitlesOfParts>
    <vt:vector size="58" baseType="lpstr">
      <vt:lpstr>Arial</vt:lpstr>
      <vt:lpstr>Calibri</vt:lpstr>
      <vt:lpstr>Helvetica Neue</vt:lpstr>
      <vt:lpstr>Menlo</vt:lpstr>
      <vt:lpstr>ChatGPT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Yang, Zhanchao</cp:lastModifiedBy>
  <cp:revision>10</cp:revision>
  <dcterms:created xsi:type="dcterms:W3CDTF">2026-09-27T01:31:48Z</dcterms:created>
  <dcterms:modified xsi:type="dcterms:W3CDTF">2026-10-08T00:55:04Z</dcterms:modified>
</cp:coreProperties>
</file>