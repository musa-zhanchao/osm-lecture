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3" r:id="rId4"/>
    <p:sldMasterId id="2147483654" r:id="rId5"/>
    <p:sldMasterId id="2147483655" r:id="rId6"/>
    <p:sldMasterId id="2147483656" r:id="rId7"/>
    <p:sldMasterId id="2147483657" r:id="rId8"/>
    <p:sldMasterId id="2147483658" r:id="rId9"/>
    <p:sldMasterId id="2147483659" r:id="rId10"/>
    <p:sldMasterId id="2147483660" r:id="rId11"/>
    <p:sldMasterId id="2147483661" r:id="rId12"/>
    <p:sldMasterId id="2147483662" r:id="rId13"/>
    <p:sldMasterId id="2147483663" r:id="rId14"/>
    <p:sldMasterId id="2147483664" r:id="rId15"/>
  </p:sldMasterIdLst>
  <p:notesMasterIdLst>
    <p:notesMasterId r:id="rId55"/>
  </p:notesMasterIdLst>
  <p:sldIdLst>
    <p:sldId id="256" r:id="rId16"/>
    <p:sldId id="257" r:id="rId17"/>
    <p:sldId id="258" r:id="rId18"/>
    <p:sldId id="259" r:id="rId19"/>
    <p:sldId id="260" r:id="rId20"/>
    <p:sldId id="261" r:id="rId21"/>
    <p:sldId id="262" r:id="rId22"/>
    <p:sldId id="263" r:id="rId23"/>
    <p:sldId id="264" r:id="rId24"/>
    <p:sldId id="265" r:id="rId25"/>
    <p:sldId id="266" r:id="rId26"/>
    <p:sldId id="267" r:id="rId27"/>
    <p:sldId id="268" r:id="rId28"/>
    <p:sldId id="269" r:id="rId29"/>
    <p:sldId id="270" r:id="rId30"/>
    <p:sldId id="271" r:id="rId31"/>
    <p:sldId id="272" r:id="rId32"/>
    <p:sldId id="273" r:id="rId33"/>
    <p:sldId id="274" r:id="rId34"/>
    <p:sldId id="275" r:id="rId35"/>
    <p:sldId id="276" r:id="rId36"/>
    <p:sldId id="277" r:id="rId37"/>
    <p:sldId id="280" r:id="rId38"/>
    <p:sldId id="1001" r:id="rId39"/>
    <p:sldId id="1002" r:id="rId40"/>
    <p:sldId id="1003" r:id="rId41"/>
    <p:sldId id="1004" r:id="rId42"/>
    <p:sldId id="1005" r:id="rId43"/>
    <p:sldId id="1006" r:id="rId44"/>
    <p:sldId id="1015" r:id="rId45"/>
    <p:sldId id="1016" r:id="rId46"/>
    <p:sldId id="1017" r:id="rId47"/>
    <p:sldId id="1018" r:id="rId48"/>
    <p:sldId id="1007" r:id="rId49"/>
    <p:sldId id="1008" r:id="rId50"/>
    <p:sldId id="1011" r:id="rId51"/>
    <p:sldId id="1012" r:id="rId52"/>
    <p:sldId id="1013" r:id="rId53"/>
    <p:sldId id="1014"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4647"/>
  </p:normalViewPr>
  <p:slideViewPr>
    <p:cSldViewPr snapToGrid="0">
      <p:cViewPr varScale="1">
        <p:scale>
          <a:sx n="105" d="100"/>
          <a:sy n="105" d="100"/>
        </p:scale>
        <p:origin x="138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 Target="slides/slide3.xml"/><Relationship Id="rId26" Type="http://schemas.openxmlformats.org/officeDocument/2006/relationships/slide" Target="slides/slide11.xml"/><Relationship Id="rId39" Type="http://schemas.openxmlformats.org/officeDocument/2006/relationships/slide" Target="slides/slide24.xml"/><Relationship Id="rId21" Type="http://schemas.openxmlformats.org/officeDocument/2006/relationships/slide" Target="slides/slide6.xml"/><Relationship Id="rId34" Type="http://schemas.openxmlformats.org/officeDocument/2006/relationships/slide" Target="slides/slide19.xml"/><Relationship Id="rId42" Type="http://schemas.openxmlformats.org/officeDocument/2006/relationships/slide" Target="slides/slide27.xml"/><Relationship Id="rId47" Type="http://schemas.openxmlformats.org/officeDocument/2006/relationships/slide" Target="slides/slide32.xml"/><Relationship Id="rId50" Type="http://schemas.openxmlformats.org/officeDocument/2006/relationships/slide" Target="slides/slide35.xml"/><Relationship Id="rId55" Type="http://schemas.openxmlformats.org/officeDocument/2006/relationships/notesMaster" Target="notesMasters/notesMaster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1.xml"/><Relationship Id="rId29" Type="http://schemas.openxmlformats.org/officeDocument/2006/relationships/slide" Target="slides/slide14.xml"/><Relationship Id="rId11" Type="http://schemas.openxmlformats.org/officeDocument/2006/relationships/slideMaster" Target="slideMasters/slideMaster11.xml"/><Relationship Id="rId24" Type="http://schemas.openxmlformats.org/officeDocument/2006/relationships/slide" Target="slides/slide9.xml"/><Relationship Id="rId32" Type="http://schemas.openxmlformats.org/officeDocument/2006/relationships/slide" Target="slides/slide17.xml"/><Relationship Id="rId37" Type="http://schemas.openxmlformats.org/officeDocument/2006/relationships/slide" Target="slides/slide22.xml"/><Relationship Id="rId40" Type="http://schemas.openxmlformats.org/officeDocument/2006/relationships/slide" Target="slides/slide25.xml"/><Relationship Id="rId45" Type="http://schemas.openxmlformats.org/officeDocument/2006/relationships/slide" Target="slides/slide30.xml"/><Relationship Id="rId53" Type="http://schemas.openxmlformats.org/officeDocument/2006/relationships/slide" Target="slides/slide38.xml"/><Relationship Id="rId58" Type="http://schemas.openxmlformats.org/officeDocument/2006/relationships/theme" Target="theme/theme1.xml"/><Relationship Id="rId5" Type="http://schemas.openxmlformats.org/officeDocument/2006/relationships/slideMaster" Target="slideMasters/slideMaster5.xml"/><Relationship Id="rId19" Type="http://schemas.openxmlformats.org/officeDocument/2006/relationships/slide" Target="slides/slide4.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7.xml"/><Relationship Id="rId27" Type="http://schemas.openxmlformats.org/officeDocument/2006/relationships/slide" Target="slides/slide12.xml"/><Relationship Id="rId30" Type="http://schemas.openxmlformats.org/officeDocument/2006/relationships/slide" Target="slides/slide15.xml"/><Relationship Id="rId35" Type="http://schemas.openxmlformats.org/officeDocument/2006/relationships/slide" Target="slides/slide20.xml"/><Relationship Id="rId43" Type="http://schemas.openxmlformats.org/officeDocument/2006/relationships/slide" Target="slides/slide28.xml"/><Relationship Id="rId48" Type="http://schemas.openxmlformats.org/officeDocument/2006/relationships/slide" Target="slides/slide33.xml"/><Relationship Id="rId56" Type="http://schemas.openxmlformats.org/officeDocument/2006/relationships/presProps" Target="presProps.xml"/><Relationship Id="rId8" Type="http://schemas.openxmlformats.org/officeDocument/2006/relationships/slideMaster" Target="slideMasters/slideMaster8.xml"/><Relationship Id="rId51" Type="http://schemas.openxmlformats.org/officeDocument/2006/relationships/slide" Target="slides/slide36.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 Target="slides/slide2.xml"/><Relationship Id="rId25" Type="http://schemas.openxmlformats.org/officeDocument/2006/relationships/slide" Target="slides/slide10.xml"/><Relationship Id="rId33" Type="http://schemas.openxmlformats.org/officeDocument/2006/relationships/slide" Target="slides/slide18.xml"/><Relationship Id="rId38" Type="http://schemas.openxmlformats.org/officeDocument/2006/relationships/slide" Target="slides/slide23.xml"/><Relationship Id="rId46" Type="http://schemas.openxmlformats.org/officeDocument/2006/relationships/slide" Target="slides/slide31.xml"/><Relationship Id="rId59" Type="http://schemas.openxmlformats.org/officeDocument/2006/relationships/tableStyles" Target="tableStyles.xml"/><Relationship Id="rId20" Type="http://schemas.openxmlformats.org/officeDocument/2006/relationships/slide" Target="slides/slide5.xml"/><Relationship Id="rId41" Type="http://schemas.openxmlformats.org/officeDocument/2006/relationships/slide" Target="slides/slide26.xml"/><Relationship Id="rId54"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 Target="slides/slide8.xml"/><Relationship Id="rId28" Type="http://schemas.openxmlformats.org/officeDocument/2006/relationships/slide" Target="slides/slide13.xml"/><Relationship Id="rId36" Type="http://schemas.openxmlformats.org/officeDocument/2006/relationships/slide" Target="slides/slide21.xml"/><Relationship Id="rId49" Type="http://schemas.openxmlformats.org/officeDocument/2006/relationships/slide" Target="slides/slide34.xml"/><Relationship Id="rId57" Type="http://schemas.openxmlformats.org/officeDocument/2006/relationships/viewProps" Target="viewProps.xml"/><Relationship Id="rId10" Type="http://schemas.openxmlformats.org/officeDocument/2006/relationships/slideMaster" Target="slideMasters/slideMaster10.xml"/><Relationship Id="rId31" Type="http://schemas.openxmlformats.org/officeDocument/2006/relationships/slide" Target="slides/slide16.xml"/><Relationship Id="rId44" Type="http://schemas.openxmlformats.org/officeDocument/2006/relationships/slide" Target="slides/slide29.xml"/><Relationship Id="rId52"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时间：0–2</a:t>
            </a:r>
          </a:p>
          <a:p>
            <a:endParaRPr/>
          </a:p>
          <a:p>
            <a:r>
              <a:t>先说今天先认识地图数据，再写几行 Python。不要先抛出完整可达性模型。今天所有例子都回到熟悉的 University City。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时间：2–5</a:t>
            </a:r>
          </a:p>
          <a:p>
            <a:endParaRPr/>
          </a:p>
          <a:p>
            <a:r>
              <a:t>请学生指出三个熟悉对象。先观察，不解释 graph。邀请他们说说平时用地图时，哪些东西会被忽略。地图来源：https://www.openstreetmap.org/#map=16/39.9520/-75.1910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时间：5–8</a:t>
            </a:r>
          </a:p>
          <a:p>
            <a:endParaRPr/>
          </a:p>
          <a:p>
            <a:r>
              <a:t>介绍 OSM：开放的地理数据库，可以编辑、下载和重新使用。网页底图是这些数据的一种显示方式。可用 Wikipedia 作协作模式类比，但不把它说成完全相同的治理机制。来源：https://www.openstreetmap.org/about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时间：8–11</a:t>
            </a:r>
          </a:p>
          <a:p>
            <a:endParaRPr/>
          </a:p>
          <a:p>
            <a:r>
              <a:t>用站点 history 讲人如何维护数据。截图显示真实对象的编辑版本。不要讲抽象 VGI 定义一整页。问：一个刚开业的咖啡馆会立即出现在地图上吗？来源：https://www.openstreetmap.org/node/4179747391/history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时间：11–13</a:t>
            </a:r>
          </a:p>
          <a:p>
            <a:endParaRPr/>
          </a:p>
          <a:p>
            <a:r>
              <a:t>这页只给三个词，然后用接下来的真实对象逐个展开。强调 way 是节点序列，闭合 way 是否表示面积取决于 tags。来源：https://wiki.openstreetmap.org/wiki/Elements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时间：13–16</a:t>
            </a:r>
          </a:p>
          <a:p>
            <a:endParaRPr/>
          </a:p>
          <a:p>
            <a:r>
              <a:t>让学生找 name 和 network。OSM node 不等于 graph intersection：站点也是 node，但不一定是街道交叉口。网页来源：https://www.openstreetmap.org/node/4179747391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时间：16–19</a:t>
            </a:r>
          </a:p>
          <a:p>
            <a:endParaRPr/>
          </a:p>
          <a:p>
            <a:r>
              <a:t>请学生找 highway=pedestrian 和 motor_vehicle=no。让这个例子为后面的 walk / drive 比较埋伏笔。来源：https://www.openstreetmap.org/way/32108143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时间：19–21</a:t>
            </a:r>
          </a:p>
          <a:p>
            <a:endParaRPr dirty="0"/>
          </a:p>
          <a:p>
            <a:r>
              <a:rPr dirty="0"/>
              <a:t>relation </a:t>
            </a:r>
            <a:r>
              <a:rPr dirty="0" err="1"/>
              <a:t>讲到理解即可，不进入原始</a:t>
            </a:r>
            <a:r>
              <a:rPr dirty="0"/>
              <a:t> XML </a:t>
            </a:r>
            <a:r>
              <a:rPr dirty="0" err="1"/>
              <a:t>和</a:t>
            </a:r>
            <a:r>
              <a:rPr dirty="0"/>
              <a:t> Overpass </a:t>
            </a:r>
            <a:r>
              <a:rPr dirty="0" err="1"/>
              <a:t>syntax。举公交路线由多段街道和站点组成的例子，不宣称本课程后面会写</a:t>
            </a:r>
            <a:r>
              <a:rPr dirty="0"/>
              <a:t> relation </a:t>
            </a:r>
            <a:r>
              <a:rPr dirty="0" err="1"/>
              <a:t>解析。来源：https</a:t>
            </a:r>
            <a:r>
              <a:rPr dirty="0"/>
              <a:t>://</a:t>
            </a:r>
            <a:r>
              <a:rPr dirty="0" err="1"/>
              <a:t>wiki.openstreetmap.org</a:t>
            </a:r>
            <a:r>
              <a:rPr dirty="0"/>
              <a:t>/wiki/Elements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时间：21–23</a:t>
            </a:r>
          </a:p>
          <a:p>
            <a:endParaRPr/>
          </a:p>
          <a:p>
            <a:r>
              <a:t>这是 Locust Walk 真实对象的四个标签。提问：哪一个标签最能解释为什么这里可以走路、通常不能开车？答 highway 和 motor_vehicle。来源：https://www.openstreetmap.org/way/32108143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时间：23–26</a:t>
            </a:r>
          </a:p>
          <a:p>
            <a:r>
              <a:rPr dirty="0"/>
              <a:t>https://</a:t>
            </a:r>
            <a:r>
              <a:rPr dirty="0" err="1"/>
              <a:t>www.openstreetmap.org</a:t>
            </a:r>
            <a:r>
              <a:rPr dirty="0"/>
              <a:t>/about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https://</a:t>
            </a:r>
            <a:r>
              <a:rPr dirty="0" err="1"/>
              <a:t>xiaojianggis.github.io</a:t>
            </a:r>
            <a:r>
              <a:rPr dirty="0"/>
              <a:t>/MUSA-5500-Geospatial-Data-Science-Python/labs/week-8-network-analysis/week-8A-street-network.html ; https://</a:t>
            </a:r>
            <a:r>
              <a:rPr dirty="0" err="1"/>
              <a:t>osmnx.readthedocs.io</a:t>
            </a:r>
            <a:r>
              <a:rPr dirty="0"/>
              <a:t>/</a:t>
            </a:r>
            <a:r>
              <a:rPr dirty="0" err="1"/>
              <a:t>en</a:t>
            </a:r>
            <a:r>
              <a:rPr dirty="0"/>
              <a:t>/stable/user-</a:t>
            </a:r>
            <a:r>
              <a:rPr dirty="0" err="1"/>
              <a:t>reference.html</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时间：29–30</a:t>
            </a:r>
          </a:p>
          <a:p>
            <a:endParaRPr/>
          </a:p>
          <a:p>
            <a:r>
              <a:t>打开 01_OSM_Step_by_Step.ipynb，§1。完整 imports 在 notebook。cache 设置只是让已有下载可以重复使用，课堂不展开。原 tutorial 同样使用 import osmnx as ox。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时间：30–35</a:t>
            </a:r>
          </a:p>
          <a:p>
            <a:endParaRPr/>
          </a:p>
          <a:p>
            <a:r>
              <a:t>学生运行 §2。先看输出 GeoDataFrame，再看边界。问函数返回的是地图图片还是可以继续分析的数据？答 GeoDataFrame。若下载有问题，打开离线备用版相同位置。来源：https://osmnx.readthedocs.io/en/stable/user-reference.html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时间：35–38</a:t>
            </a:r>
          </a:p>
          <a:p>
            <a:endParaRPr/>
          </a:p>
          <a:p>
            <a:r>
              <a:t>这页不展开投影理论。让学生读 CRS，再说后面800m圆圈为什么不能直接用经纬度做。图是相同边界的投影结果，可作为重复教学比较。来源：https://osmnx.readthedocs.io/en/stable/user-reference.html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时间：38–44</a:t>
            </a:r>
          </a:p>
          <a:p>
            <a:endParaRPr/>
          </a:p>
          <a:p>
            <a:r>
              <a:t>先让学生猜数量，再运行。point query 的 center 顺序是纬度、经度。图是本地 OSM cafe features，点/面均可能。地图数据：© OpenStreetMap contributors，ODbL 1.0。https://www.openstreetmap.org/copyright 。新版 notebook 同一份数据，2026-09-27 UTC 下载。</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时间：44–47</a:t>
            </a:r>
          </a:p>
          <a:p>
            <a:endParaRPr/>
          </a:p>
          <a:p>
            <a:r>
              <a:t>在 notebook 的输出表停下来，读一行。name 可以缺失。25 条 cafe features 不一定等于25家经过验证的独立商户。不要展开去重 pipeline。来源：https://osmnx.readthedocs.io/en/stable/user-reference.html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时间：47–50</a:t>
            </a:r>
          </a:p>
          <a:p>
            <a:endParaRPr/>
          </a:p>
          <a:p>
            <a:r>
              <a:t>让学生先口头回答 restaurant。有网且时间允许再实际修改查询，保留原咖啡馆 cell 可重新运行。若担心服务器等待，只改写代码并解释预期输出。这个活动是1行变化。</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时间：50–56</a:t>
            </a:r>
          </a:p>
          <a:p>
            <a:endParaRPr/>
          </a:p>
          <a:p>
            <a:r>
              <a:t>解释为什么只画点不够回答怎么走。运行后先读形状，不急着定义 MultiDiGraph。下载大于之后分析的区域，给路线留余地。默认保留最大弱连通分量，这意味着本例不评估所有孤立点。地图数据：© OpenStreetMap contributors，ODbL 1.0。https://www.openstreetmap.org/copyright 。新版 notebook 同一份数据，2026-09-27 UTC 下载。</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时间：56–61</a:t>
            </a:r>
          </a:p>
          <a:p>
            <a:endParaRPr/>
          </a:p>
          <a:p>
            <a:r>
              <a:t>先显示左图，让学生预想步行图会多什么，再对比。相同 center、相同600m范围，唯一区别 network_type。回想 Locust Walk 的标签。Notebook §4。地图数据：© OpenStreetMap contributors，ODbL 1.0。https://www.openstreetmap.org/copyright 。新版 notebook 同一份数据，2026-09-27 UTC 下载。</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时间：61–66</a:t>
            </a:r>
          </a:p>
          <a:p>
            <a:endParaRPr/>
          </a:p>
          <a:p>
            <a:r>
              <a:t>两图来自同一份600m步行下载，同一缩放范围。解释形状点和连接点，弯道不必变成交叉口。接着运行 type(G) 和 len(G.nodes), len(G.edges)，一句话解释有向、允许平行边。不要要求学生掌握内部类。地图数据：© OpenStreetMap contributors，ODbL 1.0。https://www.openstreetmap.org/copyright 。新版 notebook 同一份数据，2026-09-27 UTC 下载。</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时间：66–71</a:t>
            </a:r>
          </a:p>
          <a:p>
            <a:endParaRPr/>
          </a:p>
          <a:p>
            <a:r>
              <a:t>Notebook §5，逐格看 node表、edge表。length单位米。edge索引(u,v,key)点到为止。展示 edges.plot，让学生认出这就是刚才路网的另一种视图。来源：https://osmnx.readthedocs.io/en/stable/user-reference.html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时间：71–79</a:t>
            </a:r>
          </a:p>
          <a:p>
            <a:endParaRPr/>
          </a:p>
          <a:p>
            <a:r>
              <a:t>先运行 origin 和 station_node 两行。注意 nearest_nodes 的 X是经度，Y是纬度，和 center 的tuple顺序不同。route[:5]说明路径是ID列表，再plot_graph_route。截图代码是后半段摘录，station_node 在notebook前一格定义。地图数据：© OpenStreetMap contributors，ODbL 1.0。https://www.openstreetmap.org/copyright 。新版 notebook 同一份数据，2026-09-27 UTC 下载。</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时间：90–100</a:t>
            </a:r>
          </a:p>
          <a:p>
            <a:endParaRPr/>
          </a:p>
          <a:p>
            <a:r>
              <a:t>休息10分钟，保持notebook运行状态。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Part II, slide 1: 3 minutes.</a:t>
            </a:r>
          </a:p>
          <a:p>
            <a:r>
              <a:t>Full lecture timing: Part I 90 minutes, existing break 10 minutes, Part II 80 minutes = 180. Retain the original front half. Ask students to recall the origin, destination and length weight. New goal: compute a comparable measure for all origins.</a:t>
            </a:r>
          </a:p>
          <a:p>
            <a:r>
              <a:t>Sources: https://udst.github.io/pandana/network.html ; https://udst.github.io/pandana/tutorial.html ; https://osmnx.readthedocs.io/en/stable/user-reference.html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Part II, slide 2: 5 minutes.</a:t>
            </a:r>
          </a:p>
          <a:p>
            <a:r>
              <a:t>5 min: Have students name a nearby place that is difficult to reach. Define proximity as straight-line separation; accessibility as reachable opportunities under a specified network, mode and budget. Transit entrance access does not measure train frequency or access to jobs via transit.</a:t>
            </a:r>
          </a:p>
          <a:p>
            <a:r>
              <a:t>Sources: https://udst.github.io/pandana/network.html ; https://udst.github.io/pandana/tutorial.html ; https://osmnx.readthedocs.io/en/stable/user-reference.html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Part II, slide 3: 5 minutes.</a:t>
            </a:r>
          </a:p>
          <a:p>
            <a:r>
              <a:t>5 min: Draw a circle around the same network node used for the route. A flat 80 m/min walking speed gives an 800 m budget. In the same metric CRS, compare identical endpoints. Ask what happens at 60 m/min: threshold becomes 600 m. No crossing delay, slope or access restrictions beyond the graph are modeled.</a:t>
            </a:r>
          </a:p>
          <a:p>
            <a:r>
              <a:t>Sources: https://udst.github.io/pandana/network.html ; https://udst.github.io/pandana/tutorial.html ; https://osmnx.readthedocs.io/en/stable/user-reference.html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Part II, slide 4: 4 minutes.</a:t>
            </a:r>
          </a:p>
          <a:p>
            <a:r>
              <a:t>4 min: The quantities are an illustrative workload, not a benchmark or actual Philadelphia counts. Pandana supports efficient repeated network queries, nearest POIs and aggregations. It also supports shortest paths; avoid presenting an exclusive division of tool capabilities.</a:t>
            </a:r>
          </a:p>
          <a:p>
            <a:r>
              <a:t>Sources: https://udst.github.io/pandana/network.html ; https://udst.github.io/pandana/tutorial.html ; https://osmnx.readthedocs.io/en/stable/user-reference.html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Part II, slide 5: 4 minutes.</a:t>
            </a:r>
          </a:p>
          <a:p>
            <a:r>
              <a:t>4 min: Discuss roles, not mutually exclusive features. Both can route. OSMnx obtains and prepares OSM street graphs and geometry; Pandana consumes node/edge tables for repeated queries. Geometry remains in GeoPandas for mapping.</a:t>
            </a:r>
          </a:p>
          <a:p>
            <a:r>
              <a:t>Sources: https://udst.github.io/pandana/network.html ; https://udst.github.io/pandana/tutorial.html ; https://osmnx.readthedocs.io/en/stable/user-reference.html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Part II, slide 6: 6 minutes.</a:t>
            </a:r>
          </a:p>
          <a:p>
            <a:r>
              <a:t>6 min live demo (Week 8 tutorial). Walk through the conversion one input at a time.</a:t>
            </a:r>
          </a:p>
          <a:p>
            <a:r>
              <a:t>- nodes.x, nodes.y: coordinates of every intersection/dead end, in the projected CRS (EPSG:32618, meters).</a:t>
            </a:r>
          </a:p>
          <a:p>
            <a:r>
              <a:t>- e.u, e.v: the from-node and to-node of each edge. This is the connectivity.</a:t>
            </a:r>
          </a:p>
          <a:p>
            <a:r>
              <a:t>- e[["length"]]: the impedance. Pandana will add these up along shortest paths, so the units here (meters) become the units of every answer later.</a:t>
            </a:r>
          </a:p>
          <a:p>
            <a:r>
              <a:t>- twoway=False: the OSMnx walk graph already stores both directions as separate edges, so we tell Pandana not to duplicate them.</a:t>
            </a:r>
          </a:p>
          <a:p>
            <a:r>
              <a:t>Preparation: nodes, edges = ox.graph_to_gdfs(G_m); e = edges.reset_index().sort_values("length").drop_duplicates(["u", "v"]) to keep the shortest parallel edge. Preserve integer node IDs.</a:t>
            </a:r>
          </a:p>
          <a:p>
            <a:r>
              <a:t>Key point: nothing about the streets changes. Pandana just stores the same network in a structure (contraction hierarchies) built for many repeated queries. Check: one OSMnx route length from Part I should match Pandana's shortest-path length.</a:t>
            </a:r>
          </a:p>
          <a:p>
            <a:r>
              <a:t>Sources: https://udst.github.io/pandana/network.html ; https://udst.github.io/pandana/tutorial.html ; https://osmnx.readthedocs.io/en/stable/user-reference.html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 II, slide 7: 6 minutes.</a:t>
            </a:r>
          </a:p>
          <a:p>
            <a:r>
              <a:t>6 min (Week 8 tutorial). Use a generic example: cafés or restaurants pulled with ox.features_from_place(..., tags={"amenity": "cafe"}), projected to nodes.crs, polygons reduced to points.</a:t>
            </a:r>
          </a:p>
          <a:p>
            <a:r>
              <a:t>Explain the logic: a POI is only an (x, y) location. Pandana does not measure distance through space; it measures along edges between nodes. So every place has to be given a node ID first.</a:t>
            </a:r>
          </a:p>
          <a:p>
            <a:r>
              <a:t>get_node_ids returns, for each point, the ID of the closest network node. Show the result as a column (places["node_id"] = node_ids) and plot a few snap lines.</a:t>
            </a:r>
          </a:p>
          <a:p>
            <a:r>
              <a:t>Caveats to mention briefly: this is a nearest-node approximation. The short connector from the place to the node is not counted, and the nearest node in space may be across a highway or river. Optional mapping_distance drops places too far from any node.</a:t>
            </a:r>
          </a:p>
          <a:p>
            <a:r>
              <a:t>Note: set_pois (next slide) does this mapping internally. We call get_node_ids here to see and check the mapping ourselves.</a:t>
            </a:r>
          </a:p>
          <a:p>
            <a:r>
              <a:t>Sources: https://udst.github.io/pandana/network.html ; https://udst.github.io/pandana/tutorial.html ; https://osmnx.readthedocs.io/en/stable/user-reference.html</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 II, slide 8: 6 minutes.</a:t>
            </a:r>
          </a:p>
          <a:p>
            <a:r>
              <a:t>6 min live demo (Week 8 tutorial). set_pois registers a named category of destinations on the network.</a:t>
            </a:r>
          </a:p>
          <a:p>
            <a:r>
              <a:t>- category: the name we will use to ask about these places later.</a:t>
            </a:r>
          </a:p>
          <a:p>
            <a:r>
              <a:t>- maxdist: the farthest search distance we will ever ask for (same units as the impedance, meters). Later queries must not exceed it.</a:t>
            </a:r>
          </a:p>
          <a:p>
            <a:r>
              <a:t>- maxitems: the largest number of nearest places we will ever ask for. Later num_pois must not exceed it.</a:t>
            </a:r>
          </a:p>
          <a:p>
            <a:r>
              <a:t>- x_col, y_col: the café coordinates. Pandana snaps each to its nearest node (the same mapping as get_node_ids).</a:t>
            </a:r>
          </a:p>
          <a:p>
            <a:r>
              <a:t>Conceptually: after this line the network "knows" where cafés are, so it can search outward from every node at once. Nothing has been calculated yet.</a:t>
            </a:r>
          </a:p>
          <a:p>
            <a:r>
              <a:t>Ask: if we want the three nearest cafés within 1.5 km, what must change here? (maxdist &gt;= 1500, maxitems &gt;= 3.)</a:t>
            </a:r>
          </a:p>
          <a:p>
            <a:r>
              <a:t>Sources: https://udst.github.io/pandana/network.html ; https://udst.github.io/pandana/tutorial.html ; https://osmnx.readthedocs.io/en/stable/user-reference.html</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 II, slide 9: 7 minutes.</a:t>
            </a:r>
          </a:p>
          <a:p>
            <a:r>
              <a:t>7 min live demo (Week 8 tutorial). nearest_pois asks, from every node at once: how far along the network are the nearest 1, 2, 3 cafés?</a:t>
            </a:r>
          </a:p>
          <a:p>
            <a:r>
              <a:t>- Output is a DataFrame indexed by node ID, with columns 1, 2, 3 (nearest, 2nd, 3rd). The table here is illustrative, not Philadelphia output.</a:t>
            </a:r>
          </a:p>
          <a:p>
            <a:r>
              <a:t>- It returns distances, not route lines. If you need the geometry of one route, go back to OSMnx.</a:t>
            </a:r>
          </a:p>
          <a:p>
            <a:r>
              <a:t>- If fewer than num_pois cafés are found within distance, Pandana fills the value with the search distance (1000). Use max_distance=1001 (or similar) to make "not found" distinguishable from exactly 1000 m.</a:t>
            </a:r>
          </a:p>
          <a:p>
            <a:r>
              <a:t>- distance must be &lt;= maxdist and num_pois &lt;= maxitems from set_pois.</a:t>
            </a:r>
          </a:p>
          <a:p>
            <a:r>
              <a:t>Join back to nodes by node ID and map column 1: each node gets a value. Ask: what does the 3rd-nearest distance tell us that the nearest does not? (choice / redundancy.)</a:t>
            </a:r>
          </a:p>
          <a:p>
            <a:r>
              <a:t>Sources: https://udst.github.io/pandana/network.html ; https://udst.github.io/pandana/tutorial.html ; https://osmnx.readthedocs.io/en/stable/user-reference.html</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 II, slide 10: 5 minutes.</a:t>
            </a:r>
          </a:p>
          <a:p>
            <a:r>
              <a:t>5 min. Only now bring in the planning interpretation. The same nearest_pois output answers different planning questions:</a:t>
            </a:r>
          </a:p>
          <a:p>
            <a:r>
              <a:t>- Nearest: column 1 of nearest_pois for grocery stores.</a:t>
            </a:r>
          </a:p>
          <a:p>
            <a:r>
              <a:t>- Count: how many parks within 800 m. (In code this is net.aggregate or counting non-missing columns; mention only.)</a:t>
            </a:r>
          </a:p>
          <a:p>
            <a:r>
              <a:t>- Gaps: which nodes have no rapid-transit entrance within the budget.</a:t>
            </a:r>
          </a:p>
          <a:p>
            <a:r>
              <a:t>The threshold: pick a budget C (here 10 min × 80 m/min = 800 m). A node is accessible if its network distance is at most C. A and B are in; X at 950 m is out. In code: accessible = nearest[1] &lt;= 800.</a:t>
            </a:r>
          </a:p>
          <a:p>
            <a:r>
              <a:t>Keep the formula as notation, not the point. The choice of C is an analyst's assumption; changing it changes the map.</a:t>
            </a:r>
          </a:p>
          <a:p>
            <a:r>
              <a:t>Sources: https://udst.github.io/pandana/network.html ; https://udst.github.io/pandana/tutorial.html ; https://osmnx.readthedocs.io/en/stable/user-reference.html</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Part II, slide 11: 4 minutes.</a:t>
            </a:r>
          </a:p>
          <a:p>
            <a:r>
              <a:t>4 min. Now the workflow is in place, apply it to one question. This is an application of the general method, not what Pandana is for.</a:t>
            </a:r>
          </a:p>
          <a:p>
            <a:r>
              <a:t>Setup: origins are street nodes (not people or homes yet); destination is 34th Street from Part I; budget is 10 min at an assumed 80 m/min = 800 m.</a:t>
            </a:r>
          </a:p>
          <a:p>
            <a:r>
              <a:t>Two answers to "within 10 minutes":</a:t>
            </a:r>
          </a:p>
          <a:p>
            <a:r>
              <a:t>- Proximity: straight-line distance &lt;= 800 m (the buffer from earlier).</a:t>
            </a:r>
          </a:p>
          <a:p>
            <a:r>
              <a:t>- Network access: set_pois("stations", ...) then nearest_pois(800, "stations", num_pois=1, max_distance=801); accessible = d &lt;= 800.</a:t>
            </a:r>
          </a:p>
          <a:p>
            <a:r>
              <a:t>Ask students to predict where the two will disagree before showing the map.</a:t>
            </a:r>
          </a:p>
          <a:p>
            <a:r>
              <a:t>To expand later: include every Market–Frankford and Broad Street entrance; state which systems count. Exclude bus, regional rail and trolley unless intentionally in scope.</a:t>
            </a:r>
          </a:p>
          <a:p>
            <a:r>
              <a:t>Sources: https://udst.github.io/pandana/network.html ; https://udst.github.io/pandana/tutorial.html ; https://osmnx.readthedocs.io/en/stable/user-reference.html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Part II, slide 12: 3 minutes.</a:t>
            </a:r>
          </a:p>
          <a:p>
            <a:r>
              <a:t>3 min, one slide only. The same get_node_ids / set_pois step applies to stations, but which point represents a station matters.</a:t>
            </a:r>
          </a:p>
          <a:p>
            <a:r>
              <a:t>A centroid of a large station or a platform in the middle of a street may snap to a node that nobody walks to. Entrances snap to nodes on the actual access streets and usually give shorter, more realistic distances.</a:t>
            </a:r>
          </a:p>
          <a:p>
            <a:r>
              <a:t>For "any entrance" access use all entrances as POIs; for counting stations, deduplicate by station so entrances are not overcounted.</a:t>
            </a:r>
          </a:p>
          <a:p>
            <a:r>
              <a:t>In today's demo we use the snapped node from Part I as the station proxy, so both methods share the same endpoint.</a:t>
            </a:r>
          </a:p>
          <a:p>
            <a:r>
              <a:t>Sources: https://udst.github.io/pandana/network.html ; https://udst.github.io/pandana/tutorial.html ; https://osmnx.readthedocs.io/en/stable/user-reference.html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Part II, slide 13: 6 minutes.</a:t>
            </a:r>
          </a:p>
          <a:p>
            <a:r>
              <a:t>6 min: Reuse the original Philadelphia map as a supplied reference example. This image is from the source lecture, not a new Pandana calculation. Students should reproduce the comparison with the same station endpoints, origins, projection and threshold, first for 34th Street and then for any entrance. For multiple destinations compare unions of circles against minimum network distance. Pandana outputs distances at nodes, not a ready-made isochrone polygon. Avoid filling across rivers or disconnected streets.</a:t>
            </a:r>
          </a:p>
          <a:p>
            <a:r>
              <a:t>Sources: https://udst.github.io/pandana/network.html ; https://udst.github.io/pandana/tutorial.html ; https://osmnx.readthedocs.io/en/stable/user-reference.html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Part II, slide 14: 6 minutes.</a:t>
            </a:r>
          </a:p>
          <a:p>
            <a:r>
              <a:t>6 min activity: Compare the same set of origin coordinates against the same destination endpoints and distance budget. In a consistent metric network, straight-line distance is a lower bound on path length; network yes / Euclidean no should trigger a check of snapping, endpoints, projection, edge lengths and threshold units. An orange origin may reflect a legitimate detour or a data problem; route one example to investigate. Do not infer population from node counts.</a:t>
            </a:r>
          </a:p>
          <a:p>
            <a:r>
              <a:t>Sources: https://udst.github.io/pandana/network.html ; https://udst.github.io/pandana/tutorial.html ; https://osmnx.readthedocs.io/en/stable/user-reference.html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Part II, slide 15: 6 minutes.</a:t>
            </a:r>
          </a:p>
          <a:p>
            <a:r>
              <a:t>6 min. The workflow on top is exactly what we ran for cafés and then for the station: build the network, attach destinations, query network cost, summarize.</a:t>
            </a:r>
          </a:p>
          <a:p>
            <a:r>
              <a:t>Transit sits in the row as one destination among five: it is not special.</a:t>
            </a:r>
          </a:p>
          <a:p>
            <a:r>
              <a:t>Ask groups to choose one application and state: the destination definition, the cost, and the threshold.</a:t>
            </a:r>
          </a:p>
          <a:p>
            <a:r>
              <a:t>- Grocery: which stores are usable (full-service vs corner store).</a:t>
            </a:r>
          </a:p>
          <a:p>
            <a:r>
              <a:t>- Parks: public entrances rather than centroids.</a:t>
            </a:r>
          </a:p>
          <a:p>
            <a:r>
              <a:t>- Jobs: sum employment weights at destinations: net.set(node_ids, variable=jobs, name="jobs") then net.aggregate(800, type="sum", decay="flat", name="jobs").</a:t>
            </a:r>
          </a:p>
          <a:p>
            <a:r>
              <a:t>- Healthcare: relevant service and capacity, not any clinic.</a:t>
            </a:r>
          </a:p>
          <a:p>
            <a:r>
              <a:t>- Transit: entrances; walk access does not measure frequency.</a:t>
            </a:r>
          </a:p>
          <a:p>
            <a:r>
              <a:t>Access measures are not utilization or quality. Change speed from 80 to 60 m/min and discuss which conclusions persist.</a:t>
            </a:r>
          </a:p>
          <a:p>
            <a:r>
              <a:t>Sources: https://udst.github.io/pandana/network.html ; https://udst.github.io/pandana/tutorial.html ; https://osmnx.readthedocs.io/en/stable/user-reference.html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Part II, slide 16: 4 minutes.</a:t>
            </a:r>
          </a:p>
          <a:p>
            <a:r>
              <a:t>4 min. Retrace the chain: OSM data -&gt; OSMnx graph (routing, geometry) -&gt; Pandana network (repeated queries) -&gt; opportunities registered with set_pois -&gt; accessibility from nearest_pois plus a threshold.</a:t>
            </a:r>
          </a:p>
          <a:p>
            <a:r>
              <a:t>Close on judgment: Pandana computes distances; it does not decide what counts as a grocery store, whether 800 m is reasonable, or whether length is the right cost.</a:t>
            </a:r>
          </a:p>
          <a:p>
            <a:r>
              <a:t>Exit ticket: state one access finding, one modeling assumption, and one validation step.</a:t>
            </a:r>
          </a:p>
          <a:p>
            <a:r>
              <a:t>Suggested schedule: Part I 90 minutes, break 10 minutes, Part II 80 minutes.</a:t>
            </a:r>
          </a:p>
          <a:p>
            <a:r>
              <a:t>Sources: https://udst.github.io/pandana/network.html ; https://udst.github.io/pandana/tutorial.html ; https://osmnx.readthedocs.io/en/stable/user-reference.html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E1480-2696-BEAF-7506-4C78B5E65A73}"/>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A5D424F6-9081-4230-9001-06A5C16767C9}"/>
              </a:ext>
            </a:extLst>
          </p:cNvPr>
          <p:cNvSpPr>
            <a:spLocks noGrp="1"/>
          </p:cNvSpPr>
          <p:nvPr>
            <p:ph type="body"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1"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1" Type="http://schemas.openxmlformats.org/officeDocument/2006/relationships/theme" Target="../theme/theme10.xml"/></Relationships>
</file>

<file path=ppt/slideMasters/_rels/slideMaster11.xml.rels><?xml version="1.0" encoding="UTF-8" standalone="yes"?>
<Relationships xmlns="http://schemas.openxmlformats.org/package/2006/relationships"><Relationship Id="rId1" Type="http://schemas.openxmlformats.org/officeDocument/2006/relationships/theme" Target="../theme/theme11.xml"/></Relationships>
</file>

<file path=ppt/slideMasters/_rels/slideMaster12.xml.rels><?xml version="1.0" encoding="UTF-8" standalone="yes"?>
<Relationships xmlns="http://schemas.openxmlformats.org/package/2006/relationships"><Relationship Id="rId1"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1" Type="http://schemas.openxmlformats.org/officeDocument/2006/relationships/theme" Target="../theme/theme13.xml"/></Relationships>
</file>

<file path=ppt/slideMasters/_rels/slideMaster14.xml.rels><?xml version="1.0" encoding="UTF-8" standalone="yes"?>
<Relationships xmlns="http://schemas.openxmlformats.org/package/2006/relationships"><Relationship Id="rId1" Type="http://schemas.openxmlformats.org/officeDocument/2006/relationships/theme" Target="../theme/theme14.xml"/></Relationships>
</file>

<file path=ppt/slideMasters/_rels/slideMaster15.xml.rels><?xml version="1.0" encoding="UTF-8" standalone="yes"?>
<Relationships xmlns="http://schemas.openxmlformats.org/package/2006/relationships"><Relationship Id="rId1" Type="http://schemas.openxmlformats.org/officeDocument/2006/relationships/theme" Target="../theme/theme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65"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43136"/>
        </a:soli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srcRect l="26953" r="26953"/>
          <a:stretch>
            <a:fillRect/>
          </a:stretch>
        </p:blipFill>
        <p:spPr>
          <a:xfrm>
            <a:off x="6572250" y="0"/>
            <a:ext cx="5619750" cy="6858000"/>
          </a:xfrm>
          <a:prstGeom prst="rect">
            <a:avLst/>
          </a:prstGeom>
        </p:spPr>
      </p:pic>
      <p:sp>
        <p:nvSpPr>
          <p:cNvPr id="2" name="Rectangle 1">
            <a:extLst>
              <a:ext uri="{FF2B5EF4-FFF2-40B4-BE49-F238E27FC236}">
                <a16:creationId xmlns:a16="http://schemas.microsoft.com/office/drawing/2014/main" id="{67C14225-0911-4383-A0AE-22D26C889B50}"/>
              </a:ext>
            </a:extLst>
          </p:cNvPr>
          <p:cNvSpPr>
            <a:spLocks noGrp="1"/>
          </p:cNvSpPr>
          <p:nvPr/>
        </p:nvSpPr>
        <p:spPr>
          <a:xfrm>
            <a:off x="552450" y="1619250"/>
            <a:ext cx="6000750" cy="2190750"/>
          </a:xfrm>
          <a:prstGeom prst="rect">
            <a:avLst/>
          </a:prstGeom>
          <a:noFill/>
          <a:ln w="0">
            <a:noFill/>
          </a:ln>
        </p:spPr>
        <p:txBody>
          <a:bodyPr>
            <a:noAutofit/>
          </a:bodyPr>
          <a:lstStyle/>
          <a:p>
            <a:pPr>
              <a:defRPr sz="4650" b="1">
                <a:solidFill>
                  <a:srgbClr val="FFFFFF"/>
                </a:solidFill>
                <a:latin typeface="Helvetica Neue"/>
                <a:ea typeface="Helvetica Neue"/>
                <a:cs typeface="Helvetica Neue"/>
              </a:defRPr>
            </a:pPr>
            <a:r>
              <a:rPr sz="4650" b="1">
                <a:solidFill>
                  <a:srgbClr val="FFFFFF"/>
                </a:solidFill>
                <a:latin typeface="Helvetica Neue"/>
                <a:ea typeface="Helvetica Neue"/>
                <a:cs typeface="Helvetica Neue"/>
              </a:rPr>
              <a:t>OpenStreetMap</a:t>
            </a:r>
          </a:p>
          <a:p>
            <a:pPr>
              <a:defRPr sz="4650" b="1">
                <a:solidFill>
                  <a:srgbClr val="FFFFFF"/>
                </a:solidFill>
                <a:latin typeface="Helvetica Neue"/>
                <a:ea typeface="Helvetica Neue"/>
                <a:cs typeface="Helvetica Neue"/>
              </a:defRPr>
            </a:pPr>
            <a:r>
              <a:rPr sz="4650" b="1">
                <a:solidFill>
                  <a:srgbClr val="FFFFFF"/>
                </a:solidFill>
                <a:latin typeface="Helvetica Neue"/>
                <a:ea typeface="Helvetica Neue"/>
                <a:cs typeface="Helvetica Neue"/>
              </a:rPr>
              <a:t>and street networks</a:t>
            </a:r>
          </a:p>
        </p:txBody>
      </p:sp>
      <p:sp>
        <p:nvSpPr>
          <p:cNvPr id="3" name="Rectangle 2">
            <a:extLst>
              <a:ext uri="{FF2B5EF4-FFF2-40B4-BE49-F238E27FC236}">
                <a16:creationId xmlns:a16="http://schemas.microsoft.com/office/drawing/2014/main" id="{FA48F07D-AF9C-4D31-B95B-CB7FBBE6752E}"/>
              </a:ext>
            </a:extLst>
          </p:cNvPr>
          <p:cNvSpPr>
            <a:spLocks noGrp="1"/>
          </p:cNvSpPr>
          <p:nvPr/>
        </p:nvSpPr>
        <p:spPr>
          <a:xfrm>
            <a:off x="552450" y="4310062"/>
            <a:ext cx="5810250" cy="428625"/>
          </a:xfrm>
          <a:prstGeom prst="rect">
            <a:avLst/>
          </a:prstGeom>
          <a:noFill/>
          <a:ln w="0">
            <a:noFill/>
          </a:ln>
        </p:spPr>
        <p:txBody>
          <a:bodyPr>
            <a:noAutofit/>
          </a:bodyPr>
          <a:lstStyle/>
          <a:p>
            <a:pPr>
              <a:defRPr sz="2100" b="0">
                <a:solidFill>
                  <a:srgbClr val="8FD4D9"/>
                </a:solidFill>
                <a:latin typeface="Helvetica Neue"/>
                <a:ea typeface="Helvetica Neue"/>
                <a:cs typeface="Helvetica Neue"/>
              </a:defRPr>
            </a:pPr>
            <a:r>
              <a:rPr sz="2100" b="0" dirty="0">
                <a:solidFill>
                  <a:srgbClr val="8FD4D9"/>
                </a:solidFill>
                <a:latin typeface="Helvetica Neue"/>
                <a:ea typeface="Helvetica Neue"/>
                <a:cs typeface="Helvetica Neue"/>
              </a:rPr>
              <a:t>MUSA-5500 · Week 8</a:t>
            </a:r>
            <a:endParaRPr lang="en-US" sz="2100" b="0" dirty="0">
              <a:solidFill>
                <a:srgbClr val="8FD4D9"/>
              </a:solidFill>
              <a:latin typeface="Helvetica Neue"/>
              <a:ea typeface="Helvetica Neue"/>
              <a:cs typeface="Helvetica Neue"/>
            </a:endParaRPr>
          </a:p>
          <a:p>
            <a:pPr>
              <a:defRPr sz="2100" b="0">
                <a:solidFill>
                  <a:srgbClr val="8FD4D9"/>
                </a:solidFill>
                <a:latin typeface="Helvetica Neue"/>
                <a:ea typeface="Helvetica Neue"/>
                <a:cs typeface="Helvetica Neue"/>
              </a:defRPr>
            </a:pPr>
            <a:r>
              <a:rPr lang="en-US" sz="2100" dirty="0">
                <a:solidFill>
                  <a:srgbClr val="8FD4D9"/>
                </a:solidFill>
                <a:latin typeface="Helvetica Neue"/>
                <a:ea typeface="Helvetica Neue"/>
                <a:cs typeface="Helvetica Neue"/>
              </a:rPr>
              <a:t>Zhanchao</a:t>
            </a:r>
            <a:r>
              <a:rPr lang="zh-CN" altLang="en-US" sz="2100" dirty="0">
                <a:solidFill>
                  <a:srgbClr val="8FD4D9"/>
                </a:solidFill>
                <a:latin typeface="Helvetica Neue"/>
                <a:ea typeface="Helvetica Neue"/>
                <a:cs typeface="Helvetica Neue"/>
              </a:rPr>
              <a:t> </a:t>
            </a:r>
            <a:r>
              <a:rPr lang="en-US" altLang="zh-CN" sz="2100" dirty="0">
                <a:solidFill>
                  <a:srgbClr val="8FD4D9"/>
                </a:solidFill>
                <a:latin typeface="Helvetica Neue"/>
                <a:ea typeface="Helvetica Neue"/>
                <a:cs typeface="Helvetica Neue"/>
              </a:rPr>
              <a:t>Yang</a:t>
            </a:r>
            <a:endParaRPr sz="2100" b="0" dirty="0">
              <a:solidFill>
                <a:srgbClr val="8FD4D9"/>
              </a:solidFill>
              <a:latin typeface="Helvetica Neue"/>
              <a:ea typeface="Helvetica Neue"/>
              <a:cs typeface="Helvetica Neue"/>
            </a:endParaRPr>
          </a:p>
        </p:txBody>
      </p:sp>
      <p:sp>
        <p:nvSpPr>
          <p:cNvPr id="4" name="Rectangle 3">
            <a:extLst>
              <a:ext uri="{FF2B5EF4-FFF2-40B4-BE49-F238E27FC236}">
                <a16:creationId xmlns:a16="http://schemas.microsoft.com/office/drawing/2014/main" id="{46E4B6FA-A0B5-4E48-843D-1224032753A3}"/>
              </a:ext>
            </a:extLst>
          </p:cNvPr>
          <p:cNvSpPr>
            <a:spLocks noGrp="1"/>
          </p:cNvSpPr>
          <p:nvPr/>
        </p:nvSpPr>
        <p:spPr>
          <a:xfrm>
            <a:off x="590550" y="5238750"/>
            <a:ext cx="5476875" cy="904875"/>
          </a:xfrm>
          <a:prstGeom prst="rect">
            <a:avLst/>
          </a:prstGeom>
          <a:noFill/>
          <a:ln w="0">
            <a:noFill/>
          </a:ln>
        </p:spPr>
        <p:txBody>
          <a:bodyPr>
            <a:noAutofit/>
          </a:bodyPr>
          <a:lstStyle/>
          <a:p>
            <a:pPr>
              <a:defRPr sz="2025" b="0">
                <a:solidFill>
                  <a:srgbClr val="E3E5DF"/>
                </a:solidFill>
                <a:latin typeface="Helvetica Neue"/>
                <a:ea typeface="Helvetica Neue"/>
                <a:cs typeface="Helvetica Neue"/>
              </a:defRPr>
            </a:pPr>
            <a:r>
              <a:rPr sz="2025" b="0">
                <a:solidFill>
                  <a:srgbClr val="E3E5DF"/>
                </a:solidFill>
                <a:latin typeface="Helvetica Neue"/>
                <a:ea typeface="Helvetica Neue"/>
                <a:cs typeface="Helvetica Neue"/>
              </a:rPr>
              <a:t>A map, a few features, and a walking route</a:t>
            </a:r>
          </a:p>
        </p:txBody>
      </p:sp>
      <p:sp>
        <p:nvSpPr>
          <p:cNvPr id="5" name="Rectangle 4">
            <a:extLst>
              <a:ext uri="{FF2B5EF4-FFF2-40B4-BE49-F238E27FC236}">
                <a16:creationId xmlns:a16="http://schemas.microsoft.com/office/drawing/2014/main" id="{4B1C57BA-EEAA-48F6-8A40-AAA16397FA16}"/>
              </a:ext>
            </a:extLst>
          </p:cNvPr>
          <p:cNvSpPr>
            <a:spLocks noGrp="1"/>
          </p:cNvSpPr>
          <p:nvPr/>
        </p:nvSpPr>
        <p:spPr>
          <a:xfrm>
            <a:off x="11591925" y="6515100"/>
            <a:ext cx="428625" cy="257175"/>
          </a:xfrm>
          <a:prstGeom prst="rect">
            <a:avLst/>
          </a:prstGeom>
          <a:noFill/>
          <a:ln w="0">
            <a:noFill/>
          </a:ln>
        </p:spPr>
        <p:txBody>
          <a:bodyPr>
            <a:noAutofit/>
          </a:bodyPr>
          <a:lstStyle/>
          <a:p>
            <a:pPr>
              <a:defRPr sz="1200" b="0">
                <a:solidFill>
                  <a:srgbClr val="9CB7BC"/>
                </a:solidFill>
                <a:latin typeface="Helvetica Neue"/>
                <a:ea typeface="Helvetica Neue"/>
                <a:cs typeface="Helvetica Neue"/>
              </a:defRPr>
            </a:pPr>
            <a:r>
              <a:rPr sz="1200" b="0">
                <a:solidFill>
                  <a:srgbClr val="9CB7BC"/>
                </a:solidFill>
                <a:latin typeface="Helvetica Neue"/>
                <a:ea typeface="Helvetica Neue"/>
                <a:cs typeface="Helvetica Neue"/>
              </a:rPr>
              <a:t>01</a:t>
            </a:r>
          </a:p>
        </p:txBody>
      </p:sp>
    </p:spTree>
    <p:extLst>
      <p:ext uri="{BB962C8B-B14F-4D97-AF65-F5344CB8AC3E}">
        <p14:creationId xmlns:p14="http://schemas.microsoft.com/office/powerpoint/2010/main" val="638586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FC56EA8-4FEA-421F-A4D7-B60FF86F0EA4}"/>
              </a:ext>
            </a:extLst>
          </p:cNvPr>
          <p:cNvSpPr>
            <a:spLocks noGrp="1"/>
          </p:cNvSpPr>
          <p:nvPr/>
        </p:nvSpPr>
        <p:spPr>
          <a:xfrm>
            <a:off x="590550" y="438150"/>
            <a:ext cx="11010900" cy="1038225"/>
          </a:xfrm>
          <a:prstGeom prst="rect">
            <a:avLst/>
          </a:prstGeom>
          <a:noFill/>
          <a:ln w="0">
            <a:noFill/>
          </a:ln>
        </p:spPr>
        <p:txBody>
          <a:bodyPr>
            <a:noAutofit/>
          </a:bodyPr>
          <a:lstStyle/>
          <a:p>
            <a:pPr>
              <a:defRPr sz="3450" b="1">
                <a:solidFill>
                  <a:srgbClr val="243136"/>
                </a:solidFill>
                <a:latin typeface="Helvetica Neue"/>
                <a:ea typeface="Helvetica Neue"/>
                <a:cs typeface="Helvetica Neue"/>
              </a:defRPr>
            </a:pPr>
            <a:r>
              <a:rPr lang="en-US" sz="3450" b="1" dirty="0">
                <a:solidFill>
                  <a:srgbClr val="243136"/>
                </a:solidFill>
                <a:latin typeface="Helvetica Neue"/>
                <a:ea typeface="Helvetica Neue"/>
                <a:cs typeface="Helvetica Neue"/>
              </a:rPr>
              <a:t>What</a:t>
            </a:r>
            <a:r>
              <a:rPr lang="zh-CN" altLang="en-US" sz="3450" b="1" dirty="0">
                <a:solidFill>
                  <a:srgbClr val="243136"/>
                </a:solidFill>
                <a:latin typeface="Helvetica Neue"/>
                <a:ea typeface="Helvetica Neue"/>
                <a:cs typeface="Helvetica Neue"/>
              </a:rPr>
              <a:t> </a:t>
            </a:r>
            <a:r>
              <a:rPr lang="en-US" altLang="zh-CN" sz="3450" b="1" dirty="0">
                <a:solidFill>
                  <a:srgbClr val="243136"/>
                </a:solidFill>
                <a:latin typeface="Helvetica Neue"/>
                <a:ea typeface="Helvetica Neue"/>
                <a:cs typeface="Helvetica Neue"/>
              </a:rPr>
              <a:t>is</a:t>
            </a:r>
            <a:r>
              <a:rPr lang="zh-CN" altLang="en-US" sz="3450" b="1" dirty="0">
                <a:solidFill>
                  <a:srgbClr val="243136"/>
                </a:solidFill>
                <a:latin typeface="Helvetica Neue"/>
                <a:ea typeface="Helvetica Neue"/>
                <a:cs typeface="Helvetica Neue"/>
              </a:rPr>
              <a:t> </a:t>
            </a:r>
            <a:r>
              <a:rPr lang="en-US" altLang="zh-CN" sz="3450" b="1" dirty="0">
                <a:solidFill>
                  <a:srgbClr val="243136"/>
                </a:solidFill>
                <a:latin typeface="Helvetica Neue"/>
                <a:ea typeface="Helvetica Neue"/>
                <a:cs typeface="Helvetica Neue"/>
              </a:rPr>
              <a:t>OpenStreetMap</a:t>
            </a:r>
            <a:endParaRPr sz="3450" b="1" dirty="0">
              <a:solidFill>
                <a:srgbClr val="243136"/>
              </a:solidFill>
              <a:latin typeface="Helvetica Neue"/>
              <a:ea typeface="Helvetica Neue"/>
              <a:cs typeface="Helvetica Neue"/>
            </a:endParaRPr>
          </a:p>
        </p:txBody>
      </p:sp>
      <p:pic>
        <p:nvPicPr>
          <p:cNvPr id="7" name="Picture 6"/>
          <p:cNvPicPr>
            <a:picLocks noChangeAspect="1"/>
          </p:cNvPicPr>
          <p:nvPr/>
        </p:nvPicPr>
        <p:blipFill>
          <a:blip r:embed="rId3"/>
          <a:stretch/>
        </p:blipFill>
        <p:spPr>
          <a:xfrm>
            <a:off x="2048933" y="1504950"/>
            <a:ext cx="8094133" cy="4552950"/>
          </a:xfrm>
          <a:prstGeom prst="rect">
            <a:avLst/>
          </a:prstGeom>
        </p:spPr>
      </p:pic>
      <p:sp>
        <p:nvSpPr>
          <p:cNvPr id="3" name="Rectangle 2">
            <a:extLst>
              <a:ext uri="{FF2B5EF4-FFF2-40B4-BE49-F238E27FC236}">
                <a16:creationId xmlns:a16="http://schemas.microsoft.com/office/drawing/2014/main" id="{3F027F8F-9211-4054-84F7-28D4D2BB3871}"/>
              </a:ext>
            </a:extLst>
          </p:cNvPr>
          <p:cNvSpPr>
            <a:spLocks noGrp="1"/>
          </p:cNvSpPr>
          <p:nvPr/>
        </p:nvSpPr>
        <p:spPr>
          <a:xfrm>
            <a:off x="609600" y="6143625"/>
            <a:ext cx="10839450" cy="476250"/>
          </a:xfrm>
          <a:prstGeom prst="rect">
            <a:avLst/>
          </a:prstGeom>
          <a:noFill/>
          <a:ln w="0">
            <a:noFill/>
          </a:ln>
        </p:spPr>
        <p:txBody>
          <a:bodyPr>
            <a:noAutofit/>
          </a:bodyPr>
          <a:lstStyle/>
          <a:p>
            <a:pPr>
              <a:defRPr sz="1800" b="0">
                <a:solidFill>
                  <a:srgbClr val="243136"/>
                </a:solidFill>
                <a:latin typeface="Helvetica Neue"/>
                <a:ea typeface="Helvetica Neue"/>
                <a:cs typeface="Helvetica Neue"/>
              </a:defRPr>
            </a:pPr>
            <a:r>
              <a:rPr sz="1800" b="0">
                <a:solidFill>
                  <a:srgbClr val="243136"/>
                </a:solidFill>
                <a:latin typeface="Helvetica Neue"/>
                <a:ea typeface="Helvetica Neue"/>
                <a:cs typeface="Helvetica Neue"/>
              </a:rPr>
              <a:t>A street? A building? A station?</a:t>
            </a:r>
          </a:p>
        </p:txBody>
      </p:sp>
      <p:sp>
        <p:nvSpPr>
          <p:cNvPr id="4" name="Rectangle 3">
            <a:extLst>
              <a:ext uri="{FF2B5EF4-FFF2-40B4-BE49-F238E27FC236}">
                <a16:creationId xmlns:a16="http://schemas.microsoft.com/office/drawing/2014/main" id="{9BC94E3C-AC8F-4273-8B3F-FE15447841DB}"/>
              </a:ext>
            </a:extLst>
          </p:cNvPr>
          <p:cNvSpPr>
            <a:spLocks noGrp="1"/>
          </p:cNvSpPr>
          <p:nvPr/>
        </p:nvSpPr>
        <p:spPr>
          <a:xfrm>
            <a:off x="619125" y="6581775"/>
            <a:ext cx="5334000" cy="228600"/>
          </a:xfrm>
          <a:prstGeom prst="rect">
            <a:avLst/>
          </a:prstGeom>
          <a:noFill/>
          <a:ln w="0">
            <a:noFill/>
          </a:ln>
        </p:spPr>
        <p:txBody>
          <a:bodyPr>
            <a:noAutofit/>
          </a:bodyPr>
          <a:lstStyle/>
          <a:p>
            <a:pPr>
              <a:defRPr sz="1125" b="0">
                <a:solidFill>
                  <a:srgbClr val="5B676A"/>
                </a:solidFill>
                <a:latin typeface="Helvetica Neue"/>
                <a:ea typeface="Helvetica Neue"/>
                <a:cs typeface="Helvetica Neue"/>
              </a:defRPr>
            </a:pPr>
            <a:r>
              <a:rPr sz="1125" b="0">
                <a:solidFill>
                  <a:srgbClr val="5B676A"/>
                </a:solidFill>
                <a:latin typeface="Helvetica Neue"/>
                <a:ea typeface="Helvetica Neue"/>
                <a:cs typeface="Helvetica Neue"/>
              </a:rPr>
              <a:t>© OpenStreetMap contributors</a:t>
            </a:r>
          </a:p>
        </p:txBody>
      </p:sp>
      <p:sp>
        <p:nvSpPr>
          <p:cNvPr id="5" name="Rectangle 4">
            <a:extLst>
              <a:ext uri="{FF2B5EF4-FFF2-40B4-BE49-F238E27FC236}">
                <a16:creationId xmlns:a16="http://schemas.microsoft.com/office/drawing/2014/main" id="{C241374E-8306-4074-8508-19445C756750}"/>
              </a:ext>
            </a:extLst>
          </p:cNvPr>
          <p:cNvSpPr>
            <a:spLocks noGrp="1"/>
          </p:cNvSpPr>
          <p:nvPr/>
        </p:nvSpPr>
        <p:spPr>
          <a:xfrm>
            <a:off x="11591925" y="6515100"/>
            <a:ext cx="428625" cy="257175"/>
          </a:xfrm>
          <a:prstGeom prst="rect">
            <a:avLst/>
          </a:prstGeom>
          <a:noFill/>
          <a:ln w="0">
            <a:noFill/>
          </a:ln>
        </p:spPr>
        <p:txBody>
          <a:bodyPr>
            <a:noAutofit/>
          </a:bodyPr>
          <a:lstStyle/>
          <a:p>
            <a:pPr>
              <a:defRPr sz="1200" b="0">
                <a:solidFill>
                  <a:srgbClr val="5B676A"/>
                </a:solidFill>
                <a:latin typeface="Helvetica Neue"/>
                <a:ea typeface="Helvetica Neue"/>
                <a:cs typeface="Helvetica Neue"/>
              </a:defRPr>
            </a:pPr>
            <a:r>
              <a:rPr sz="1200" b="0">
                <a:solidFill>
                  <a:srgbClr val="5B676A"/>
                </a:solidFill>
                <a:latin typeface="Helvetica Neue"/>
                <a:ea typeface="Helvetica Neue"/>
                <a:cs typeface="Helvetica Neue"/>
              </a:rPr>
              <a:t>02</a:t>
            </a:r>
          </a:p>
        </p:txBody>
      </p:sp>
    </p:spTree>
    <p:extLst>
      <p:ext uri="{BB962C8B-B14F-4D97-AF65-F5344CB8AC3E}">
        <p14:creationId xmlns:p14="http://schemas.microsoft.com/office/powerpoint/2010/main" val="8191500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9C0BA5C-07A1-46A6-AEC6-488491EB71EC}"/>
              </a:ext>
            </a:extLst>
          </p:cNvPr>
          <p:cNvSpPr>
            <a:spLocks noGrp="1"/>
          </p:cNvSpPr>
          <p:nvPr/>
        </p:nvSpPr>
        <p:spPr>
          <a:xfrm>
            <a:off x="590550" y="438150"/>
            <a:ext cx="11010900" cy="1038225"/>
          </a:xfrm>
          <a:prstGeom prst="rect">
            <a:avLst/>
          </a:prstGeom>
          <a:noFill/>
          <a:ln w="0">
            <a:noFill/>
          </a:ln>
        </p:spPr>
        <p:txBody>
          <a:bodyPr>
            <a:noAutofit/>
          </a:bodyPr>
          <a:lstStyle/>
          <a:p>
            <a:pPr>
              <a:defRPr sz="3450" b="1">
                <a:solidFill>
                  <a:srgbClr val="243136"/>
                </a:solidFill>
                <a:latin typeface="Helvetica Neue"/>
                <a:ea typeface="Helvetica Neue"/>
                <a:cs typeface="Helvetica Neue"/>
              </a:defRPr>
            </a:pPr>
            <a:r>
              <a:rPr sz="3450" b="1">
                <a:solidFill>
                  <a:srgbClr val="243136"/>
                </a:solidFill>
                <a:latin typeface="Helvetica Neue"/>
                <a:ea typeface="Helvetica Neue"/>
                <a:cs typeface="Helvetica Neue"/>
              </a:rPr>
              <a:t>What is OpenStreetMap?</a:t>
            </a:r>
          </a:p>
        </p:txBody>
      </p:sp>
      <p:sp>
        <p:nvSpPr>
          <p:cNvPr id="2" name="Rectangle 1">
            <a:extLst>
              <a:ext uri="{FF2B5EF4-FFF2-40B4-BE49-F238E27FC236}">
                <a16:creationId xmlns:a16="http://schemas.microsoft.com/office/drawing/2014/main" id="{9D60BD96-F1C3-45AC-BB8C-5FC39B2E8DFA}"/>
              </a:ext>
            </a:extLst>
          </p:cNvPr>
          <p:cNvSpPr>
            <a:spLocks noGrp="1"/>
          </p:cNvSpPr>
          <p:nvPr/>
        </p:nvSpPr>
        <p:spPr>
          <a:xfrm>
            <a:off x="609600" y="2076450"/>
            <a:ext cx="10477500" cy="1828800"/>
          </a:xfrm>
          <a:prstGeom prst="rect">
            <a:avLst/>
          </a:prstGeom>
          <a:noFill/>
          <a:ln w="0">
            <a:noFill/>
          </a:ln>
        </p:spPr>
        <p:txBody>
          <a:bodyPr>
            <a:noAutofit/>
          </a:bodyPr>
          <a:lstStyle/>
          <a:p>
            <a:pPr>
              <a:defRPr sz="4050" b="1">
                <a:solidFill>
                  <a:srgbClr val="227C9D"/>
                </a:solidFill>
                <a:latin typeface="Helvetica Neue"/>
                <a:ea typeface="Helvetica Neue"/>
                <a:cs typeface="Helvetica Neue"/>
              </a:defRPr>
            </a:pPr>
            <a:r>
              <a:rPr sz="4050" b="1">
                <a:solidFill>
                  <a:srgbClr val="227C9D"/>
                </a:solidFill>
                <a:latin typeface="Helvetica Neue"/>
                <a:ea typeface="Helvetica Neue"/>
                <a:cs typeface="Helvetica Neue"/>
              </a:rPr>
              <a:t>An editable geographic database.</a:t>
            </a:r>
          </a:p>
        </p:txBody>
      </p:sp>
      <p:sp>
        <p:nvSpPr>
          <p:cNvPr id="3" name="Rectangle 2">
            <a:extLst>
              <a:ext uri="{FF2B5EF4-FFF2-40B4-BE49-F238E27FC236}">
                <a16:creationId xmlns:a16="http://schemas.microsoft.com/office/drawing/2014/main" id="{E1F853AB-CF6F-4AB2-9510-FE7DF112443C}"/>
              </a:ext>
            </a:extLst>
          </p:cNvPr>
          <p:cNvSpPr>
            <a:spLocks noGrp="1"/>
          </p:cNvSpPr>
          <p:nvPr/>
        </p:nvSpPr>
        <p:spPr>
          <a:xfrm>
            <a:off x="638175" y="4752975"/>
            <a:ext cx="10191750" cy="1152525"/>
          </a:xfrm>
          <a:prstGeom prst="rect">
            <a:avLst/>
          </a:prstGeom>
          <a:noFill/>
          <a:ln w="0">
            <a:noFill/>
          </a:ln>
        </p:spPr>
        <p:txBody>
          <a:bodyPr>
            <a:noAutofit/>
          </a:bodyPr>
          <a:lstStyle/>
          <a:p>
            <a:pPr>
              <a:defRPr sz="2325" b="0">
                <a:solidFill>
                  <a:srgbClr val="243136"/>
                </a:solidFill>
                <a:latin typeface="Helvetica Neue"/>
                <a:ea typeface="Helvetica Neue"/>
                <a:cs typeface="Helvetica Neue"/>
              </a:defRPr>
            </a:pPr>
            <a:r>
              <a:rPr sz="2325" b="0">
                <a:solidFill>
                  <a:srgbClr val="243136"/>
                </a:solidFill>
                <a:latin typeface="Helvetica Neue"/>
                <a:ea typeface="Helvetica Neue"/>
                <a:cs typeface="Helvetica Neue"/>
              </a:rPr>
              <a:t>People contribute locations, shapes, and descriptions of places.</a:t>
            </a:r>
          </a:p>
        </p:txBody>
      </p:sp>
      <p:sp>
        <p:nvSpPr>
          <p:cNvPr id="4" name="Rectangle 3">
            <a:extLst>
              <a:ext uri="{FF2B5EF4-FFF2-40B4-BE49-F238E27FC236}">
                <a16:creationId xmlns:a16="http://schemas.microsoft.com/office/drawing/2014/main" id="{44E526E8-05E8-401E-ADC2-2642BF0C19E2}"/>
              </a:ext>
            </a:extLst>
          </p:cNvPr>
          <p:cNvSpPr>
            <a:spLocks noGrp="1"/>
          </p:cNvSpPr>
          <p:nvPr/>
        </p:nvSpPr>
        <p:spPr>
          <a:xfrm>
            <a:off x="11591925" y="6515100"/>
            <a:ext cx="428625" cy="257175"/>
          </a:xfrm>
          <a:prstGeom prst="rect">
            <a:avLst/>
          </a:prstGeom>
          <a:noFill/>
          <a:ln w="0">
            <a:noFill/>
          </a:ln>
        </p:spPr>
        <p:txBody>
          <a:bodyPr>
            <a:noAutofit/>
          </a:bodyPr>
          <a:lstStyle/>
          <a:p>
            <a:pPr>
              <a:defRPr sz="1200" b="0">
                <a:solidFill>
                  <a:srgbClr val="5B676A"/>
                </a:solidFill>
                <a:latin typeface="Helvetica Neue"/>
                <a:ea typeface="Helvetica Neue"/>
                <a:cs typeface="Helvetica Neue"/>
              </a:defRPr>
            </a:pPr>
            <a:r>
              <a:rPr sz="1200" b="0">
                <a:solidFill>
                  <a:srgbClr val="5B676A"/>
                </a:solidFill>
                <a:latin typeface="Helvetica Neue"/>
                <a:ea typeface="Helvetica Neue"/>
                <a:cs typeface="Helvetica Neue"/>
              </a:rPr>
              <a:t>03</a:t>
            </a:r>
          </a:p>
        </p:txBody>
      </p:sp>
    </p:spTree>
    <p:extLst>
      <p:ext uri="{BB962C8B-B14F-4D97-AF65-F5344CB8AC3E}">
        <p14:creationId xmlns:p14="http://schemas.microsoft.com/office/powerpoint/2010/main" val="1208849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DF03A9B-1DDD-453E-8BAE-E73437E4D2A6}"/>
              </a:ext>
            </a:extLst>
          </p:cNvPr>
          <p:cNvSpPr>
            <a:spLocks noGrp="1"/>
          </p:cNvSpPr>
          <p:nvPr/>
        </p:nvSpPr>
        <p:spPr>
          <a:xfrm>
            <a:off x="590550" y="438150"/>
            <a:ext cx="11010900" cy="1038225"/>
          </a:xfrm>
          <a:prstGeom prst="rect">
            <a:avLst/>
          </a:prstGeom>
          <a:noFill/>
          <a:ln w="0">
            <a:noFill/>
          </a:ln>
        </p:spPr>
        <p:txBody>
          <a:bodyPr>
            <a:noAutofit/>
          </a:bodyPr>
          <a:lstStyle/>
          <a:p>
            <a:pPr>
              <a:defRPr sz="3450" b="1">
                <a:solidFill>
                  <a:srgbClr val="243136"/>
                </a:solidFill>
                <a:latin typeface="Helvetica Neue"/>
                <a:ea typeface="Helvetica Neue"/>
                <a:cs typeface="Helvetica Neue"/>
              </a:defRPr>
            </a:pPr>
            <a:r>
              <a:rPr sz="3450" b="1">
                <a:solidFill>
                  <a:srgbClr val="243136"/>
                </a:solidFill>
                <a:latin typeface="Helvetica Neue"/>
                <a:ea typeface="Helvetica Neue"/>
                <a:cs typeface="Helvetica Neue"/>
              </a:rPr>
              <a:t>Who maintains the map?</a:t>
            </a:r>
          </a:p>
        </p:txBody>
      </p:sp>
      <p:pic>
        <p:nvPicPr>
          <p:cNvPr id="8" name="Picture 7"/>
          <p:cNvPicPr>
            <a:picLocks noChangeAspect="1"/>
          </p:cNvPicPr>
          <p:nvPr/>
        </p:nvPicPr>
        <p:blipFill>
          <a:blip r:embed="rId3"/>
          <a:stretch/>
        </p:blipFill>
        <p:spPr>
          <a:xfrm>
            <a:off x="5495925" y="1925836"/>
            <a:ext cx="6191250" cy="3482578"/>
          </a:xfrm>
          <a:prstGeom prst="rect">
            <a:avLst/>
          </a:prstGeom>
        </p:spPr>
      </p:pic>
      <p:sp>
        <p:nvSpPr>
          <p:cNvPr id="3" name="Rectangle 2">
            <a:extLst>
              <a:ext uri="{FF2B5EF4-FFF2-40B4-BE49-F238E27FC236}">
                <a16:creationId xmlns:a16="http://schemas.microsoft.com/office/drawing/2014/main" id="{01F840EA-5E9F-41C9-B43B-3B21E37B82C2}"/>
              </a:ext>
            </a:extLst>
          </p:cNvPr>
          <p:cNvSpPr>
            <a:spLocks noGrp="1"/>
          </p:cNvSpPr>
          <p:nvPr/>
        </p:nvSpPr>
        <p:spPr>
          <a:xfrm>
            <a:off x="590550" y="1971675"/>
            <a:ext cx="4381500" cy="1476375"/>
          </a:xfrm>
          <a:prstGeom prst="rect">
            <a:avLst/>
          </a:prstGeom>
          <a:noFill/>
          <a:ln w="0">
            <a:noFill/>
          </a:ln>
        </p:spPr>
        <p:txBody>
          <a:bodyPr>
            <a:noAutofit/>
          </a:bodyPr>
          <a:lstStyle/>
          <a:p>
            <a:pPr>
              <a:defRPr sz="2925" b="1">
                <a:solidFill>
                  <a:srgbClr val="227C9D"/>
                </a:solidFill>
                <a:latin typeface="Helvetica Neue"/>
                <a:ea typeface="Helvetica Neue"/>
                <a:cs typeface="Helvetica Neue"/>
              </a:defRPr>
            </a:pPr>
            <a:r>
              <a:rPr sz="2925" b="1">
                <a:solidFill>
                  <a:srgbClr val="227C9D"/>
                </a:solidFill>
                <a:latin typeface="Helvetica Neue"/>
                <a:ea typeface="Helvetica Neue"/>
                <a:cs typeface="Helvetica Neue"/>
              </a:rPr>
              <a:t>A real object has an edit history.</a:t>
            </a:r>
          </a:p>
        </p:txBody>
      </p:sp>
      <p:sp>
        <p:nvSpPr>
          <p:cNvPr id="4" name="Rectangle 3">
            <a:extLst>
              <a:ext uri="{FF2B5EF4-FFF2-40B4-BE49-F238E27FC236}">
                <a16:creationId xmlns:a16="http://schemas.microsoft.com/office/drawing/2014/main" id="{533B1243-A7E2-426E-841A-CC61CFC2519C}"/>
              </a:ext>
            </a:extLst>
          </p:cNvPr>
          <p:cNvSpPr>
            <a:spLocks noGrp="1"/>
          </p:cNvSpPr>
          <p:nvPr/>
        </p:nvSpPr>
        <p:spPr>
          <a:xfrm>
            <a:off x="619125" y="3914775"/>
            <a:ext cx="4238625" cy="1428750"/>
          </a:xfrm>
          <a:prstGeom prst="rect">
            <a:avLst/>
          </a:prstGeom>
          <a:noFill/>
          <a:ln w="0">
            <a:noFill/>
          </a:ln>
        </p:spPr>
        <p:txBody>
          <a:bodyPr>
            <a:noAutofit/>
          </a:bodyPr>
          <a:lstStyle/>
          <a:p>
            <a:pPr>
              <a:defRPr sz="2175" b="0">
                <a:solidFill>
                  <a:srgbClr val="243136"/>
                </a:solidFill>
                <a:latin typeface="Helvetica Neue"/>
                <a:ea typeface="Helvetica Neue"/>
                <a:cs typeface="Helvetica Neue"/>
              </a:defRPr>
            </a:pPr>
            <a:r>
              <a:rPr sz="2175" b="0">
                <a:solidFill>
                  <a:srgbClr val="243136"/>
                </a:solidFill>
                <a:latin typeface="Helvetica Neue"/>
                <a:ea typeface="Helvetica Neue"/>
                <a:cs typeface="Helvetica Neue"/>
              </a:rPr>
              <a:t>A contributor can add a station, adjust its location, or improve its tags.</a:t>
            </a:r>
          </a:p>
        </p:txBody>
      </p:sp>
      <p:sp>
        <p:nvSpPr>
          <p:cNvPr id="5" name="Rectangle 4">
            <a:extLst>
              <a:ext uri="{FF2B5EF4-FFF2-40B4-BE49-F238E27FC236}">
                <a16:creationId xmlns:a16="http://schemas.microsoft.com/office/drawing/2014/main" id="{6C7A3DA3-A74E-4300-92F2-98609DFC9BB6}"/>
              </a:ext>
            </a:extLst>
          </p:cNvPr>
          <p:cNvSpPr>
            <a:spLocks noGrp="1"/>
          </p:cNvSpPr>
          <p:nvPr/>
        </p:nvSpPr>
        <p:spPr>
          <a:xfrm>
            <a:off x="619125" y="6581775"/>
            <a:ext cx="5334000" cy="228600"/>
          </a:xfrm>
          <a:prstGeom prst="rect">
            <a:avLst/>
          </a:prstGeom>
          <a:noFill/>
          <a:ln w="0">
            <a:noFill/>
          </a:ln>
        </p:spPr>
        <p:txBody>
          <a:bodyPr>
            <a:noAutofit/>
          </a:bodyPr>
          <a:lstStyle/>
          <a:p>
            <a:pPr>
              <a:defRPr sz="1125" b="0">
                <a:solidFill>
                  <a:srgbClr val="5B676A"/>
                </a:solidFill>
                <a:latin typeface="Helvetica Neue"/>
                <a:ea typeface="Helvetica Neue"/>
                <a:cs typeface="Helvetica Neue"/>
              </a:defRPr>
            </a:pPr>
            <a:r>
              <a:rPr sz="1125" b="0">
                <a:solidFill>
                  <a:srgbClr val="5B676A"/>
                </a:solidFill>
                <a:latin typeface="Helvetica Neue"/>
                <a:ea typeface="Helvetica Neue"/>
                <a:cs typeface="Helvetica Neue"/>
              </a:rPr>
              <a:t>© OpenStreetMap contributors</a:t>
            </a:r>
          </a:p>
        </p:txBody>
      </p:sp>
      <p:sp>
        <p:nvSpPr>
          <p:cNvPr id="6" name="Rectangle 5">
            <a:extLst>
              <a:ext uri="{FF2B5EF4-FFF2-40B4-BE49-F238E27FC236}">
                <a16:creationId xmlns:a16="http://schemas.microsoft.com/office/drawing/2014/main" id="{A1DF9E60-03D3-4B1D-8D31-853131A0F09F}"/>
              </a:ext>
            </a:extLst>
          </p:cNvPr>
          <p:cNvSpPr>
            <a:spLocks noGrp="1"/>
          </p:cNvSpPr>
          <p:nvPr/>
        </p:nvSpPr>
        <p:spPr>
          <a:xfrm>
            <a:off x="11591925" y="6515100"/>
            <a:ext cx="428625" cy="257175"/>
          </a:xfrm>
          <a:prstGeom prst="rect">
            <a:avLst/>
          </a:prstGeom>
          <a:noFill/>
          <a:ln w="0">
            <a:noFill/>
          </a:ln>
        </p:spPr>
        <p:txBody>
          <a:bodyPr>
            <a:noAutofit/>
          </a:bodyPr>
          <a:lstStyle/>
          <a:p>
            <a:pPr>
              <a:defRPr sz="1200" b="0">
                <a:solidFill>
                  <a:srgbClr val="5B676A"/>
                </a:solidFill>
                <a:latin typeface="Helvetica Neue"/>
                <a:ea typeface="Helvetica Neue"/>
                <a:cs typeface="Helvetica Neue"/>
              </a:defRPr>
            </a:pPr>
            <a:r>
              <a:rPr sz="1200" b="0">
                <a:solidFill>
                  <a:srgbClr val="5B676A"/>
                </a:solidFill>
                <a:latin typeface="Helvetica Neue"/>
                <a:ea typeface="Helvetica Neue"/>
                <a:cs typeface="Helvetica Neue"/>
              </a:rPr>
              <a:t>04</a:t>
            </a:r>
          </a:p>
        </p:txBody>
      </p:sp>
    </p:spTree>
    <p:extLst>
      <p:ext uri="{BB962C8B-B14F-4D97-AF65-F5344CB8AC3E}">
        <p14:creationId xmlns:p14="http://schemas.microsoft.com/office/powerpoint/2010/main" val="1058065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472359A-DCD6-468B-AD7D-9ECA0E933556}"/>
              </a:ext>
            </a:extLst>
          </p:cNvPr>
          <p:cNvSpPr>
            <a:spLocks noGrp="1"/>
          </p:cNvSpPr>
          <p:nvPr/>
        </p:nvSpPr>
        <p:spPr>
          <a:xfrm>
            <a:off x="590550" y="438150"/>
            <a:ext cx="11010900" cy="1038225"/>
          </a:xfrm>
          <a:prstGeom prst="rect">
            <a:avLst/>
          </a:prstGeom>
          <a:noFill/>
          <a:ln w="0">
            <a:noFill/>
          </a:ln>
        </p:spPr>
        <p:txBody>
          <a:bodyPr>
            <a:noAutofit/>
          </a:bodyPr>
          <a:lstStyle/>
          <a:p>
            <a:pPr>
              <a:defRPr sz="3450" b="1">
                <a:solidFill>
                  <a:srgbClr val="243136"/>
                </a:solidFill>
                <a:latin typeface="Helvetica Neue"/>
                <a:ea typeface="Helvetica Neue"/>
                <a:cs typeface="Helvetica Neue"/>
              </a:defRPr>
            </a:pPr>
            <a:r>
              <a:rPr sz="3450" b="1">
                <a:solidFill>
                  <a:srgbClr val="243136"/>
                </a:solidFill>
                <a:latin typeface="Helvetica Neue"/>
                <a:ea typeface="Helvetica Neue"/>
                <a:cs typeface="Helvetica Neue"/>
              </a:rPr>
              <a:t>How does OSM store a city?</a:t>
            </a:r>
          </a:p>
        </p:txBody>
      </p:sp>
      <p:graphicFrame>
        <p:nvGraphicFramePr>
          <p:cNvPr id="5" name="Table 4"/>
          <p:cNvGraphicFramePr/>
          <p:nvPr/>
        </p:nvGraphicFramePr>
        <p:xfrm>
          <a:off x="590550" y="1971675"/>
          <a:ext cx="11010900" cy="3286124"/>
        </p:xfrm>
        <a:graphic>
          <a:graphicData uri="http://schemas.openxmlformats.org/drawingml/2006/table">
            <a:tbl>
              <a:tblPr/>
              <a:tblGrid>
                <a:gridCol w="2238375">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5057775">
                  <a:extLst>
                    <a:ext uri="{9D8B030D-6E8A-4147-A177-3AD203B41FA5}">
                      <a16:colId xmlns:a16="http://schemas.microsoft.com/office/drawing/2014/main" val="20002"/>
                    </a:ext>
                  </a:extLst>
                </a:gridCol>
              </a:tblGrid>
              <a:tr h="821531">
                <a:tc>
                  <a:txBody>
                    <a:bodyPr/>
                    <a:lstStyle/>
                    <a:p>
                      <a:r>
                        <a:rPr sz="2100" b="1">
                          <a:solidFill>
                            <a:srgbClr val="FFFFFF"/>
                          </a:solidFill>
                          <a:latin typeface="Helvetica Neue"/>
                          <a:ea typeface="Helvetica Neue"/>
                          <a:cs typeface="Helvetica Neue"/>
                        </a:rPr>
                        <a:t>OSM object</a:t>
                      </a:r>
                    </a:p>
                  </a:txBody>
                  <a:tcPr>
                    <a:solidFill>
                      <a:srgbClr val="243136"/>
                    </a:solidFill>
                  </a:tcPr>
                </a:tc>
                <a:tc>
                  <a:txBody>
                    <a:bodyPr/>
                    <a:lstStyle/>
                    <a:p>
                      <a:r>
                        <a:rPr sz="2100" b="1">
                          <a:solidFill>
                            <a:srgbClr val="FFFFFF"/>
                          </a:solidFill>
                          <a:latin typeface="Helvetica Neue"/>
                          <a:ea typeface="Helvetica Neue"/>
                          <a:cs typeface="Helvetica Neue"/>
                        </a:rPr>
                        <a:t>What it stores</a:t>
                      </a:r>
                    </a:p>
                  </a:txBody>
                  <a:tcPr>
                    <a:solidFill>
                      <a:srgbClr val="243136"/>
                    </a:solidFill>
                  </a:tcPr>
                </a:tc>
                <a:tc>
                  <a:txBody>
                    <a:bodyPr/>
                    <a:lstStyle/>
                    <a:p>
                      <a:r>
                        <a:rPr sz="2100" b="1">
                          <a:solidFill>
                            <a:srgbClr val="FFFFFF"/>
                          </a:solidFill>
                          <a:latin typeface="Helvetica Neue"/>
                          <a:ea typeface="Helvetica Neue"/>
                          <a:cs typeface="Helvetica Neue"/>
                        </a:rPr>
                        <a:t>A familiar example</a:t>
                      </a:r>
                    </a:p>
                  </a:txBody>
                  <a:tcPr>
                    <a:solidFill>
                      <a:srgbClr val="243136"/>
                    </a:solidFill>
                  </a:tcPr>
                </a:tc>
                <a:extLst>
                  <a:ext uri="{0D108BD9-81ED-4DB2-BD59-A6C34878D82A}">
                    <a16:rowId xmlns:a16="http://schemas.microsoft.com/office/drawing/2014/main" val="10000"/>
                  </a:ext>
                </a:extLst>
              </a:tr>
              <a:tr h="821531">
                <a:tc>
                  <a:txBody>
                    <a:bodyPr/>
                    <a:lstStyle/>
                    <a:p>
                      <a:r>
                        <a:rPr sz="2100" b="0">
                          <a:solidFill>
                            <a:srgbClr val="243136"/>
                          </a:solidFill>
                          <a:latin typeface="Helvetica Neue"/>
                          <a:ea typeface="Helvetica Neue"/>
                          <a:cs typeface="Helvetica Neue"/>
                        </a:rPr>
                        <a:t>Node</a:t>
                      </a:r>
                    </a:p>
                  </a:txBody>
                  <a:tcPr>
                    <a:solidFill>
                      <a:srgbClr val="F6F3EC"/>
                    </a:solidFill>
                  </a:tcPr>
                </a:tc>
                <a:tc>
                  <a:txBody>
                    <a:bodyPr/>
                    <a:lstStyle/>
                    <a:p>
                      <a:r>
                        <a:rPr sz="2100" b="0">
                          <a:solidFill>
                            <a:srgbClr val="243136"/>
                          </a:solidFill>
                          <a:latin typeface="Helvetica Neue"/>
                          <a:ea typeface="Helvetica Neue"/>
                          <a:cs typeface="Helvetica Neue"/>
                        </a:rPr>
                        <a:t>One coordinate</a:t>
                      </a:r>
                    </a:p>
                  </a:txBody>
                  <a:tcPr>
                    <a:solidFill>
                      <a:srgbClr val="F6F3EC"/>
                    </a:solidFill>
                  </a:tcPr>
                </a:tc>
                <a:tc>
                  <a:txBody>
                    <a:bodyPr/>
                    <a:lstStyle/>
                    <a:p>
                      <a:r>
                        <a:rPr sz="2100" b="0">
                          <a:solidFill>
                            <a:srgbClr val="243136"/>
                          </a:solidFill>
                          <a:latin typeface="Helvetica Neue"/>
                          <a:ea typeface="Helvetica Neue"/>
                          <a:cs typeface="Helvetica Neue"/>
                        </a:rPr>
                        <a:t>A station or crossing</a:t>
                      </a:r>
                    </a:p>
                  </a:txBody>
                  <a:tcPr>
                    <a:solidFill>
                      <a:srgbClr val="F6F3EC"/>
                    </a:solidFill>
                  </a:tcPr>
                </a:tc>
                <a:extLst>
                  <a:ext uri="{0D108BD9-81ED-4DB2-BD59-A6C34878D82A}">
                    <a16:rowId xmlns:a16="http://schemas.microsoft.com/office/drawing/2014/main" val="10001"/>
                  </a:ext>
                </a:extLst>
              </a:tr>
              <a:tr h="821531">
                <a:tc>
                  <a:txBody>
                    <a:bodyPr/>
                    <a:lstStyle/>
                    <a:p>
                      <a:r>
                        <a:rPr sz="2100" b="0">
                          <a:solidFill>
                            <a:srgbClr val="243136"/>
                          </a:solidFill>
                          <a:latin typeface="Helvetica Neue"/>
                          <a:ea typeface="Helvetica Neue"/>
                          <a:cs typeface="Helvetica Neue"/>
                        </a:rPr>
                        <a:t>Way</a:t>
                      </a:r>
                    </a:p>
                  </a:txBody>
                  <a:tcPr>
                    <a:solidFill>
                      <a:srgbClr val="FFFFFF"/>
                    </a:solidFill>
                  </a:tcPr>
                </a:tc>
                <a:tc>
                  <a:txBody>
                    <a:bodyPr/>
                    <a:lstStyle/>
                    <a:p>
                      <a:r>
                        <a:rPr sz="2100" b="0">
                          <a:solidFill>
                            <a:srgbClr val="243136"/>
                          </a:solidFill>
                          <a:latin typeface="Helvetica Neue"/>
                          <a:ea typeface="Helvetica Neue"/>
                          <a:cs typeface="Helvetica Neue"/>
                        </a:rPr>
                        <a:t>An ordered list of nodes</a:t>
                      </a:r>
                    </a:p>
                  </a:txBody>
                  <a:tcPr>
                    <a:solidFill>
                      <a:srgbClr val="FFFFFF"/>
                    </a:solidFill>
                  </a:tcPr>
                </a:tc>
                <a:tc>
                  <a:txBody>
                    <a:bodyPr/>
                    <a:lstStyle/>
                    <a:p>
                      <a:r>
                        <a:rPr sz="2100" b="0">
                          <a:solidFill>
                            <a:srgbClr val="243136"/>
                          </a:solidFill>
                          <a:latin typeface="Helvetica Neue"/>
                          <a:ea typeface="Helvetica Neue"/>
                          <a:cs typeface="Helvetica Neue"/>
                        </a:rPr>
                        <a:t>Locust Walk or a building outline</a:t>
                      </a:r>
                    </a:p>
                  </a:txBody>
                  <a:tcPr>
                    <a:solidFill>
                      <a:srgbClr val="FFFFFF"/>
                    </a:solidFill>
                  </a:tcPr>
                </a:tc>
                <a:extLst>
                  <a:ext uri="{0D108BD9-81ED-4DB2-BD59-A6C34878D82A}">
                    <a16:rowId xmlns:a16="http://schemas.microsoft.com/office/drawing/2014/main" val="10002"/>
                  </a:ext>
                </a:extLst>
              </a:tr>
              <a:tr h="821531">
                <a:tc>
                  <a:txBody>
                    <a:bodyPr/>
                    <a:lstStyle/>
                    <a:p>
                      <a:r>
                        <a:rPr sz="2100" b="0">
                          <a:solidFill>
                            <a:srgbClr val="243136"/>
                          </a:solidFill>
                          <a:latin typeface="Helvetica Neue"/>
                          <a:ea typeface="Helvetica Neue"/>
                          <a:cs typeface="Helvetica Neue"/>
                        </a:rPr>
                        <a:t>Relation</a:t>
                      </a:r>
                    </a:p>
                  </a:txBody>
                  <a:tcPr>
                    <a:solidFill>
                      <a:srgbClr val="F6F3EC"/>
                    </a:solidFill>
                  </a:tcPr>
                </a:tc>
                <a:tc>
                  <a:txBody>
                    <a:bodyPr/>
                    <a:lstStyle/>
                    <a:p>
                      <a:r>
                        <a:rPr sz="2100" b="0">
                          <a:solidFill>
                            <a:srgbClr val="243136"/>
                          </a:solidFill>
                          <a:latin typeface="Helvetica Neue"/>
                          <a:ea typeface="Helvetica Neue"/>
                          <a:cs typeface="Helvetica Neue"/>
                        </a:rPr>
                        <a:t>Objects grouped with roles</a:t>
                      </a:r>
                    </a:p>
                  </a:txBody>
                  <a:tcPr>
                    <a:solidFill>
                      <a:srgbClr val="F6F3EC"/>
                    </a:solidFill>
                  </a:tcPr>
                </a:tc>
                <a:tc>
                  <a:txBody>
                    <a:bodyPr/>
                    <a:lstStyle/>
                    <a:p>
                      <a:r>
                        <a:rPr sz="2100" b="0">
                          <a:solidFill>
                            <a:srgbClr val="243136"/>
                          </a:solidFill>
                          <a:latin typeface="Helvetica Neue"/>
                          <a:ea typeface="Helvetica Neue"/>
                          <a:cs typeface="Helvetica Neue"/>
                        </a:rPr>
                        <a:t>A transit route or a complex area</a:t>
                      </a:r>
                    </a:p>
                  </a:txBody>
                  <a:tcPr>
                    <a:solidFill>
                      <a:srgbClr val="F6F3EC"/>
                    </a:solidFill>
                  </a:tcPr>
                </a:tc>
                <a:extLst>
                  <a:ext uri="{0D108BD9-81ED-4DB2-BD59-A6C34878D82A}">
                    <a16:rowId xmlns:a16="http://schemas.microsoft.com/office/drawing/2014/main" val="10003"/>
                  </a:ext>
                </a:extLst>
              </a:tr>
            </a:tbl>
          </a:graphicData>
        </a:graphic>
      </p:graphicFrame>
      <p:sp>
        <p:nvSpPr>
          <p:cNvPr id="3" name="Rectangle 2">
            <a:extLst>
              <a:ext uri="{FF2B5EF4-FFF2-40B4-BE49-F238E27FC236}">
                <a16:creationId xmlns:a16="http://schemas.microsoft.com/office/drawing/2014/main" id="{4E62FFAA-90A0-4CC1-8A1C-30CB8013F1CC}"/>
              </a:ext>
            </a:extLst>
          </p:cNvPr>
          <p:cNvSpPr>
            <a:spLocks noGrp="1"/>
          </p:cNvSpPr>
          <p:nvPr/>
        </p:nvSpPr>
        <p:spPr>
          <a:xfrm>
            <a:off x="11591925" y="6515100"/>
            <a:ext cx="428625" cy="257175"/>
          </a:xfrm>
          <a:prstGeom prst="rect">
            <a:avLst/>
          </a:prstGeom>
          <a:noFill/>
          <a:ln w="0">
            <a:noFill/>
          </a:ln>
        </p:spPr>
        <p:txBody>
          <a:bodyPr>
            <a:noAutofit/>
          </a:bodyPr>
          <a:lstStyle/>
          <a:p>
            <a:pPr>
              <a:defRPr sz="1200" b="0">
                <a:solidFill>
                  <a:srgbClr val="5B676A"/>
                </a:solidFill>
                <a:latin typeface="Helvetica Neue"/>
                <a:ea typeface="Helvetica Neue"/>
                <a:cs typeface="Helvetica Neue"/>
              </a:defRPr>
            </a:pPr>
            <a:r>
              <a:rPr sz="1200" b="0">
                <a:solidFill>
                  <a:srgbClr val="5B676A"/>
                </a:solidFill>
                <a:latin typeface="Helvetica Neue"/>
                <a:ea typeface="Helvetica Neue"/>
                <a:cs typeface="Helvetica Neue"/>
              </a:rPr>
              <a:t>05</a:t>
            </a:r>
          </a:p>
        </p:txBody>
      </p:sp>
    </p:spTree>
    <p:extLst>
      <p:ext uri="{BB962C8B-B14F-4D97-AF65-F5344CB8AC3E}">
        <p14:creationId xmlns:p14="http://schemas.microsoft.com/office/powerpoint/2010/main" val="3793862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9F2E76C-D928-4B95-A7BC-338DB366C985}"/>
              </a:ext>
            </a:extLst>
          </p:cNvPr>
          <p:cNvSpPr>
            <a:spLocks noGrp="1"/>
          </p:cNvSpPr>
          <p:nvPr/>
        </p:nvSpPr>
        <p:spPr>
          <a:xfrm>
            <a:off x="590550" y="438150"/>
            <a:ext cx="11010900" cy="1038225"/>
          </a:xfrm>
          <a:prstGeom prst="rect">
            <a:avLst/>
          </a:prstGeom>
          <a:noFill/>
          <a:ln w="0">
            <a:noFill/>
          </a:ln>
        </p:spPr>
        <p:txBody>
          <a:bodyPr>
            <a:noAutofit/>
          </a:bodyPr>
          <a:lstStyle/>
          <a:p>
            <a:pPr>
              <a:defRPr sz="3450" b="1">
                <a:solidFill>
                  <a:srgbClr val="243136"/>
                </a:solidFill>
                <a:latin typeface="Helvetica Neue"/>
                <a:ea typeface="Helvetica Neue"/>
                <a:cs typeface="Helvetica Neue"/>
              </a:defRPr>
            </a:pPr>
            <a:r>
              <a:rPr sz="3450" b="1">
                <a:solidFill>
                  <a:srgbClr val="243136"/>
                </a:solidFill>
                <a:latin typeface="Helvetica Neue"/>
                <a:ea typeface="Helvetica Neue"/>
                <a:cs typeface="Helvetica Neue"/>
              </a:rPr>
              <a:t>A station is a point with a description</a:t>
            </a:r>
          </a:p>
        </p:txBody>
      </p:sp>
      <p:pic>
        <p:nvPicPr>
          <p:cNvPr id="7" name="Picture 6"/>
          <p:cNvPicPr>
            <a:picLocks noChangeAspect="1"/>
          </p:cNvPicPr>
          <p:nvPr/>
        </p:nvPicPr>
        <p:blipFill>
          <a:blip r:embed="rId3"/>
          <a:stretch/>
        </p:blipFill>
        <p:spPr>
          <a:xfrm>
            <a:off x="2048933" y="1504950"/>
            <a:ext cx="8094133" cy="4552950"/>
          </a:xfrm>
          <a:prstGeom prst="rect">
            <a:avLst/>
          </a:prstGeom>
        </p:spPr>
      </p:pic>
      <p:sp>
        <p:nvSpPr>
          <p:cNvPr id="3" name="Rectangle 2">
            <a:extLst>
              <a:ext uri="{FF2B5EF4-FFF2-40B4-BE49-F238E27FC236}">
                <a16:creationId xmlns:a16="http://schemas.microsoft.com/office/drawing/2014/main" id="{164BE745-383C-4780-9EBE-FA2FFA3E7930}"/>
              </a:ext>
            </a:extLst>
          </p:cNvPr>
          <p:cNvSpPr>
            <a:spLocks noGrp="1"/>
          </p:cNvSpPr>
          <p:nvPr/>
        </p:nvSpPr>
        <p:spPr>
          <a:xfrm>
            <a:off x="609600" y="6143625"/>
            <a:ext cx="10839450" cy="476250"/>
          </a:xfrm>
          <a:prstGeom prst="rect">
            <a:avLst/>
          </a:prstGeom>
          <a:noFill/>
          <a:ln w="0">
            <a:noFill/>
          </a:ln>
        </p:spPr>
        <p:txBody>
          <a:bodyPr>
            <a:noAutofit/>
          </a:bodyPr>
          <a:lstStyle/>
          <a:p>
            <a:pPr>
              <a:defRPr sz="1800" b="0">
                <a:solidFill>
                  <a:srgbClr val="243136"/>
                </a:solidFill>
                <a:latin typeface="Helvetica Neue"/>
                <a:ea typeface="Helvetica Neue"/>
                <a:cs typeface="Helvetica Neue"/>
              </a:defRPr>
            </a:pPr>
            <a:r>
              <a:rPr sz="1800" b="0">
                <a:solidFill>
                  <a:srgbClr val="243136"/>
                </a:solidFill>
                <a:latin typeface="Helvetica Neue"/>
                <a:ea typeface="Helvetica Neue"/>
                <a:cs typeface="Helvetica Neue"/>
              </a:rPr>
              <a:t>34th Street station: one OSM node, several tags</a:t>
            </a:r>
          </a:p>
        </p:txBody>
      </p:sp>
      <p:sp>
        <p:nvSpPr>
          <p:cNvPr id="4" name="Rectangle 3">
            <a:extLst>
              <a:ext uri="{FF2B5EF4-FFF2-40B4-BE49-F238E27FC236}">
                <a16:creationId xmlns:a16="http://schemas.microsoft.com/office/drawing/2014/main" id="{494D5161-31BF-4D67-A9A1-DBC75F29D4A4}"/>
              </a:ext>
            </a:extLst>
          </p:cNvPr>
          <p:cNvSpPr>
            <a:spLocks noGrp="1"/>
          </p:cNvSpPr>
          <p:nvPr/>
        </p:nvSpPr>
        <p:spPr>
          <a:xfrm>
            <a:off x="619125" y="6581775"/>
            <a:ext cx="5334000" cy="228600"/>
          </a:xfrm>
          <a:prstGeom prst="rect">
            <a:avLst/>
          </a:prstGeom>
          <a:noFill/>
          <a:ln w="0">
            <a:noFill/>
          </a:ln>
        </p:spPr>
        <p:txBody>
          <a:bodyPr>
            <a:noAutofit/>
          </a:bodyPr>
          <a:lstStyle/>
          <a:p>
            <a:pPr>
              <a:defRPr sz="1125" b="0">
                <a:solidFill>
                  <a:srgbClr val="5B676A"/>
                </a:solidFill>
                <a:latin typeface="Helvetica Neue"/>
                <a:ea typeface="Helvetica Neue"/>
                <a:cs typeface="Helvetica Neue"/>
              </a:defRPr>
            </a:pPr>
            <a:r>
              <a:rPr sz="1125" b="0">
                <a:solidFill>
                  <a:srgbClr val="5B676A"/>
                </a:solidFill>
                <a:latin typeface="Helvetica Neue"/>
                <a:ea typeface="Helvetica Neue"/>
                <a:cs typeface="Helvetica Neue"/>
              </a:rPr>
              <a:t>© OpenStreetMap contributors</a:t>
            </a:r>
          </a:p>
        </p:txBody>
      </p:sp>
      <p:sp>
        <p:nvSpPr>
          <p:cNvPr id="5" name="Rectangle 4">
            <a:extLst>
              <a:ext uri="{FF2B5EF4-FFF2-40B4-BE49-F238E27FC236}">
                <a16:creationId xmlns:a16="http://schemas.microsoft.com/office/drawing/2014/main" id="{D4CB34C8-A2F8-4C05-BF6A-FFC9ABA4E5E5}"/>
              </a:ext>
            </a:extLst>
          </p:cNvPr>
          <p:cNvSpPr>
            <a:spLocks noGrp="1"/>
          </p:cNvSpPr>
          <p:nvPr/>
        </p:nvSpPr>
        <p:spPr>
          <a:xfrm>
            <a:off x="11591925" y="6515100"/>
            <a:ext cx="428625" cy="257175"/>
          </a:xfrm>
          <a:prstGeom prst="rect">
            <a:avLst/>
          </a:prstGeom>
          <a:noFill/>
          <a:ln w="0">
            <a:noFill/>
          </a:ln>
        </p:spPr>
        <p:txBody>
          <a:bodyPr>
            <a:noAutofit/>
          </a:bodyPr>
          <a:lstStyle/>
          <a:p>
            <a:pPr>
              <a:defRPr sz="1200" b="0">
                <a:solidFill>
                  <a:srgbClr val="5B676A"/>
                </a:solidFill>
                <a:latin typeface="Helvetica Neue"/>
                <a:ea typeface="Helvetica Neue"/>
                <a:cs typeface="Helvetica Neue"/>
              </a:defRPr>
            </a:pPr>
            <a:r>
              <a:rPr sz="1200" b="0">
                <a:solidFill>
                  <a:srgbClr val="5B676A"/>
                </a:solidFill>
                <a:latin typeface="Helvetica Neue"/>
                <a:ea typeface="Helvetica Neue"/>
                <a:cs typeface="Helvetica Neue"/>
              </a:rPr>
              <a:t>06</a:t>
            </a:r>
          </a:p>
        </p:txBody>
      </p:sp>
    </p:spTree>
    <p:extLst>
      <p:ext uri="{BB962C8B-B14F-4D97-AF65-F5344CB8AC3E}">
        <p14:creationId xmlns:p14="http://schemas.microsoft.com/office/powerpoint/2010/main" val="18080573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AC7F568-576C-471E-909A-7E966554E717}"/>
              </a:ext>
            </a:extLst>
          </p:cNvPr>
          <p:cNvSpPr>
            <a:spLocks noGrp="1"/>
          </p:cNvSpPr>
          <p:nvPr/>
        </p:nvSpPr>
        <p:spPr>
          <a:xfrm>
            <a:off x="590550" y="438150"/>
            <a:ext cx="11010900" cy="1038225"/>
          </a:xfrm>
          <a:prstGeom prst="rect">
            <a:avLst/>
          </a:prstGeom>
          <a:noFill/>
          <a:ln w="0">
            <a:noFill/>
          </a:ln>
        </p:spPr>
        <p:txBody>
          <a:bodyPr>
            <a:noAutofit/>
          </a:bodyPr>
          <a:lstStyle/>
          <a:p>
            <a:pPr>
              <a:defRPr sz="3450" b="1">
                <a:solidFill>
                  <a:srgbClr val="243136"/>
                </a:solidFill>
                <a:latin typeface="Helvetica Neue"/>
                <a:ea typeface="Helvetica Neue"/>
                <a:cs typeface="Helvetica Neue"/>
              </a:defRPr>
            </a:pPr>
            <a:r>
              <a:rPr sz="3450" b="1">
                <a:solidFill>
                  <a:srgbClr val="243136"/>
                </a:solidFill>
                <a:latin typeface="Helvetica Neue"/>
                <a:ea typeface="Helvetica Neue"/>
                <a:cs typeface="Helvetica Neue"/>
              </a:rPr>
              <a:t>Locust Walk is an ordered line</a:t>
            </a:r>
          </a:p>
        </p:txBody>
      </p:sp>
      <p:pic>
        <p:nvPicPr>
          <p:cNvPr id="7" name="Picture 6"/>
          <p:cNvPicPr>
            <a:picLocks noChangeAspect="1"/>
          </p:cNvPicPr>
          <p:nvPr/>
        </p:nvPicPr>
        <p:blipFill>
          <a:blip r:embed="rId3"/>
          <a:stretch/>
        </p:blipFill>
        <p:spPr>
          <a:xfrm>
            <a:off x="2048933" y="1504950"/>
            <a:ext cx="8094133" cy="4552950"/>
          </a:xfrm>
          <a:prstGeom prst="rect">
            <a:avLst/>
          </a:prstGeom>
        </p:spPr>
      </p:pic>
      <p:sp>
        <p:nvSpPr>
          <p:cNvPr id="3" name="Rectangle 2">
            <a:extLst>
              <a:ext uri="{FF2B5EF4-FFF2-40B4-BE49-F238E27FC236}">
                <a16:creationId xmlns:a16="http://schemas.microsoft.com/office/drawing/2014/main" id="{5E8F9D16-2976-4D52-885E-E0C28F32FACE}"/>
              </a:ext>
            </a:extLst>
          </p:cNvPr>
          <p:cNvSpPr>
            <a:spLocks noGrp="1"/>
          </p:cNvSpPr>
          <p:nvPr/>
        </p:nvSpPr>
        <p:spPr>
          <a:xfrm>
            <a:off x="609600" y="6143625"/>
            <a:ext cx="10839450" cy="476250"/>
          </a:xfrm>
          <a:prstGeom prst="rect">
            <a:avLst/>
          </a:prstGeom>
          <a:noFill/>
          <a:ln w="0">
            <a:noFill/>
          </a:ln>
        </p:spPr>
        <p:txBody>
          <a:bodyPr>
            <a:noAutofit/>
          </a:bodyPr>
          <a:lstStyle/>
          <a:p>
            <a:pPr>
              <a:defRPr sz="1800" b="0">
                <a:solidFill>
                  <a:srgbClr val="243136"/>
                </a:solidFill>
                <a:latin typeface="Helvetica Neue"/>
                <a:ea typeface="Helvetica Neue"/>
                <a:cs typeface="Helvetica Neue"/>
              </a:defRPr>
            </a:pPr>
            <a:r>
              <a:rPr sz="1800" b="0">
                <a:solidFill>
                  <a:srgbClr val="243136"/>
                </a:solidFill>
                <a:latin typeface="Helvetica Neue"/>
                <a:ea typeface="Helvetica Neue"/>
                <a:cs typeface="Helvetica Neue"/>
              </a:rPr>
              <a:t>The highlighted way carries a pedestrian tag.</a:t>
            </a:r>
          </a:p>
        </p:txBody>
      </p:sp>
      <p:sp>
        <p:nvSpPr>
          <p:cNvPr id="4" name="Rectangle 3">
            <a:extLst>
              <a:ext uri="{FF2B5EF4-FFF2-40B4-BE49-F238E27FC236}">
                <a16:creationId xmlns:a16="http://schemas.microsoft.com/office/drawing/2014/main" id="{2604F005-2DFA-4071-8228-5FA6839F058A}"/>
              </a:ext>
            </a:extLst>
          </p:cNvPr>
          <p:cNvSpPr>
            <a:spLocks noGrp="1"/>
          </p:cNvSpPr>
          <p:nvPr/>
        </p:nvSpPr>
        <p:spPr>
          <a:xfrm>
            <a:off x="619125" y="6581775"/>
            <a:ext cx="5334000" cy="228600"/>
          </a:xfrm>
          <a:prstGeom prst="rect">
            <a:avLst/>
          </a:prstGeom>
          <a:noFill/>
          <a:ln w="0">
            <a:noFill/>
          </a:ln>
        </p:spPr>
        <p:txBody>
          <a:bodyPr>
            <a:noAutofit/>
          </a:bodyPr>
          <a:lstStyle/>
          <a:p>
            <a:pPr>
              <a:defRPr sz="1125" b="0">
                <a:solidFill>
                  <a:srgbClr val="5B676A"/>
                </a:solidFill>
                <a:latin typeface="Helvetica Neue"/>
                <a:ea typeface="Helvetica Neue"/>
                <a:cs typeface="Helvetica Neue"/>
              </a:defRPr>
            </a:pPr>
            <a:r>
              <a:rPr sz="1125" b="0">
                <a:solidFill>
                  <a:srgbClr val="5B676A"/>
                </a:solidFill>
                <a:latin typeface="Helvetica Neue"/>
                <a:ea typeface="Helvetica Neue"/>
                <a:cs typeface="Helvetica Neue"/>
              </a:rPr>
              <a:t>© OpenStreetMap contributors</a:t>
            </a:r>
          </a:p>
        </p:txBody>
      </p:sp>
      <p:sp>
        <p:nvSpPr>
          <p:cNvPr id="5" name="Rectangle 4">
            <a:extLst>
              <a:ext uri="{FF2B5EF4-FFF2-40B4-BE49-F238E27FC236}">
                <a16:creationId xmlns:a16="http://schemas.microsoft.com/office/drawing/2014/main" id="{5FA697AC-AE7F-443E-9C7F-C19149B03E20}"/>
              </a:ext>
            </a:extLst>
          </p:cNvPr>
          <p:cNvSpPr>
            <a:spLocks noGrp="1"/>
          </p:cNvSpPr>
          <p:nvPr/>
        </p:nvSpPr>
        <p:spPr>
          <a:xfrm>
            <a:off x="11591925" y="6515100"/>
            <a:ext cx="428625" cy="257175"/>
          </a:xfrm>
          <a:prstGeom prst="rect">
            <a:avLst/>
          </a:prstGeom>
          <a:noFill/>
          <a:ln w="0">
            <a:noFill/>
          </a:ln>
        </p:spPr>
        <p:txBody>
          <a:bodyPr>
            <a:noAutofit/>
          </a:bodyPr>
          <a:lstStyle/>
          <a:p>
            <a:pPr>
              <a:defRPr sz="1200" b="0">
                <a:solidFill>
                  <a:srgbClr val="5B676A"/>
                </a:solidFill>
                <a:latin typeface="Helvetica Neue"/>
                <a:ea typeface="Helvetica Neue"/>
                <a:cs typeface="Helvetica Neue"/>
              </a:defRPr>
            </a:pPr>
            <a:r>
              <a:rPr sz="1200" b="0">
                <a:solidFill>
                  <a:srgbClr val="5B676A"/>
                </a:solidFill>
                <a:latin typeface="Helvetica Neue"/>
                <a:ea typeface="Helvetica Neue"/>
                <a:cs typeface="Helvetica Neue"/>
              </a:rPr>
              <a:t>07</a:t>
            </a:r>
          </a:p>
        </p:txBody>
      </p:sp>
    </p:spTree>
    <p:extLst>
      <p:ext uri="{BB962C8B-B14F-4D97-AF65-F5344CB8AC3E}">
        <p14:creationId xmlns:p14="http://schemas.microsoft.com/office/powerpoint/2010/main" val="3554180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EB954DD-0BE5-4FE4-AD51-550B8E1698F2}"/>
              </a:ext>
            </a:extLst>
          </p:cNvPr>
          <p:cNvSpPr>
            <a:spLocks noGrp="1"/>
          </p:cNvSpPr>
          <p:nvPr/>
        </p:nvSpPr>
        <p:spPr>
          <a:xfrm>
            <a:off x="590550" y="438150"/>
            <a:ext cx="11010900" cy="1038225"/>
          </a:xfrm>
          <a:prstGeom prst="rect">
            <a:avLst/>
          </a:prstGeom>
          <a:noFill/>
          <a:ln w="0">
            <a:noFill/>
          </a:ln>
        </p:spPr>
        <p:txBody>
          <a:bodyPr>
            <a:noAutofit/>
          </a:bodyPr>
          <a:lstStyle/>
          <a:p>
            <a:pPr>
              <a:defRPr sz="3450" b="1">
                <a:solidFill>
                  <a:srgbClr val="243136"/>
                </a:solidFill>
                <a:latin typeface="Helvetica Neue"/>
                <a:ea typeface="Helvetica Neue"/>
                <a:cs typeface="Helvetica Neue"/>
              </a:defRPr>
            </a:pPr>
            <a:r>
              <a:rPr sz="3450" b="1">
                <a:solidFill>
                  <a:srgbClr val="243136"/>
                </a:solidFill>
                <a:latin typeface="Helvetica Neue"/>
                <a:ea typeface="Helvetica Neue"/>
                <a:cs typeface="Helvetica Neue"/>
              </a:rPr>
              <a:t>A relation groups existing objects</a:t>
            </a:r>
          </a:p>
        </p:txBody>
      </p:sp>
      <p:sp>
        <p:nvSpPr>
          <p:cNvPr id="2" name="Rectangle 1">
            <a:extLst>
              <a:ext uri="{FF2B5EF4-FFF2-40B4-BE49-F238E27FC236}">
                <a16:creationId xmlns:a16="http://schemas.microsoft.com/office/drawing/2014/main" id="{41E93567-8453-4E86-B4D0-07EC2DB6E67C}"/>
              </a:ext>
            </a:extLst>
          </p:cNvPr>
          <p:cNvSpPr>
            <a:spLocks noGrp="1"/>
          </p:cNvSpPr>
          <p:nvPr/>
        </p:nvSpPr>
        <p:spPr>
          <a:xfrm>
            <a:off x="609600" y="2076450"/>
            <a:ext cx="10477500" cy="1828800"/>
          </a:xfrm>
          <a:prstGeom prst="rect">
            <a:avLst/>
          </a:prstGeom>
          <a:noFill/>
          <a:ln w="0">
            <a:noFill/>
          </a:ln>
        </p:spPr>
        <p:txBody>
          <a:bodyPr>
            <a:noAutofit/>
          </a:bodyPr>
          <a:lstStyle/>
          <a:p>
            <a:pPr>
              <a:defRPr sz="4050" b="1">
                <a:solidFill>
                  <a:srgbClr val="227C9D"/>
                </a:solidFill>
                <a:latin typeface="Helvetica Neue"/>
                <a:ea typeface="Helvetica Neue"/>
                <a:cs typeface="Helvetica Neue"/>
              </a:defRPr>
            </a:pPr>
            <a:r>
              <a:rPr sz="4050" b="1">
                <a:solidFill>
                  <a:srgbClr val="227C9D"/>
                </a:solidFill>
                <a:latin typeface="Helvetica Neue"/>
                <a:ea typeface="Helvetica Neue"/>
                <a:cs typeface="Helvetica Neue"/>
              </a:rPr>
              <a:t>One transit route can contain many ways and stops.</a:t>
            </a:r>
          </a:p>
        </p:txBody>
      </p:sp>
      <p:sp>
        <p:nvSpPr>
          <p:cNvPr id="3" name="Rectangle 2">
            <a:extLst>
              <a:ext uri="{FF2B5EF4-FFF2-40B4-BE49-F238E27FC236}">
                <a16:creationId xmlns:a16="http://schemas.microsoft.com/office/drawing/2014/main" id="{940E2B69-C7FC-4DE8-AF37-CE296C1FD07E}"/>
              </a:ext>
            </a:extLst>
          </p:cNvPr>
          <p:cNvSpPr>
            <a:spLocks noGrp="1"/>
          </p:cNvSpPr>
          <p:nvPr/>
        </p:nvSpPr>
        <p:spPr>
          <a:xfrm>
            <a:off x="638175" y="4752975"/>
            <a:ext cx="10191750" cy="1152525"/>
          </a:xfrm>
          <a:prstGeom prst="rect">
            <a:avLst/>
          </a:prstGeom>
          <a:noFill/>
          <a:ln w="0">
            <a:noFill/>
          </a:ln>
        </p:spPr>
        <p:txBody>
          <a:bodyPr>
            <a:noAutofit/>
          </a:bodyPr>
          <a:lstStyle/>
          <a:p>
            <a:pPr>
              <a:defRPr sz="2325" b="0">
                <a:solidFill>
                  <a:srgbClr val="243136"/>
                </a:solidFill>
                <a:latin typeface="Helvetica Neue"/>
                <a:ea typeface="Helvetica Neue"/>
                <a:cs typeface="Helvetica Neue"/>
              </a:defRPr>
            </a:pPr>
            <a:r>
              <a:rPr sz="2325" b="0">
                <a:solidFill>
                  <a:srgbClr val="243136"/>
                </a:solidFill>
                <a:latin typeface="Helvetica Neue"/>
                <a:ea typeface="Helvetica Neue"/>
                <a:cs typeface="Helvetica Neue"/>
              </a:rPr>
              <a:t>The relation records how those objects belong together.</a:t>
            </a:r>
          </a:p>
        </p:txBody>
      </p:sp>
      <p:sp>
        <p:nvSpPr>
          <p:cNvPr id="4" name="Rectangle 3">
            <a:extLst>
              <a:ext uri="{FF2B5EF4-FFF2-40B4-BE49-F238E27FC236}">
                <a16:creationId xmlns:a16="http://schemas.microsoft.com/office/drawing/2014/main" id="{4275FCED-8714-4FE3-B0E2-572506C8E1BE}"/>
              </a:ext>
            </a:extLst>
          </p:cNvPr>
          <p:cNvSpPr>
            <a:spLocks noGrp="1"/>
          </p:cNvSpPr>
          <p:nvPr/>
        </p:nvSpPr>
        <p:spPr>
          <a:xfrm>
            <a:off x="11591925" y="6515100"/>
            <a:ext cx="428625" cy="257175"/>
          </a:xfrm>
          <a:prstGeom prst="rect">
            <a:avLst/>
          </a:prstGeom>
          <a:noFill/>
          <a:ln w="0">
            <a:noFill/>
          </a:ln>
        </p:spPr>
        <p:txBody>
          <a:bodyPr>
            <a:noAutofit/>
          </a:bodyPr>
          <a:lstStyle/>
          <a:p>
            <a:pPr>
              <a:defRPr sz="1200" b="0">
                <a:solidFill>
                  <a:srgbClr val="5B676A"/>
                </a:solidFill>
                <a:latin typeface="Helvetica Neue"/>
                <a:ea typeface="Helvetica Neue"/>
                <a:cs typeface="Helvetica Neue"/>
              </a:defRPr>
            </a:pPr>
            <a:r>
              <a:rPr sz="1200" b="0">
                <a:solidFill>
                  <a:srgbClr val="5B676A"/>
                </a:solidFill>
                <a:latin typeface="Helvetica Neue"/>
                <a:ea typeface="Helvetica Neue"/>
                <a:cs typeface="Helvetica Neue"/>
              </a:rPr>
              <a:t>08</a:t>
            </a:r>
          </a:p>
        </p:txBody>
      </p:sp>
    </p:spTree>
    <p:extLst>
      <p:ext uri="{BB962C8B-B14F-4D97-AF65-F5344CB8AC3E}">
        <p14:creationId xmlns:p14="http://schemas.microsoft.com/office/powerpoint/2010/main" val="5063400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41F7103-3D17-4A55-9E58-4057F1EC63F8}"/>
              </a:ext>
            </a:extLst>
          </p:cNvPr>
          <p:cNvSpPr>
            <a:spLocks noGrp="1"/>
          </p:cNvSpPr>
          <p:nvPr/>
        </p:nvSpPr>
        <p:spPr>
          <a:xfrm>
            <a:off x="590550" y="438150"/>
            <a:ext cx="11010900" cy="1038225"/>
          </a:xfrm>
          <a:prstGeom prst="rect">
            <a:avLst/>
          </a:prstGeom>
          <a:noFill/>
          <a:ln w="0">
            <a:noFill/>
          </a:ln>
        </p:spPr>
        <p:txBody>
          <a:bodyPr>
            <a:noAutofit/>
          </a:bodyPr>
          <a:lstStyle/>
          <a:p>
            <a:pPr>
              <a:defRPr sz="3450" b="1">
                <a:solidFill>
                  <a:srgbClr val="243136"/>
                </a:solidFill>
                <a:latin typeface="Helvetica Neue"/>
                <a:ea typeface="Helvetica Neue"/>
                <a:cs typeface="Helvetica Neue"/>
              </a:defRPr>
            </a:pPr>
            <a:r>
              <a:rPr sz="3450" b="1">
                <a:solidFill>
                  <a:srgbClr val="243136"/>
                </a:solidFill>
                <a:latin typeface="Helvetica Neue"/>
                <a:ea typeface="Helvetica Neue"/>
                <a:cs typeface="Helvetica Neue"/>
              </a:rPr>
              <a:t>Tags turn geometry into meaning</a:t>
            </a:r>
          </a:p>
        </p:txBody>
      </p:sp>
      <p:graphicFrame>
        <p:nvGraphicFramePr>
          <p:cNvPr id="6" name="Table 5"/>
          <p:cNvGraphicFramePr/>
          <p:nvPr/>
        </p:nvGraphicFramePr>
        <p:xfrm>
          <a:off x="762000" y="1676400"/>
          <a:ext cx="7429500" cy="3810000"/>
        </p:xfrm>
        <a:graphic>
          <a:graphicData uri="http://schemas.openxmlformats.org/drawingml/2006/table">
            <a:tbl>
              <a:tblPr/>
              <a:tblGrid>
                <a:gridCol w="323850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tblGrid>
              <a:tr h="762000">
                <a:tc>
                  <a:txBody>
                    <a:bodyPr/>
                    <a:lstStyle/>
                    <a:p>
                      <a:r>
                        <a:rPr sz="2100" b="1">
                          <a:solidFill>
                            <a:srgbClr val="FFFFFF"/>
                          </a:solidFill>
                          <a:latin typeface="Helvetica Neue"/>
                          <a:ea typeface="Helvetica Neue"/>
                          <a:cs typeface="Helvetica Neue"/>
                        </a:rPr>
                        <a:t>Key</a:t>
                      </a:r>
                    </a:p>
                  </a:txBody>
                  <a:tcPr>
                    <a:solidFill>
                      <a:srgbClr val="243136"/>
                    </a:solidFill>
                  </a:tcPr>
                </a:tc>
                <a:tc>
                  <a:txBody>
                    <a:bodyPr/>
                    <a:lstStyle/>
                    <a:p>
                      <a:r>
                        <a:rPr sz="2100" b="1">
                          <a:solidFill>
                            <a:srgbClr val="FFFFFF"/>
                          </a:solidFill>
                          <a:latin typeface="Helvetica Neue"/>
                          <a:ea typeface="Helvetica Neue"/>
                          <a:cs typeface="Helvetica Neue"/>
                        </a:rPr>
                        <a:t>Value</a:t>
                      </a:r>
                    </a:p>
                  </a:txBody>
                  <a:tcPr>
                    <a:solidFill>
                      <a:srgbClr val="243136"/>
                    </a:solidFill>
                  </a:tcPr>
                </a:tc>
                <a:extLst>
                  <a:ext uri="{0D108BD9-81ED-4DB2-BD59-A6C34878D82A}">
                    <a16:rowId xmlns:a16="http://schemas.microsoft.com/office/drawing/2014/main" val="10000"/>
                  </a:ext>
                </a:extLst>
              </a:tr>
              <a:tr h="762000">
                <a:tc>
                  <a:txBody>
                    <a:bodyPr/>
                    <a:lstStyle/>
                    <a:p>
                      <a:r>
                        <a:rPr sz="2100" b="0">
                          <a:solidFill>
                            <a:srgbClr val="243136"/>
                          </a:solidFill>
                          <a:latin typeface="Helvetica Neue"/>
                          <a:ea typeface="Helvetica Neue"/>
                          <a:cs typeface="Helvetica Neue"/>
                        </a:rPr>
                        <a:t>name</a:t>
                      </a:r>
                    </a:p>
                  </a:txBody>
                  <a:tcPr>
                    <a:solidFill>
                      <a:srgbClr val="F6F3EC"/>
                    </a:solidFill>
                  </a:tcPr>
                </a:tc>
                <a:tc>
                  <a:txBody>
                    <a:bodyPr/>
                    <a:lstStyle/>
                    <a:p>
                      <a:r>
                        <a:rPr sz="2100" b="0">
                          <a:solidFill>
                            <a:srgbClr val="243136"/>
                          </a:solidFill>
                          <a:latin typeface="Helvetica Neue"/>
                          <a:ea typeface="Helvetica Neue"/>
                          <a:cs typeface="Helvetica Neue"/>
                        </a:rPr>
                        <a:t>Locust Walk</a:t>
                      </a:r>
                    </a:p>
                  </a:txBody>
                  <a:tcPr>
                    <a:solidFill>
                      <a:srgbClr val="F6F3EC"/>
                    </a:solidFill>
                  </a:tcPr>
                </a:tc>
                <a:extLst>
                  <a:ext uri="{0D108BD9-81ED-4DB2-BD59-A6C34878D82A}">
                    <a16:rowId xmlns:a16="http://schemas.microsoft.com/office/drawing/2014/main" val="10001"/>
                  </a:ext>
                </a:extLst>
              </a:tr>
              <a:tr h="762000">
                <a:tc>
                  <a:txBody>
                    <a:bodyPr/>
                    <a:lstStyle/>
                    <a:p>
                      <a:r>
                        <a:rPr sz="2100" b="0">
                          <a:solidFill>
                            <a:srgbClr val="243136"/>
                          </a:solidFill>
                          <a:latin typeface="Helvetica Neue"/>
                          <a:ea typeface="Helvetica Neue"/>
                          <a:cs typeface="Helvetica Neue"/>
                        </a:rPr>
                        <a:t>highway</a:t>
                      </a:r>
                    </a:p>
                  </a:txBody>
                  <a:tcPr>
                    <a:solidFill>
                      <a:srgbClr val="FFFFFF"/>
                    </a:solidFill>
                  </a:tcPr>
                </a:tc>
                <a:tc>
                  <a:txBody>
                    <a:bodyPr/>
                    <a:lstStyle/>
                    <a:p>
                      <a:r>
                        <a:rPr sz="2100" b="0">
                          <a:solidFill>
                            <a:srgbClr val="243136"/>
                          </a:solidFill>
                          <a:latin typeface="Helvetica Neue"/>
                          <a:ea typeface="Helvetica Neue"/>
                          <a:cs typeface="Helvetica Neue"/>
                        </a:rPr>
                        <a:t>pedestrian</a:t>
                      </a:r>
                    </a:p>
                  </a:txBody>
                  <a:tcPr>
                    <a:solidFill>
                      <a:srgbClr val="FFFFFF"/>
                    </a:solidFill>
                  </a:tcPr>
                </a:tc>
                <a:extLst>
                  <a:ext uri="{0D108BD9-81ED-4DB2-BD59-A6C34878D82A}">
                    <a16:rowId xmlns:a16="http://schemas.microsoft.com/office/drawing/2014/main" val="10002"/>
                  </a:ext>
                </a:extLst>
              </a:tr>
              <a:tr h="762000">
                <a:tc>
                  <a:txBody>
                    <a:bodyPr/>
                    <a:lstStyle/>
                    <a:p>
                      <a:r>
                        <a:rPr sz="2100" b="0">
                          <a:solidFill>
                            <a:srgbClr val="243136"/>
                          </a:solidFill>
                          <a:latin typeface="Helvetica Neue"/>
                          <a:ea typeface="Helvetica Neue"/>
                          <a:cs typeface="Helvetica Neue"/>
                        </a:rPr>
                        <a:t>motor_vehicle</a:t>
                      </a:r>
                    </a:p>
                  </a:txBody>
                  <a:tcPr>
                    <a:solidFill>
                      <a:srgbClr val="F6F3EC"/>
                    </a:solidFill>
                  </a:tcPr>
                </a:tc>
                <a:tc>
                  <a:txBody>
                    <a:bodyPr/>
                    <a:lstStyle/>
                    <a:p>
                      <a:r>
                        <a:rPr sz="2100" b="0">
                          <a:solidFill>
                            <a:srgbClr val="243136"/>
                          </a:solidFill>
                          <a:latin typeface="Helvetica Neue"/>
                          <a:ea typeface="Helvetica Neue"/>
                          <a:cs typeface="Helvetica Neue"/>
                        </a:rPr>
                        <a:t>no</a:t>
                      </a:r>
                    </a:p>
                  </a:txBody>
                  <a:tcPr>
                    <a:solidFill>
                      <a:srgbClr val="F6F3EC"/>
                    </a:solidFill>
                  </a:tcPr>
                </a:tc>
                <a:extLst>
                  <a:ext uri="{0D108BD9-81ED-4DB2-BD59-A6C34878D82A}">
                    <a16:rowId xmlns:a16="http://schemas.microsoft.com/office/drawing/2014/main" val="10003"/>
                  </a:ext>
                </a:extLst>
              </a:tr>
              <a:tr h="762000">
                <a:tc>
                  <a:txBody>
                    <a:bodyPr/>
                    <a:lstStyle/>
                    <a:p>
                      <a:r>
                        <a:rPr sz="2100" b="0">
                          <a:solidFill>
                            <a:srgbClr val="243136"/>
                          </a:solidFill>
                          <a:latin typeface="Helvetica Neue"/>
                          <a:ea typeface="Helvetica Neue"/>
                          <a:cs typeface="Helvetica Neue"/>
                        </a:rPr>
                        <a:t>surface</a:t>
                      </a:r>
                    </a:p>
                  </a:txBody>
                  <a:tcPr>
                    <a:solidFill>
                      <a:srgbClr val="FFFFFF"/>
                    </a:solidFill>
                  </a:tcPr>
                </a:tc>
                <a:tc>
                  <a:txBody>
                    <a:bodyPr/>
                    <a:lstStyle/>
                    <a:p>
                      <a:r>
                        <a:rPr sz="2100" b="0">
                          <a:solidFill>
                            <a:srgbClr val="243136"/>
                          </a:solidFill>
                          <a:latin typeface="Helvetica Neue"/>
                          <a:ea typeface="Helvetica Neue"/>
                          <a:cs typeface="Helvetica Neue"/>
                        </a:rPr>
                        <a:t>sett</a:t>
                      </a:r>
                    </a:p>
                  </a:txBody>
                  <a:tcPr>
                    <a:solidFill>
                      <a:srgbClr val="FFFFFF"/>
                    </a:solidFill>
                  </a:tcPr>
                </a:tc>
                <a:extLst>
                  <a:ext uri="{0D108BD9-81ED-4DB2-BD59-A6C34878D82A}">
                    <a16:rowId xmlns:a16="http://schemas.microsoft.com/office/drawing/2014/main" val="10004"/>
                  </a:ext>
                </a:extLst>
              </a:tr>
            </a:tbl>
          </a:graphicData>
        </a:graphic>
      </p:graphicFrame>
      <p:sp>
        <p:nvSpPr>
          <p:cNvPr id="3" name="Rectangle 2">
            <a:extLst>
              <a:ext uri="{FF2B5EF4-FFF2-40B4-BE49-F238E27FC236}">
                <a16:creationId xmlns:a16="http://schemas.microsoft.com/office/drawing/2014/main" id="{FD7B45FA-9BAE-4D4D-A512-81A420C267A5}"/>
              </a:ext>
            </a:extLst>
          </p:cNvPr>
          <p:cNvSpPr>
            <a:spLocks noGrp="1"/>
          </p:cNvSpPr>
          <p:nvPr/>
        </p:nvSpPr>
        <p:spPr>
          <a:xfrm>
            <a:off x="8705850" y="2571750"/>
            <a:ext cx="2857500" cy="1952625"/>
          </a:xfrm>
          <a:prstGeom prst="rect">
            <a:avLst/>
          </a:prstGeom>
          <a:noFill/>
          <a:ln w="0">
            <a:noFill/>
          </a:ln>
        </p:spPr>
        <p:txBody>
          <a:bodyPr>
            <a:noAutofit/>
          </a:bodyPr>
          <a:lstStyle/>
          <a:p>
            <a:pPr>
              <a:defRPr sz="2625" b="1">
                <a:solidFill>
                  <a:srgbClr val="227C9D"/>
                </a:solidFill>
                <a:latin typeface="Helvetica Neue"/>
                <a:ea typeface="Helvetica Neue"/>
                <a:cs typeface="Helvetica Neue"/>
              </a:defRPr>
            </a:pPr>
            <a:r>
              <a:rPr sz="2625" b="1">
                <a:solidFill>
                  <a:srgbClr val="227C9D"/>
                </a:solidFill>
                <a:latin typeface="Helvetica Neue"/>
                <a:ea typeface="Helvetica Neue"/>
                <a:cs typeface="Helvetica Neue"/>
              </a:rPr>
              <a:t>Which tag explains</a:t>
            </a:r>
          </a:p>
          <a:p>
            <a:pPr>
              <a:defRPr sz="2625" b="1">
                <a:solidFill>
                  <a:srgbClr val="227C9D"/>
                </a:solidFill>
                <a:latin typeface="Helvetica Neue"/>
                <a:ea typeface="Helvetica Neue"/>
                <a:cs typeface="Helvetica Neue"/>
              </a:defRPr>
            </a:pPr>
            <a:r>
              <a:rPr sz="2625" b="1">
                <a:solidFill>
                  <a:srgbClr val="227C9D"/>
                </a:solidFill>
                <a:latin typeface="Helvetica Neue"/>
                <a:ea typeface="Helvetica Neue"/>
                <a:cs typeface="Helvetica Neue"/>
              </a:rPr>
              <a:t>who can use</a:t>
            </a:r>
          </a:p>
          <a:p>
            <a:pPr>
              <a:defRPr sz="2625" b="1">
                <a:solidFill>
                  <a:srgbClr val="227C9D"/>
                </a:solidFill>
                <a:latin typeface="Helvetica Neue"/>
                <a:ea typeface="Helvetica Neue"/>
                <a:cs typeface="Helvetica Neue"/>
              </a:defRPr>
            </a:pPr>
            <a:r>
              <a:rPr sz="2625" b="1">
                <a:solidFill>
                  <a:srgbClr val="227C9D"/>
                </a:solidFill>
                <a:latin typeface="Helvetica Neue"/>
                <a:ea typeface="Helvetica Neue"/>
                <a:cs typeface="Helvetica Neue"/>
              </a:rPr>
              <a:t>this path?</a:t>
            </a:r>
          </a:p>
        </p:txBody>
      </p:sp>
      <p:sp>
        <p:nvSpPr>
          <p:cNvPr id="4" name="Rectangle 3">
            <a:extLst>
              <a:ext uri="{FF2B5EF4-FFF2-40B4-BE49-F238E27FC236}">
                <a16:creationId xmlns:a16="http://schemas.microsoft.com/office/drawing/2014/main" id="{80ABD06F-3910-4AA0-9BDF-F78228085C00}"/>
              </a:ext>
            </a:extLst>
          </p:cNvPr>
          <p:cNvSpPr>
            <a:spLocks noGrp="1"/>
          </p:cNvSpPr>
          <p:nvPr/>
        </p:nvSpPr>
        <p:spPr>
          <a:xfrm>
            <a:off x="11591925" y="6515100"/>
            <a:ext cx="428625" cy="257175"/>
          </a:xfrm>
          <a:prstGeom prst="rect">
            <a:avLst/>
          </a:prstGeom>
          <a:noFill/>
          <a:ln w="0">
            <a:noFill/>
          </a:ln>
        </p:spPr>
        <p:txBody>
          <a:bodyPr>
            <a:noAutofit/>
          </a:bodyPr>
          <a:lstStyle/>
          <a:p>
            <a:pPr>
              <a:defRPr sz="1200" b="0">
                <a:solidFill>
                  <a:srgbClr val="5B676A"/>
                </a:solidFill>
                <a:latin typeface="Helvetica Neue"/>
                <a:ea typeface="Helvetica Neue"/>
                <a:cs typeface="Helvetica Neue"/>
              </a:defRPr>
            </a:pPr>
            <a:r>
              <a:rPr sz="1200" b="0">
                <a:solidFill>
                  <a:srgbClr val="5B676A"/>
                </a:solidFill>
                <a:latin typeface="Helvetica Neue"/>
                <a:ea typeface="Helvetica Neue"/>
                <a:cs typeface="Helvetica Neue"/>
              </a:rPr>
              <a:t>09</a:t>
            </a:r>
          </a:p>
        </p:txBody>
      </p:sp>
    </p:spTree>
    <p:extLst>
      <p:ext uri="{BB962C8B-B14F-4D97-AF65-F5344CB8AC3E}">
        <p14:creationId xmlns:p14="http://schemas.microsoft.com/office/powerpoint/2010/main" val="20688414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43136"/>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4CD86BC-7515-4086-B320-FBC46979C1C5}"/>
              </a:ext>
            </a:extLst>
          </p:cNvPr>
          <p:cNvSpPr>
            <a:spLocks noGrp="1"/>
          </p:cNvSpPr>
          <p:nvPr/>
        </p:nvSpPr>
        <p:spPr>
          <a:xfrm>
            <a:off x="590550" y="438150"/>
            <a:ext cx="11010900" cy="1038225"/>
          </a:xfrm>
          <a:prstGeom prst="rect">
            <a:avLst/>
          </a:prstGeom>
          <a:noFill/>
          <a:ln w="0">
            <a:noFill/>
          </a:ln>
        </p:spPr>
        <p:txBody>
          <a:bodyPr>
            <a:noAutofit/>
          </a:bodyPr>
          <a:lstStyle/>
          <a:p>
            <a:pPr>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What might the map miss?</a:t>
            </a:r>
          </a:p>
        </p:txBody>
      </p:sp>
      <p:sp>
        <p:nvSpPr>
          <p:cNvPr id="2" name="Rectangle 1">
            <a:extLst>
              <a:ext uri="{FF2B5EF4-FFF2-40B4-BE49-F238E27FC236}">
                <a16:creationId xmlns:a16="http://schemas.microsoft.com/office/drawing/2014/main" id="{89D586D4-63C6-4D19-918F-051705ED0F96}"/>
              </a:ext>
            </a:extLst>
          </p:cNvPr>
          <p:cNvSpPr>
            <a:spLocks noGrp="1"/>
          </p:cNvSpPr>
          <p:nvPr/>
        </p:nvSpPr>
        <p:spPr>
          <a:xfrm>
            <a:off x="628650" y="2143125"/>
            <a:ext cx="10668000" cy="2476500"/>
          </a:xfrm>
          <a:prstGeom prst="rect">
            <a:avLst/>
          </a:prstGeom>
          <a:noFill/>
          <a:ln w="0">
            <a:noFill/>
          </a:ln>
        </p:spPr>
        <p:txBody>
          <a:bodyPr>
            <a:noAutofit/>
          </a:bodyPr>
          <a:lstStyle/>
          <a:p>
            <a:pPr>
              <a:defRPr sz="3825" b="0">
                <a:solidFill>
                  <a:srgbClr val="FFFFFF"/>
                </a:solidFill>
                <a:latin typeface="Helvetica Neue"/>
                <a:ea typeface="Helvetica Neue"/>
                <a:cs typeface="Helvetica Neue"/>
              </a:defRPr>
            </a:pPr>
            <a:r>
              <a:rPr sz="3825" b="0">
                <a:solidFill>
                  <a:srgbClr val="FFFFFF"/>
                </a:solidFill>
                <a:latin typeface="Helvetica Neue"/>
                <a:ea typeface="Helvetica Neue"/>
                <a:cs typeface="Helvetica Neue"/>
              </a:rPr>
              <a:t>A missing footpath.</a:t>
            </a:r>
          </a:p>
          <a:p>
            <a:pPr>
              <a:defRPr sz="3825" b="0">
                <a:solidFill>
                  <a:srgbClr val="FFFFFF"/>
                </a:solidFill>
                <a:latin typeface="Helvetica Neue"/>
                <a:ea typeface="Helvetica Neue"/>
                <a:cs typeface="Helvetica Neue"/>
              </a:defRPr>
            </a:pPr>
            <a:r>
              <a:rPr sz="3825" b="0">
                <a:solidFill>
                  <a:srgbClr val="FFFFFF"/>
                </a:solidFill>
                <a:latin typeface="Helvetica Neue"/>
                <a:ea typeface="Helvetica Neue"/>
                <a:cs typeface="Helvetica Neue"/>
              </a:rPr>
              <a:t>A closed entrance.</a:t>
            </a:r>
          </a:p>
          <a:p>
            <a:pPr>
              <a:defRPr sz="3825" b="0">
                <a:solidFill>
                  <a:srgbClr val="FFFFFF"/>
                </a:solidFill>
                <a:latin typeface="Helvetica Neue"/>
                <a:ea typeface="Helvetica Neue"/>
                <a:cs typeface="Helvetica Neue"/>
              </a:defRPr>
            </a:pPr>
            <a:r>
              <a:rPr sz="3825" b="0">
                <a:solidFill>
                  <a:srgbClr val="FFFFFF"/>
                </a:solidFill>
                <a:latin typeface="Helvetica Neue"/>
                <a:ea typeface="Helvetica Neue"/>
                <a:cs typeface="Helvetica Neue"/>
              </a:rPr>
              <a:t>A cafe that just opened.</a:t>
            </a:r>
          </a:p>
        </p:txBody>
      </p:sp>
      <p:sp>
        <p:nvSpPr>
          <p:cNvPr id="4" name="Rectangle 3">
            <a:extLst>
              <a:ext uri="{FF2B5EF4-FFF2-40B4-BE49-F238E27FC236}">
                <a16:creationId xmlns:a16="http://schemas.microsoft.com/office/drawing/2014/main" id="{FBC2253F-47F5-4947-94BE-A3AC0C8651AE}"/>
              </a:ext>
            </a:extLst>
          </p:cNvPr>
          <p:cNvSpPr>
            <a:spLocks noGrp="1"/>
          </p:cNvSpPr>
          <p:nvPr/>
        </p:nvSpPr>
        <p:spPr>
          <a:xfrm>
            <a:off x="11591925" y="6515100"/>
            <a:ext cx="428625" cy="257175"/>
          </a:xfrm>
          <a:prstGeom prst="rect">
            <a:avLst/>
          </a:prstGeom>
          <a:noFill/>
          <a:ln w="0">
            <a:noFill/>
          </a:ln>
        </p:spPr>
        <p:txBody>
          <a:bodyPr>
            <a:noAutofit/>
          </a:bodyPr>
          <a:lstStyle/>
          <a:p>
            <a:pPr>
              <a:defRPr sz="1200" b="0">
                <a:solidFill>
                  <a:srgbClr val="9CB7BC"/>
                </a:solidFill>
                <a:latin typeface="Helvetica Neue"/>
                <a:ea typeface="Helvetica Neue"/>
                <a:cs typeface="Helvetica Neue"/>
              </a:defRPr>
            </a:pPr>
            <a:r>
              <a:rPr sz="1200" b="0">
                <a:solidFill>
                  <a:srgbClr val="9CB7BC"/>
                </a:solidFill>
                <a:latin typeface="Helvetica Neue"/>
                <a:ea typeface="Helvetica Neue"/>
                <a:cs typeface="Helvetica Neue"/>
              </a:rPr>
              <a:t>10</a:t>
            </a:r>
          </a:p>
        </p:txBody>
      </p:sp>
    </p:spTree>
    <p:extLst>
      <p:ext uri="{BB962C8B-B14F-4D97-AF65-F5344CB8AC3E}">
        <p14:creationId xmlns:p14="http://schemas.microsoft.com/office/powerpoint/2010/main" val="19645750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51CE9C1-1847-4082-A68D-DF4338B355BE}"/>
              </a:ext>
            </a:extLst>
          </p:cNvPr>
          <p:cNvSpPr>
            <a:spLocks noGrp="1"/>
          </p:cNvSpPr>
          <p:nvPr/>
        </p:nvSpPr>
        <p:spPr>
          <a:xfrm>
            <a:off x="590550" y="438150"/>
            <a:ext cx="11010900" cy="1038225"/>
          </a:xfrm>
          <a:prstGeom prst="rect">
            <a:avLst/>
          </a:prstGeom>
          <a:noFill/>
          <a:ln w="0">
            <a:noFill/>
          </a:ln>
        </p:spPr>
        <p:txBody>
          <a:bodyPr>
            <a:noAutofit/>
          </a:bodyPr>
          <a:lstStyle/>
          <a:p>
            <a:pPr>
              <a:defRPr sz="3450" b="1">
                <a:solidFill>
                  <a:srgbClr val="243136"/>
                </a:solidFill>
                <a:latin typeface="Helvetica Neue"/>
                <a:ea typeface="Helvetica Neue"/>
                <a:cs typeface="Helvetica Neue"/>
              </a:defRPr>
            </a:pPr>
            <a:r>
              <a:rPr sz="3450" b="1">
                <a:solidFill>
                  <a:srgbClr val="243136"/>
                </a:solidFill>
                <a:latin typeface="Helvetica Neue"/>
                <a:ea typeface="Helvetica Neue"/>
                <a:cs typeface="Helvetica Neue"/>
              </a:rPr>
              <a:t>How can we use these data in Python?</a:t>
            </a:r>
          </a:p>
        </p:txBody>
      </p:sp>
      <p:sp>
        <p:nvSpPr>
          <p:cNvPr id="2" name="Rectangle 1">
            <a:extLst>
              <a:ext uri="{FF2B5EF4-FFF2-40B4-BE49-F238E27FC236}">
                <a16:creationId xmlns:a16="http://schemas.microsoft.com/office/drawing/2014/main" id="{14D4A45F-8781-4206-9354-2F4EB05DC158}"/>
              </a:ext>
            </a:extLst>
          </p:cNvPr>
          <p:cNvSpPr>
            <a:spLocks noGrp="1"/>
          </p:cNvSpPr>
          <p:nvPr/>
        </p:nvSpPr>
        <p:spPr>
          <a:xfrm>
            <a:off x="609600" y="2076450"/>
            <a:ext cx="10477500" cy="1828800"/>
          </a:xfrm>
          <a:prstGeom prst="rect">
            <a:avLst/>
          </a:prstGeom>
          <a:noFill/>
          <a:ln w="0">
            <a:noFill/>
          </a:ln>
        </p:spPr>
        <p:txBody>
          <a:bodyPr>
            <a:noAutofit/>
          </a:bodyPr>
          <a:lstStyle/>
          <a:p>
            <a:pPr>
              <a:defRPr sz="4050" b="1">
                <a:solidFill>
                  <a:srgbClr val="227C9D"/>
                </a:solidFill>
                <a:latin typeface="Helvetica Neue"/>
                <a:ea typeface="Helvetica Neue"/>
                <a:cs typeface="Helvetica Neue"/>
              </a:defRPr>
            </a:pPr>
            <a:r>
              <a:rPr sz="4050" b="1">
                <a:solidFill>
                  <a:srgbClr val="227C9D"/>
                </a:solidFill>
                <a:latin typeface="Helvetica Neue"/>
                <a:ea typeface="Helvetica Neue"/>
                <a:cs typeface="Helvetica Neue"/>
              </a:rPr>
              <a:t>OSM supplies the data.</a:t>
            </a:r>
          </a:p>
          <a:p>
            <a:pPr>
              <a:defRPr sz="4050" b="1">
                <a:solidFill>
                  <a:srgbClr val="227C9D"/>
                </a:solidFill>
                <a:latin typeface="Helvetica Neue"/>
                <a:ea typeface="Helvetica Neue"/>
                <a:cs typeface="Helvetica Neue"/>
              </a:defRPr>
            </a:pPr>
            <a:r>
              <a:rPr sz="4050" b="1">
                <a:solidFill>
                  <a:srgbClr val="227C9D"/>
                </a:solidFill>
                <a:latin typeface="Helvetica Neue"/>
                <a:ea typeface="Helvetica Neue"/>
                <a:cs typeface="Helvetica Neue"/>
              </a:rPr>
              <a:t>OSMnx helps us work with them.</a:t>
            </a:r>
          </a:p>
        </p:txBody>
      </p:sp>
      <p:sp>
        <p:nvSpPr>
          <p:cNvPr id="3" name="Rectangle 2">
            <a:extLst>
              <a:ext uri="{FF2B5EF4-FFF2-40B4-BE49-F238E27FC236}">
                <a16:creationId xmlns:a16="http://schemas.microsoft.com/office/drawing/2014/main" id="{C5686435-52B9-4AAB-B16D-0DDE9A60BE1F}"/>
              </a:ext>
            </a:extLst>
          </p:cNvPr>
          <p:cNvSpPr>
            <a:spLocks noGrp="1"/>
          </p:cNvSpPr>
          <p:nvPr/>
        </p:nvSpPr>
        <p:spPr>
          <a:xfrm>
            <a:off x="638175" y="4752975"/>
            <a:ext cx="10191750" cy="1152525"/>
          </a:xfrm>
          <a:prstGeom prst="rect">
            <a:avLst/>
          </a:prstGeom>
          <a:noFill/>
          <a:ln w="0">
            <a:noFill/>
          </a:ln>
        </p:spPr>
        <p:txBody>
          <a:bodyPr>
            <a:noAutofit/>
          </a:bodyPr>
          <a:lstStyle/>
          <a:p>
            <a:pPr>
              <a:defRPr sz="2325" b="0">
                <a:solidFill>
                  <a:srgbClr val="243136"/>
                </a:solidFill>
                <a:latin typeface="Helvetica Neue"/>
                <a:ea typeface="Helvetica Neue"/>
                <a:cs typeface="Helvetica Neue"/>
              </a:defRPr>
            </a:pPr>
            <a:r>
              <a:rPr sz="2325" b="0">
                <a:solidFill>
                  <a:srgbClr val="243136"/>
                </a:solidFill>
                <a:latin typeface="Helvetica Neue"/>
                <a:ea typeface="Helvetica Neue"/>
                <a:cs typeface="Helvetica Neue"/>
              </a:rPr>
              <a:t>First: find a place and retrieve a few features.</a:t>
            </a:r>
          </a:p>
        </p:txBody>
      </p:sp>
      <p:sp>
        <p:nvSpPr>
          <p:cNvPr id="4" name="Rectangle 3">
            <a:extLst>
              <a:ext uri="{FF2B5EF4-FFF2-40B4-BE49-F238E27FC236}">
                <a16:creationId xmlns:a16="http://schemas.microsoft.com/office/drawing/2014/main" id="{E23C75BC-8BDE-4282-BC23-319EEFA6120D}"/>
              </a:ext>
            </a:extLst>
          </p:cNvPr>
          <p:cNvSpPr>
            <a:spLocks noGrp="1"/>
          </p:cNvSpPr>
          <p:nvPr/>
        </p:nvSpPr>
        <p:spPr>
          <a:xfrm>
            <a:off x="11591925" y="6515100"/>
            <a:ext cx="428625" cy="257175"/>
          </a:xfrm>
          <a:prstGeom prst="rect">
            <a:avLst/>
          </a:prstGeom>
          <a:noFill/>
          <a:ln w="0">
            <a:noFill/>
          </a:ln>
        </p:spPr>
        <p:txBody>
          <a:bodyPr>
            <a:noAutofit/>
          </a:bodyPr>
          <a:lstStyle/>
          <a:p>
            <a:pPr>
              <a:defRPr sz="1200" b="0">
                <a:solidFill>
                  <a:srgbClr val="5B676A"/>
                </a:solidFill>
                <a:latin typeface="Helvetica Neue"/>
                <a:ea typeface="Helvetica Neue"/>
                <a:cs typeface="Helvetica Neue"/>
              </a:defRPr>
            </a:pPr>
            <a:r>
              <a:rPr sz="1200" b="0">
                <a:solidFill>
                  <a:srgbClr val="5B676A"/>
                </a:solidFill>
                <a:latin typeface="Helvetica Neue"/>
                <a:ea typeface="Helvetica Neue"/>
                <a:cs typeface="Helvetica Neue"/>
              </a:rPr>
              <a:t>11</a:t>
            </a:r>
          </a:p>
        </p:txBody>
      </p:sp>
    </p:spTree>
    <p:extLst>
      <p:ext uri="{BB962C8B-B14F-4D97-AF65-F5344CB8AC3E}">
        <p14:creationId xmlns:p14="http://schemas.microsoft.com/office/powerpoint/2010/main" val="10481303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65615B3-D8E2-4A6F-8CF3-B9F5AD38877B}"/>
              </a:ext>
            </a:extLst>
          </p:cNvPr>
          <p:cNvSpPr>
            <a:spLocks noGrp="1"/>
          </p:cNvSpPr>
          <p:nvPr/>
        </p:nvSpPr>
        <p:spPr>
          <a:xfrm>
            <a:off x="590550" y="438150"/>
            <a:ext cx="11010900" cy="1038225"/>
          </a:xfrm>
          <a:prstGeom prst="rect">
            <a:avLst/>
          </a:prstGeom>
          <a:noFill/>
          <a:ln w="0">
            <a:noFill/>
          </a:ln>
        </p:spPr>
        <p:txBody>
          <a:bodyPr>
            <a:noAutofit/>
          </a:bodyPr>
          <a:lstStyle/>
          <a:p>
            <a:pPr>
              <a:defRPr sz="3450" b="1">
                <a:solidFill>
                  <a:srgbClr val="243136"/>
                </a:solidFill>
                <a:latin typeface="Helvetica Neue"/>
                <a:ea typeface="Helvetica Neue"/>
                <a:cs typeface="Helvetica Neue"/>
              </a:defRPr>
            </a:pPr>
            <a:r>
              <a:rPr sz="3450" b="1">
                <a:solidFill>
                  <a:srgbClr val="243136"/>
                </a:solidFill>
                <a:latin typeface="Helvetica Neue"/>
                <a:ea typeface="Helvetica Neue"/>
                <a:cs typeface="Helvetica Neue"/>
              </a:rPr>
              <a:t>Our first notebook cells</a:t>
            </a:r>
          </a:p>
        </p:txBody>
      </p:sp>
      <p:sp>
        <p:nvSpPr>
          <p:cNvPr id="2" name="Rectangle 1">
            <a:extLst>
              <a:ext uri="{FF2B5EF4-FFF2-40B4-BE49-F238E27FC236}">
                <a16:creationId xmlns:a16="http://schemas.microsoft.com/office/drawing/2014/main" id="{7A3AD745-7FEB-4294-BB8E-6B58E99E0F60}"/>
              </a:ext>
            </a:extLst>
          </p:cNvPr>
          <p:cNvSpPr>
            <a:spLocks noGrp="1"/>
          </p:cNvSpPr>
          <p:nvPr/>
        </p:nvSpPr>
        <p:spPr>
          <a:xfrm>
            <a:off x="647700" y="2038350"/>
            <a:ext cx="10810875" cy="2381250"/>
          </a:xfrm>
          <a:prstGeom prst="rect">
            <a:avLst/>
          </a:prstGeom>
          <a:noFill/>
          <a:ln w="0">
            <a:noFill/>
          </a:ln>
        </p:spPr>
        <p:txBody>
          <a:bodyPr>
            <a:noAutofit/>
          </a:bodyPr>
          <a:lstStyle/>
          <a:p>
            <a:pPr>
              <a:defRPr sz="2100" b="0">
                <a:solidFill>
                  <a:srgbClr val="227C9D"/>
                </a:solidFill>
                <a:latin typeface="Menlo"/>
                <a:ea typeface="Menlo"/>
                <a:cs typeface="Menlo"/>
              </a:defRPr>
            </a:pPr>
            <a:r>
              <a:rPr sz="2100" b="0">
                <a:solidFill>
                  <a:srgbClr val="227C9D"/>
                </a:solidFill>
                <a:latin typeface="Menlo"/>
                <a:ea typeface="Menlo"/>
                <a:cs typeface="Menlo"/>
              </a:rPr>
              <a:t>import osmnx as ox</a:t>
            </a:r>
          </a:p>
          <a:p>
            <a:pPr>
              <a:defRPr sz="2100" b="0">
                <a:solidFill>
                  <a:srgbClr val="227C9D"/>
                </a:solidFill>
                <a:latin typeface="Menlo"/>
                <a:ea typeface="Menlo"/>
                <a:cs typeface="Menlo"/>
              </a:defRPr>
            </a:pPr>
            <a:r>
              <a:rPr sz="2100" b="0">
                <a:solidFill>
                  <a:srgbClr val="227C9D"/>
                </a:solidFill>
                <a:latin typeface="Menlo"/>
                <a:ea typeface="Menlo"/>
                <a:cs typeface="Menlo"/>
              </a:rPr>
              <a:t>import geopandas as gpd</a:t>
            </a:r>
          </a:p>
        </p:txBody>
      </p:sp>
      <p:sp>
        <p:nvSpPr>
          <p:cNvPr id="3" name="Rectangle 2">
            <a:extLst>
              <a:ext uri="{FF2B5EF4-FFF2-40B4-BE49-F238E27FC236}">
                <a16:creationId xmlns:a16="http://schemas.microsoft.com/office/drawing/2014/main" id="{B372B587-4AE5-40A0-B766-B237D7A0CE57}"/>
              </a:ext>
            </a:extLst>
          </p:cNvPr>
          <p:cNvSpPr>
            <a:spLocks noGrp="1"/>
          </p:cNvSpPr>
          <p:nvPr/>
        </p:nvSpPr>
        <p:spPr>
          <a:xfrm>
            <a:off x="647700" y="5124450"/>
            <a:ext cx="10477500" cy="952500"/>
          </a:xfrm>
          <a:prstGeom prst="rect">
            <a:avLst/>
          </a:prstGeom>
          <a:noFill/>
          <a:ln w="0">
            <a:noFill/>
          </a:ln>
        </p:spPr>
        <p:txBody>
          <a:bodyPr>
            <a:noAutofit/>
          </a:bodyPr>
          <a:lstStyle/>
          <a:p>
            <a:pPr>
              <a:defRPr sz="2250" b="0">
                <a:solidFill>
                  <a:srgbClr val="243136"/>
                </a:solidFill>
                <a:latin typeface="Helvetica Neue"/>
                <a:ea typeface="Helvetica Neue"/>
                <a:cs typeface="Helvetica Neue"/>
              </a:defRPr>
            </a:pPr>
            <a:r>
              <a:rPr sz="2250" b="0">
                <a:solidFill>
                  <a:srgbClr val="243136"/>
                </a:solidFill>
                <a:latin typeface="Helvetica Neue"/>
                <a:ea typeface="Helvetica Neue"/>
                <a:cs typeface="Helvetica Neue"/>
              </a:rPr>
              <a:t>One cell at a time. Run it, inspect it, then continue.</a:t>
            </a:r>
          </a:p>
        </p:txBody>
      </p:sp>
      <p:sp>
        <p:nvSpPr>
          <p:cNvPr id="4" name="Rectangle 3">
            <a:extLst>
              <a:ext uri="{FF2B5EF4-FFF2-40B4-BE49-F238E27FC236}">
                <a16:creationId xmlns:a16="http://schemas.microsoft.com/office/drawing/2014/main" id="{D86B6FE6-B237-4381-B855-A4A3EEE99730}"/>
              </a:ext>
            </a:extLst>
          </p:cNvPr>
          <p:cNvSpPr>
            <a:spLocks noGrp="1"/>
          </p:cNvSpPr>
          <p:nvPr/>
        </p:nvSpPr>
        <p:spPr>
          <a:xfrm>
            <a:off x="11591925" y="6515100"/>
            <a:ext cx="428625" cy="257175"/>
          </a:xfrm>
          <a:prstGeom prst="rect">
            <a:avLst/>
          </a:prstGeom>
          <a:noFill/>
          <a:ln w="0">
            <a:noFill/>
          </a:ln>
        </p:spPr>
        <p:txBody>
          <a:bodyPr>
            <a:noAutofit/>
          </a:bodyPr>
          <a:lstStyle/>
          <a:p>
            <a:pPr>
              <a:defRPr sz="1200" b="0">
                <a:solidFill>
                  <a:srgbClr val="5B676A"/>
                </a:solidFill>
                <a:latin typeface="Helvetica Neue"/>
                <a:ea typeface="Helvetica Neue"/>
                <a:cs typeface="Helvetica Neue"/>
              </a:defRPr>
            </a:pPr>
            <a:r>
              <a:rPr sz="1200" b="0">
                <a:solidFill>
                  <a:srgbClr val="5B676A"/>
                </a:solidFill>
                <a:latin typeface="Helvetica Neue"/>
                <a:ea typeface="Helvetica Neue"/>
                <a:cs typeface="Helvetica Neue"/>
              </a:rPr>
              <a:t>12</a:t>
            </a:r>
          </a:p>
        </p:txBody>
      </p:sp>
    </p:spTree>
    <p:extLst>
      <p:ext uri="{BB962C8B-B14F-4D97-AF65-F5344CB8AC3E}">
        <p14:creationId xmlns:p14="http://schemas.microsoft.com/office/powerpoint/2010/main" val="20466817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2672D74-6DF3-4C34-AA77-821C056C76F9}"/>
              </a:ext>
            </a:extLst>
          </p:cNvPr>
          <p:cNvSpPr>
            <a:spLocks noGrp="1"/>
          </p:cNvSpPr>
          <p:nvPr/>
        </p:nvSpPr>
        <p:spPr>
          <a:xfrm>
            <a:off x="590550" y="438150"/>
            <a:ext cx="11010900" cy="1038225"/>
          </a:xfrm>
          <a:prstGeom prst="rect">
            <a:avLst/>
          </a:prstGeom>
          <a:noFill/>
          <a:ln w="0">
            <a:noFill/>
          </a:ln>
        </p:spPr>
        <p:txBody>
          <a:bodyPr>
            <a:noAutofit/>
          </a:bodyPr>
          <a:lstStyle/>
          <a:p>
            <a:pPr>
              <a:defRPr sz="3450" b="1">
                <a:solidFill>
                  <a:srgbClr val="243136"/>
                </a:solidFill>
                <a:latin typeface="Helvetica Neue"/>
                <a:ea typeface="Helvetica Neue"/>
                <a:cs typeface="Helvetica Neue"/>
              </a:defRPr>
            </a:pPr>
            <a:r>
              <a:rPr sz="3450" b="1">
                <a:solidFill>
                  <a:srgbClr val="243136"/>
                </a:solidFill>
                <a:latin typeface="Helvetica Neue"/>
                <a:ea typeface="Helvetica Neue"/>
                <a:cs typeface="Helvetica Neue"/>
              </a:rPr>
              <a:t>First, find Philadelphia</a:t>
            </a:r>
          </a:p>
        </p:txBody>
      </p:sp>
      <p:sp>
        <p:nvSpPr>
          <p:cNvPr id="2" name="Rectangle 1">
            <a:extLst>
              <a:ext uri="{FF2B5EF4-FFF2-40B4-BE49-F238E27FC236}">
                <a16:creationId xmlns:a16="http://schemas.microsoft.com/office/drawing/2014/main" id="{81B7AB6E-1010-4308-B4FE-8896C995840C}"/>
              </a:ext>
            </a:extLst>
          </p:cNvPr>
          <p:cNvSpPr>
            <a:spLocks noGrp="1"/>
          </p:cNvSpPr>
          <p:nvPr/>
        </p:nvSpPr>
        <p:spPr>
          <a:xfrm>
            <a:off x="619125" y="2009775"/>
            <a:ext cx="6143625" cy="3067050"/>
          </a:xfrm>
          <a:prstGeom prst="rect">
            <a:avLst/>
          </a:prstGeom>
          <a:noFill/>
          <a:ln w="0">
            <a:noFill/>
          </a:ln>
        </p:spPr>
        <p:txBody>
          <a:bodyPr>
            <a:noAutofit/>
          </a:bodyPr>
          <a:lstStyle/>
          <a:p>
            <a:pPr>
              <a:defRPr sz="1725" b="0">
                <a:solidFill>
                  <a:srgbClr val="227C9D"/>
                </a:solidFill>
                <a:latin typeface="Menlo"/>
                <a:ea typeface="Menlo"/>
                <a:cs typeface="Menlo"/>
              </a:defRPr>
            </a:pPr>
            <a:r>
              <a:rPr sz="1725" b="0">
                <a:solidFill>
                  <a:srgbClr val="227C9D"/>
                </a:solidFill>
                <a:latin typeface="Menlo"/>
                <a:ea typeface="Menlo"/>
                <a:cs typeface="Menlo"/>
              </a:rPr>
              <a:t>philly = ox.geocode_to_gdf(</a:t>
            </a:r>
          </a:p>
          <a:p>
            <a:pPr>
              <a:defRPr sz="1725" b="0">
                <a:solidFill>
                  <a:srgbClr val="227C9D"/>
                </a:solidFill>
                <a:latin typeface="Menlo"/>
                <a:ea typeface="Menlo"/>
                <a:cs typeface="Menlo"/>
              </a:defRPr>
            </a:pPr>
            <a:r>
              <a:rPr sz="1725" b="0">
                <a:solidFill>
                  <a:srgbClr val="227C9D"/>
                </a:solidFill>
                <a:latin typeface="Menlo"/>
                <a:ea typeface="Menlo"/>
                <a:cs typeface="Menlo"/>
              </a:rPr>
              <a:t>    "Philadelphia, Pennsylvania, USA"</a:t>
            </a:r>
          </a:p>
          <a:p>
            <a:pPr>
              <a:defRPr sz="1725" b="0">
                <a:solidFill>
                  <a:srgbClr val="227C9D"/>
                </a:solidFill>
                <a:latin typeface="Menlo"/>
                <a:ea typeface="Menlo"/>
                <a:cs typeface="Menlo"/>
              </a:defRPr>
            </a:pPr>
            <a:r>
              <a:rPr sz="1725" b="0">
                <a:solidFill>
                  <a:srgbClr val="227C9D"/>
                </a:solidFill>
                <a:latin typeface="Menlo"/>
                <a:ea typeface="Menlo"/>
                <a:cs typeface="Menlo"/>
              </a:rPr>
              <a:t>)</a:t>
            </a:r>
          </a:p>
          <a:p>
            <a:pPr>
              <a:defRPr sz="1725" b="0">
                <a:solidFill>
                  <a:srgbClr val="227C9D"/>
                </a:solidFill>
                <a:latin typeface="Menlo"/>
                <a:ea typeface="Menlo"/>
                <a:cs typeface="Menlo"/>
              </a:defRPr>
            </a:pPr>
            <a:r>
              <a:rPr sz="1725" b="0">
                <a:solidFill>
                  <a:srgbClr val="227C9D"/>
                </a:solidFill>
                <a:latin typeface="Menlo"/>
                <a:ea typeface="Menlo"/>
                <a:cs typeface="Menlo"/>
              </a:rPr>
              <a:t>philly.plot()</a:t>
            </a:r>
          </a:p>
        </p:txBody>
      </p:sp>
      <p:pic>
        <p:nvPicPr>
          <p:cNvPr id="9" name="Picture 8"/>
          <p:cNvPicPr>
            <a:picLocks noChangeAspect="1"/>
          </p:cNvPicPr>
          <p:nvPr/>
        </p:nvPicPr>
        <p:blipFill>
          <a:blip r:embed="rId3"/>
          <a:stretch/>
        </p:blipFill>
        <p:spPr>
          <a:xfrm>
            <a:off x="7272935" y="1552575"/>
            <a:ext cx="3970729" cy="4305300"/>
          </a:xfrm>
          <a:prstGeom prst="rect">
            <a:avLst/>
          </a:prstGeom>
        </p:spPr>
      </p:pic>
      <p:sp>
        <p:nvSpPr>
          <p:cNvPr id="4" name="Rectangle 3">
            <a:extLst>
              <a:ext uri="{FF2B5EF4-FFF2-40B4-BE49-F238E27FC236}">
                <a16:creationId xmlns:a16="http://schemas.microsoft.com/office/drawing/2014/main" id="{3C9E529D-D8BD-458C-AB01-D0593FB06176}"/>
              </a:ext>
            </a:extLst>
          </p:cNvPr>
          <p:cNvSpPr>
            <a:spLocks noGrp="1"/>
          </p:cNvSpPr>
          <p:nvPr/>
        </p:nvSpPr>
        <p:spPr>
          <a:xfrm>
            <a:off x="638175" y="5476875"/>
            <a:ext cx="6191250" cy="914400"/>
          </a:xfrm>
          <a:prstGeom prst="rect">
            <a:avLst/>
          </a:prstGeom>
          <a:noFill/>
          <a:ln w="0">
            <a:noFill/>
          </a:ln>
        </p:spPr>
        <p:txBody>
          <a:bodyPr>
            <a:noAutofit/>
          </a:bodyPr>
          <a:lstStyle/>
          <a:p>
            <a:pPr>
              <a:defRPr sz="1950" b="0">
                <a:solidFill>
                  <a:srgbClr val="243136"/>
                </a:solidFill>
                <a:latin typeface="Helvetica Neue"/>
                <a:ea typeface="Helvetica Neue"/>
                <a:cs typeface="Helvetica Neue"/>
              </a:defRPr>
            </a:pPr>
            <a:r>
              <a:rPr sz="1950" b="0">
                <a:solidFill>
                  <a:srgbClr val="243136"/>
                </a:solidFill>
                <a:latin typeface="Helvetica Neue"/>
                <a:ea typeface="Helvetica Neue"/>
                <a:cs typeface="Helvetica Neue"/>
              </a:rPr>
              <a:t>Notebook §2</a:t>
            </a:r>
          </a:p>
        </p:txBody>
      </p:sp>
      <p:sp>
        <p:nvSpPr>
          <p:cNvPr id="5" name="Rectangle 4">
            <a:extLst>
              <a:ext uri="{FF2B5EF4-FFF2-40B4-BE49-F238E27FC236}">
                <a16:creationId xmlns:a16="http://schemas.microsoft.com/office/drawing/2014/main" id="{7FDCF9CB-BE08-4D52-9410-088E1476CCBC}"/>
              </a:ext>
            </a:extLst>
          </p:cNvPr>
          <p:cNvSpPr>
            <a:spLocks noGrp="1"/>
          </p:cNvSpPr>
          <p:nvPr/>
        </p:nvSpPr>
        <p:spPr>
          <a:xfrm>
            <a:off x="619125" y="6581775"/>
            <a:ext cx="5334000" cy="228600"/>
          </a:xfrm>
          <a:prstGeom prst="rect">
            <a:avLst/>
          </a:prstGeom>
          <a:noFill/>
          <a:ln w="0">
            <a:noFill/>
          </a:ln>
        </p:spPr>
        <p:txBody>
          <a:bodyPr>
            <a:noAutofit/>
          </a:bodyPr>
          <a:lstStyle/>
          <a:p>
            <a:pPr>
              <a:defRPr sz="1125" b="0">
                <a:solidFill>
                  <a:srgbClr val="5B676A"/>
                </a:solidFill>
                <a:latin typeface="Helvetica Neue"/>
                <a:ea typeface="Helvetica Neue"/>
                <a:cs typeface="Helvetica Neue"/>
              </a:defRPr>
            </a:pPr>
            <a:r>
              <a:rPr sz="1125" b="0">
                <a:solidFill>
                  <a:srgbClr val="5B676A"/>
                </a:solidFill>
                <a:latin typeface="Helvetica Neue"/>
                <a:ea typeface="Helvetica Neue"/>
                <a:cs typeface="Helvetica Neue"/>
              </a:rPr>
              <a:t>© OpenStreetMap contributors</a:t>
            </a:r>
          </a:p>
        </p:txBody>
      </p:sp>
      <p:sp>
        <p:nvSpPr>
          <p:cNvPr id="6" name="Rectangle 5">
            <a:extLst>
              <a:ext uri="{FF2B5EF4-FFF2-40B4-BE49-F238E27FC236}">
                <a16:creationId xmlns:a16="http://schemas.microsoft.com/office/drawing/2014/main" id="{07D7456E-7AF1-495B-AB04-F63BE8451A77}"/>
              </a:ext>
            </a:extLst>
          </p:cNvPr>
          <p:cNvSpPr>
            <a:spLocks noGrp="1"/>
          </p:cNvSpPr>
          <p:nvPr/>
        </p:nvSpPr>
        <p:spPr>
          <a:xfrm>
            <a:off x="11591925" y="6515100"/>
            <a:ext cx="428625" cy="257175"/>
          </a:xfrm>
          <a:prstGeom prst="rect">
            <a:avLst/>
          </a:prstGeom>
          <a:noFill/>
          <a:ln w="0">
            <a:noFill/>
          </a:ln>
        </p:spPr>
        <p:txBody>
          <a:bodyPr>
            <a:noAutofit/>
          </a:bodyPr>
          <a:lstStyle/>
          <a:p>
            <a:pPr>
              <a:defRPr sz="1200" b="0">
                <a:solidFill>
                  <a:srgbClr val="5B676A"/>
                </a:solidFill>
                <a:latin typeface="Helvetica Neue"/>
                <a:ea typeface="Helvetica Neue"/>
                <a:cs typeface="Helvetica Neue"/>
              </a:defRPr>
            </a:pPr>
            <a:r>
              <a:rPr sz="1200" b="0">
                <a:solidFill>
                  <a:srgbClr val="5B676A"/>
                </a:solidFill>
                <a:latin typeface="Helvetica Neue"/>
                <a:ea typeface="Helvetica Neue"/>
                <a:cs typeface="Helvetica Neue"/>
              </a:rPr>
              <a:t>13</a:t>
            </a:r>
          </a:p>
        </p:txBody>
      </p:sp>
    </p:spTree>
    <p:extLst>
      <p:ext uri="{BB962C8B-B14F-4D97-AF65-F5344CB8AC3E}">
        <p14:creationId xmlns:p14="http://schemas.microsoft.com/office/powerpoint/2010/main" val="6574396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1B515C7-B80B-4D8B-A491-2A5A3F9662AA}"/>
              </a:ext>
            </a:extLst>
          </p:cNvPr>
          <p:cNvSpPr>
            <a:spLocks noGrp="1"/>
          </p:cNvSpPr>
          <p:nvPr/>
        </p:nvSpPr>
        <p:spPr>
          <a:xfrm>
            <a:off x="590550" y="438150"/>
            <a:ext cx="11010900" cy="1038225"/>
          </a:xfrm>
          <a:prstGeom prst="rect">
            <a:avLst/>
          </a:prstGeom>
          <a:noFill/>
          <a:ln w="0">
            <a:noFill/>
          </a:ln>
        </p:spPr>
        <p:txBody>
          <a:bodyPr>
            <a:noAutofit/>
          </a:bodyPr>
          <a:lstStyle/>
          <a:p>
            <a:pPr>
              <a:defRPr sz="3450" b="1">
                <a:solidFill>
                  <a:srgbClr val="243136"/>
                </a:solidFill>
                <a:latin typeface="Helvetica Neue"/>
                <a:ea typeface="Helvetica Neue"/>
                <a:cs typeface="Helvetica Neue"/>
              </a:defRPr>
            </a:pPr>
            <a:r>
              <a:rPr sz="3450" b="1">
                <a:solidFill>
                  <a:srgbClr val="243136"/>
                </a:solidFill>
                <a:latin typeface="Helvetica Neue"/>
                <a:ea typeface="Helvetica Neue"/>
                <a:cs typeface="Helvetica Neue"/>
              </a:rPr>
              <a:t>A buffer needs meaningful units</a:t>
            </a:r>
          </a:p>
        </p:txBody>
      </p:sp>
      <p:sp>
        <p:nvSpPr>
          <p:cNvPr id="2" name="Rectangle 1">
            <a:extLst>
              <a:ext uri="{FF2B5EF4-FFF2-40B4-BE49-F238E27FC236}">
                <a16:creationId xmlns:a16="http://schemas.microsoft.com/office/drawing/2014/main" id="{196D7782-C34C-4DAC-83A5-4D818F57E187}"/>
              </a:ext>
            </a:extLst>
          </p:cNvPr>
          <p:cNvSpPr>
            <a:spLocks noGrp="1"/>
          </p:cNvSpPr>
          <p:nvPr/>
        </p:nvSpPr>
        <p:spPr>
          <a:xfrm>
            <a:off x="619125" y="2009775"/>
            <a:ext cx="6143625" cy="3067050"/>
          </a:xfrm>
          <a:prstGeom prst="rect">
            <a:avLst/>
          </a:prstGeom>
          <a:noFill/>
          <a:ln w="0">
            <a:noFill/>
          </a:ln>
        </p:spPr>
        <p:txBody>
          <a:bodyPr>
            <a:noAutofit/>
          </a:bodyPr>
          <a:lstStyle/>
          <a:p>
            <a:pPr>
              <a:defRPr sz="1725" b="0">
                <a:solidFill>
                  <a:srgbClr val="227C9D"/>
                </a:solidFill>
                <a:latin typeface="Menlo"/>
                <a:ea typeface="Menlo"/>
                <a:cs typeface="Menlo"/>
              </a:defRPr>
            </a:pPr>
            <a:r>
              <a:rPr sz="1725" b="0">
                <a:solidFill>
                  <a:srgbClr val="227C9D"/>
                </a:solidFill>
                <a:latin typeface="Menlo"/>
                <a:ea typeface="Menlo"/>
                <a:cs typeface="Menlo"/>
              </a:rPr>
              <a:t>philly.crs</a:t>
            </a:r>
          </a:p>
          <a:p>
            <a:endParaRPr sz="1725" b="0">
              <a:solidFill>
                <a:srgbClr val="227C9D"/>
              </a:solidFill>
              <a:latin typeface="Menlo"/>
              <a:ea typeface="Menlo"/>
              <a:cs typeface="Menlo"/>
            </a:endParaRPr>
          </a:p>
          <a:p>
            <a:pPr>
              <a:defRPr sz="1725" b="0">
                <a:solidFill>
                  <a:srgbClr val="227C9D"/>
                </a:solidFill>
                <a:latin typeface="Menlo"/>
                <a:ea typeface="Menlo"/>
                <a:cs typeface="Menlo"/>
              </a:defRPr>
            </a:pPr>
            <a:r>
              <a:rPr sz="1725" b="0">
                <a:solidFill>
                  <a:srgbClr val="227C9D"/>
                </a:solidFill>
                <a:latin typeface="Menlo"/>
                <a:ea typeface="Menlo"/>
                <a:cs typeface="Menlo"/>
              </a:rPr>
              <a:t>philly_m = philly.to_crs(</a:t>
            </a:r>
          </a:p>
          <a:p>
            <a:pPr>
              <a:defRPr sz="1725" b="0">
                <a:solidFill>
                  <a:srgbClr val="227C9D"/>
                </a:solidFill>
                <a:latin typeface="Menlo"/>
                <a:ea typeface="Menlo"/>
                <a:cs typeface="Menlo"/>
              </a:defRPr>
            </a:pPr>
            <a:r>
              <a:rPr sz="1725" b="0">
                <a:solidFill>
                  <a:srgbClr val="227C9D"/>
                </a:solidFill>
                <a:latin typeface="Menlo"/>
                <a:ea typeface="Menlo"/>
                <a:cs typeface="Menlo"/>
              </a:rPr>
              <a:t>    "EPSG:32618"</a:t>
            </a:r>
          </a:p>
          <a:p>
            <a:pPr>
              <a:defRPr sz="1725" b="0">
                <a:solidFill>
                  <a:srgbClr val="227C9D"/>
                </a:solidFill>
                <a:latin typeface="Menlo"/>
                <a:ea typeface="Menlo"/>
                <a:cs typeface="Menlo"/>
              </a:defRPr>
            </a:pPr>
            <a:r>
              <a:rPr sz="1725" b="0">
                <a:solidFill>
                  <a:srgbClr val="227C9D"/>
                </a:solidFill>
                <a:latin typeface="Menlo"/>
                <a:ea typeface="Menlo"/>
                <a:cs typeface="Menlo"/>
              </a:rPr>
              <a:t>)</a:t>
            </a:r>
          </a:p>
        </p:txBody>
      </p:sp>
      <p:pic>
        <p:nvPicPr>
          <p:cNvPr id="9" name="Picture 8"/>
          <p:cNvPicPr>
            <a:picLocks noChangeAspect="1"/>
          </p:cNvPicPr>
          <p:nvPr/>
        </p:nvPicPr>
        <p:blipFill>
          <a:blip r:embed="rId3"/>
          <a:stretch/>
        </p:blipFill>
        <p:spPr>
          <a:xfrm>
            <a:off x="7272935" y="1552575"/>
            <a:ext cx="3970729" cy="4305300"/>
          </a:xfrm>
          <a:prstGeom prst="rect">
            <a:avLst/>
          </a:prstGeom>
        </p:spPr>
      </p:pic>
      <p:sp>
        <p:nvSpPr>
          <p:cNvPr id="4" name="Rectangle 3">
            <a:extLst>
              <a:ext uri="{FF2B5EF4-FFF2-40B4-BE49-F238E27FC236}">
                <a16:creationId xmlns:a16="http://schemas.microsoft.com/office/drawing/2014/main" id="{32E83859-75D1-4C52-B4CA-AE427CB6CFF9}"/>
              </a:ext>
            </a:extLst>
          </p:cNvPr>
          <p:cNvSpPr>
            <a:spLocks noGrp="1"/>
          </p:cNvSpPr>
          <p:nvPr/>
        </p:nvSpPr>
        <p:spPr>
          <a:xfrm>
            <a:off x="638175" y="5476875"/>
            <a:ext cx="6191250" cy="914400"/>
          </a:xfrm>
          <a:prstGeom prst="rect">
            <a:avLst/>
          </a:prstGeom>
          <a:noFill/>
          <a:ln w="0">
            <a:noFill/>
          </a:ln>
        </p:spPr>
        <p:txBody>
          <a:bodyPr>
            <a:noAutofit/>
          </a:bodyPr>
          <a:lstStyle/>
          <a:p>
            <a:pPr>
              <a:defRPr sz="1950" b="0">
                <a:solidFill>
                  <a:srgbClr val="243136"/>
                </a:solidFill>
                <a:latin typeface="Helvetica Neue"/>
                <a:ea typeface="Helvetica Neue"/>
                <a:cs typeface="Helvetica Neue"/>
              </a:defRPr>
            </a:pPr>
            <a:r>
              <a:rPr sz="1950" b="0">
                <a:solidFill>
                  <a:srgbClr val="243136"/>
                </a:solidFill>
                <a:latin typeface="Helvetica Neue"/>
                <a:ea typeface="Helvetica Neue"/>
                <a:cs typeface="Helvetica Neue"/>
              </a:rPr>
              <a:t>Longitude / latitude gives degrees.</a:t>
            </a:r>
          </a:p>
          <a:p>
            <a:pPr>
              <a:defRPr sz="1950" b="0">
                <a:solidFill>
                  <a:srgbClr val="243136"/>
                </a:solidFill>
                <a:latin typeface="Helvetica Neue"/>
                <a:ea typeface="Helvetica Neue"/>
                <a:cs typeface="Helvetica Neue"/>
              </a:defRPr>
            </a:pPr>
            <a:r>
              <a:rPr sz="1950" b="0">
                <a:solidFill>
                  <a:srgbClr val="243136"/>
                </a:solidFill>
                <a:latin typeface="Helvetica Neue"/>
                <a:ea typeface="Helvetica Neue"/>
                <a:cs typeface="Helvetica Neue"/>
              </a:rPr>
              <a:t>Our local projection gives meters.</a:t>
            </a:r>
          </a:p>
        </p:txBody>
      </p:sp>
      <p:sp>
        <p:nvSpPr>
          <p:cNvPr id="5" name="Rectangle 4">
            <a:extLst>
              <a:ext uri="{FF2B5EF4-FFF2-40B4-BE49-F238E27FC236}">
                <a16:creationId xmlns:a16="http://schemas.microsoft.com/office/drawing/2014/main" id="{2D62AF98-3E4C-4E08-91CD-4FE0341918B6}"/>
              </a:ext>
            </a:extLst>
          </p:cNvPr>
          <p:cNvSpPr>
            <a:spLocks noGrp="1"/>
          </p:cNvSpPr>
          <p:nvPr/>
        </p:nvSpPr>
        <p:spPr>
          <a:xfrm>
            <a:off x="619125" y="6581775"/>
            <a:ext cx="5334000" cy="228600"/>
          </a:xfrm>
          <a:prstGeom prst="rect">
            <a:avLst/>
          </a:prstGeom>
          <a:noFill/>
          <a:ln w="0">
            <a:noFill/>
          </a:ln>
        </p:spPr>
        <p:txBody>
          <a:bodyPr>
            <a:noAutofit/>
          </a:bodyPr>
          <a:lstStyle/>
          <a:p>
            <a:pPr>
              <a:defRPr sz="1125" b="0">
                <a:solidFill>
                  <a:srgbClr val="5B676A"/>
                </a:solidFill>
                <a:latin typeface="Helvetica Neue"/>
                <a:ea typeface="Helvetica Neue"/>
                <a:cs typeface="Helvetica Neue"/>
              </a:defRPr>
            </a:pPr>
            <a:r>
              <a:rPr sz="1125" b="0">
                <a:solidFill>
                  <a:srgbClr val="5B676A"/>
                </a:solidFill>
                <a:latin typeface="Helvetica Neue"/>
                <a:ea typeface="Helvetica Neue"/>
                <a:cs typeface="Helvetica Neue"/>
              </a:rPr>
              <a:t>© OpenStreetMap contributors</a:t>
            </a:r>
          </a:p>
        </p:txBody>
      </p:sp>
      <p:sp>
        <p:nvSpPr>
          <p:cNvPr id="6" name="Rectangle 5">
            <a:extLst>
              <a:ext uri="{FF2B5EF4-FFF2-40B4-BE49-F238E27FC236}">
                <a16:creationId xmlns:a16="http://schemas.microsoft.com/office/drawing/2014/main" id="{BC739187-40CD-401D-B99C-DC92C664A728}"/>
              </a:ext>
            </a:extLst>
          </p:cNvPr>
          <p:cNvSpPr>
            <a:spLocks noGrp="1"/>
          </p:cNvSpPr>
          <p:nvPr/>
        </p:nvSpPr>
        <p:spPr>
          <a:xfrm>
            <a:off x="11591925" y="6515100"/>
            <a:ext cx="428625" cy="257175"/>
          </a:xfrm>
          <a:prstGeom prst="rect">
            <a:avLst/>
          </a:prstGeom>
          <a:noFill/>
          <a:ln w="0">
            <a:noFill/>
          </a:ln>
        </p:spPr>
        <p:txBody>
          <a:bodyPr>
            <a:noAutofit/>
          </a:bodyPr>
          <a:lstStyle/>
          <a:p>
            <a:pPr>
              <a:defRPr sz="1200" b="0">
                <a:solidFill>
                  <a:srgbClr val="5B676A"/>
                </a:solidFill>
                <a:latin typeface="Helvetica Neue"/>
                <a:ea typeface="Helvetica Neue"/>
                <a:cs typeface="Helvetica Neue"/>
              </a:defRPr>
            </a:pPr>
            <a:r>
              <a:rPr sz="1200" b="0">
                <a:solidFill>
                  <a:srgbClr val="5B676A"/>
                </a:solidFill>
                <a:latin typeface="Helvetica Neue"/>
                <a:ea typeface="Helvetica Neue"/>
                <a:cs typeface="Helvetica Neue"/>
              </a:rPr>
              <a:t>14</a:t>
            </a:r>
          </a:p>
        </p:txBody>
      </p:sp>
    </p:spTree>
    <p:extLst>
      <p:ext uri="{BB962C8B-B14F-4D97-AF65-F5344CB8AC3E}">
        <p14:creationId xmlns:p14="http://schemas.microsoft.com/office/powerpoint/2010/main" val="13790587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B95C3EC-B0FF-4F6C-8137-0C615BF21D64}"/>
              </a:ext>
            </a:extLst>
          </p:cNvPr>
          <p:cNvSpPr>
            <a:spLocks noGrp="1"/>
          </p:cNvSpPr>
          <p:nvPr/>
        </p:nvSpPr>
        <p:spPr>
          <a:xfrm>
            <a:off x="590550" y="438150"/>
            <a:ext cx="11010900" cy="1038225"/>
          </a:xfrm>
          <a:prstGeom prst="rect">
            <a:avLst/>
          </a:prstGeom>
          <a:noFill/>
          <a:ln w="0">
            <a:noFill/>
          </a:ln>
        </p:spPr>
        <p:txBody>
          <a:bodyPr>
            <a:noAutofit/>
          </a:bodyPr>
          <a:lstStyle/>
          <a:p>
            <a:pPr>
              <a:defRPr sz="3450" b="1">
                <a:solidFill>
                  <a:srgbClr val="243136"/>
                </a:solidFill>
                <a:latin typeface="Helvetica Neue"/>
                <a:ea typeface="Helvetica Neue"/>
                <a:cs typeface="Helvetica Neue"/>
              </a:defRPr>
            </a:pPr>
            <a:r>
              <a:rPr sz="3450" b="1">
                <a:solidFill>
                  <a:srgbClr val="243136"/>
                </a:solidFill>
                <a:latin typeface="Helvetica Neue"/>
                <a:ea typeface="Helvetica Neue"/>
                <a:cs typeface="Helvetica Neue"/>
              </a:rPr>
              <a:t>What is around 34th Street?</a:t>
            </a:r>
          </a:p>
        </p:txBody>
      </p:sp>
      <p:sp>
        <p:nvSpPr>
          <p:cNvPr id="2" name="Rectangle 1">
            <a:extLst>
              <a:ext uri="{FF2B5EF4-FFF2-40B4-BE49-F238E27FC236}">
                <a16:creationId xmlns:a16="http://schemas.microsoft.com/office/drawing/2014/main" id="{83744B4B-5BAE-48A1-A13C-83167D016877}"/>
              </a:ext>
            </a:extLst>
          </p:cNvPr>
          <p:cNvSpPr>
            <a:spLocks noGrp="1"/>
          </p:cNvSpPr>
          <p:nvPr/>
        </p:nvSpPr>
        <p:spPr>
          <a:xfrm>
            <a:off x="619125" y="2009775"/>
            <a:ext cx="6143625" cy="3067050"/>
          </a:xfrm>
          <a:prstGeom prst="rect">
            <a:avLst/>
          </a:prstGeom>
          <a:noFill/>
          <a:ln w="0">
            <a:noFill/>
          </a:ln>
        </p:spPr>
        <p:txBody>
          <a:bodyPr>
            <a:noAutofit/>
          </a:bodyPr>
          <a:lstStyle/>
          <a:p>
            <a:pPr>
              <a:defRPr sz="1725" b="0">
                <a:solidFill>
                  <a:srgbClr val="227C9D"/>
                </a:solidFill>
                <a:latin typeface="Menlo"/>
                <a:ea typeface="Menlo"/>
                <a:cs typeface="Menlo"/>
              </a:defRPr>
            </a:pPr>
            <a:r>
              <a:rPr sz="1725" b="0">
                <a:solidFill>
                  <a:srgbClr val="227C9D"/>
                </a:solidFill>
                <a:latin typeface="Menlo"/>
                <a:ea typeface="Menlo"/>
                <a:cs typeface="Menlo"/>
              </a:rPr>
              <a:t>center = (39.9559238, -75.1914953)</a:t>
            </a:r>
          </a:p>
          <a:p>
            <a:pPr>
              <a:defRPr sz="1725" b="0">
                <a:solidFill>
                  <a:srgbClr val="227C9D"/>
                </a:solidFill>
                <a:latin typeface="Menlo"/>
                <a:ea typeface="Menlo"/>
                <a:cs typeface="Menlo"/>
              </a:defRPr>
            </a:pPr>
            <a:r>
              <a:rPr sz="1725" b="0">
                <a:solidFill>
                  <a:srgbClr val="227C9D"/>
                </a:solidFill>
                <a:latin typeface="Menlo"/>
                <a:ea typeface="Menlo"/>
                <a:cs typeface="Menlo"/>
              </a:rPr>
              <a:t>cafes = ox.features_from_point(</a:t>
            </a:r>
          </a:p>
          <a:p>
            <a:pPr>
              <a:defRPr sz="1725" b="0">
                <a:solidFill>
                  <a:srgbClr val="227C9D"/>
                </a:solidFill>
                <a:latin typeface="Menlo"/>
                <a:ea typeface="Menlo"/>
                <a:cs typeface="Menlo"/>
              </a:defRPr>
            </a:pPr>
            <a:r>
              <a:rPr sz="1725" b="0">
                <a:solidFill>
                  <a:srgbClr val="227C9D"/>
                </a:solidFill>
                <a:latin typeface="Menlo"/>
                <a:ea typeface="Menlo"/>
                <a:cs typeface="Menlo"/>
              </a:rPr>
              <a:t>    center,</a:t>
            </a:r>
          </a:p>
          <a:p>
            <a:pPr>
              <a:defRPr sz="1725" b="0">
                <a:solidFill>
                  <a:srgbClr val="227C9D"/>
                </a:solidFill>
                <a:latin typeface="Menlo"/>
                <a:ea typeface="Menlo"/>
                <a:cs typeface="Menlo"/>
              </a:defRPr>
            </a:pPr>
            <a:r>
              <a:rPr sz="1725" b="0">
                <a:solidFill>
                  <a:srgbClr val="227C9D"/>
                </a:solidFill>
                <a:latin typeface="Menlo"/>
                <a:ea typeface="Menlo"/>
                <a:cs typeface="Menlo"/>
              </a:rPr>
              <a:t>    tags={"amenity": "cafe"},</a:t>
            </a:r>
          </a:p>
          <a:p>
            <a:pPr>
              <a:defRPr sz="1725" b="0">
                <a:solidFill>
                  <a:srgbClr val="227C9D"/>
                </a:solidFill>
                <a:latin typeface="Menlo"/>
                <a:ea typeface="Menlo"/>
                <a:cs typeface="Menlo"/>
              </a:defRPr>
            </a:pPr>
            <a:r>
              <a:rPr sz="1725" b="0">
                <a:solidFill>
                  <a:srgbClr val="227C9D"/>
                </a:solidFill>
                <a:latin typeface="Menlo"/>
                <a:ea typeface="Menlo"/>
                <a:cs typeface="Menlo"/>
              </a:rPr>
              <a:t>    dist=1000</a:t>
            </a:r>
          </a:p>
          <a:p>
            <a:pPr>
              <a:defRPr sz="1725" b="0">
                <a:solidFill>
                  <a:srgbClr val="227C9D"/>
                </a:solidFill>
                <a:latin typeface="Menlo"/>
                <a:ea typeface="Menlo"/>
                <a:cs typeface="Menlo"/>
              </a:defRPr>
            </a:pPr>
            <a:r>
              <a:rPr sz="1725" b="0">
                <a:solidFill>
                  <a:srgbClr val="227C9D"/>
                </a:solidFill>
                <a:latin typeface="Menlo"/>
                <a:ea typeface="Menlo"/>
                <a:cs typeface="Menlo"/>
              </a:rPr>
              <a:t>)</a:t>
            </a:r>
          </a:p>
        </p:txBody>
      </p:sp>
      <p:pic>
        <p:nvPicPr>
          <p:cNvPr id="9" name="Picture 8"/>
          <p:cNvPicPr>
            <a:picLocks noChangeAspect="1"/>
          </p:cNvPicPr>
          <p:nvPr/>
        </p:nvPicPr>
        <p:blipFill>
          <a:blip r:embed="rId3"/>
          <a:stretch/>
        </p:blipFill>
        <p:spPr>
          <a:xfrm>
            <a:off x="7105650" y="1552575"/>
            <a:ext cx="4305300" cy="4305300"/>
          </a:xfrm>
          <a:prstGeom prst="rect">
            <a:avLst/>
          </a:prstGeom>
        </p:spPr>
      </p:pic>
      <p:sp>
        <p:nvSpPr>
          <p:cNvPr id="4" name="Rectangle 3">
            <a:extLst>
              <a:ext uri="{FF2B5EF4-FFF2-40B4-BE49-F238E27FC236}">
                <a16:creationId xmlns:a16="http://schemas.microsoft.com/office/drawing/2014/main" id="{C037B123-6479-4852-AE1A-FA9F9D714C13}"/>
              </a:ext>
            </a:extLst>
          </p:cNvPr>
          <p:cNvSpPr>
            <a:spLocks noGrp="1"/>
          </p:cNvSpPr>
          <p:nvPr/>
        </p:nvSpPr>
        <p:spPr>
          <a:xfrm>
            <a:off x="638175" y="5476875"/>
            <a:ext cx="6191250" cy="914400"/>
          </a:xfrm>
          <a:prstGeom prst="rect">
            <a:avLst/>
          </a:prstGeom>
          <a:noFill/>
          <a:ln w="0">
            <a:noFill/>
          </a:ln>
        </p:spPr>
        <p:txBody>
          <a:bodyPr>
            <a:noAutofit/>
          </a:bodyPr>
          <a:lstStyle/>
          <a:p>
            <a:pPr>
              <a:defRPr sz="1950" b="0">
                <a:solidFill>
                  <a:srgbClr val="243136"/>
                </a:solidFill>
                <a:latin typeface="Helvetica Neue"/>
                <a:ea typeface="Helvetica Neue"/>
                <a:cs typeface="Helvetica Neue"/>
              </a:defRPr>
            </a:pPr>
            <a:r>
              <a:rPr sz="1950" b="0">
                <a:solidFill>
                  <a:srgbClr val="243136"/>
                </a:solidFill>
                <a:latin typeface="Helvetica Neue"/>
                <a:ea typeface="Helvetica Neue"/>
                <a:cs typeface="Helvetica Neue"/>
              </a:rPr>
              <a:t>Notebook §3</a:t>
            </a:r>
          </a:p>
        </p:txBody>
      </p:sp>
      <p:sp>
        <p:nvSpPr>
          <p:cNvPr id="5" name="Rectangle 4">
            <a:extLst>
              <a:ext uri="{FF2B5EF4-FFF2-40B4-BE49-F238E27FC236}">
                <a16:creationId xmlns:a16="http://schemas.microsoft.com/office/drawing/2014/main" id="{F22CCF86-1F18-4F9E-87B8-249D6E76B0E3}"/>
              </a:ext>
            </a:extLst>
          </p:cNvPr>
          <p:cNvSpPr>
            <a:spLocks noGrp="1"/>
          </p:cNvSpPr>
          <p:nvPr/>
        </p:nvSpPr>
        <p:spPr>
          <a:xfrm>
            <a:off x="619125" y="6581775"/>
            <a:ext cx="5334000" cy="228600"/>
          </a:xfrm>
          <a:prstGeom prst="rect">
            <a:avLst/>
          </a:prstGeom>
          <a:noFill/>
          <a:ln w="0">
            <a:noFill/>
          </a:ln>
        </p:spPr>
        <p:txBody>
          <a:bodyPr>
            <a:noAutofit/>
          </a:bodyPr>
          <a:lstStyle/>
          <a:p>
            <a:pPr>
              <a:defRPr sz="1125" b="0">
                <a:solidFill>
                  <a:srgbClr val="5B676A"/>
                </a:solidFill>
                <a:latin typeface="Helvetica Neue"/>
                <a:ea typeface="Helvetica Neue"/>
                <a:cs typeface="Helvetica Neue"/>
              </a:defRPr>
            </a:pPr>
            <a:r>
              <a:rPr sz="1125" b="0">
                <a:solidFill>
                  <a:srgbClr val="5B676A"/>
                </a:solidFill>
                <a:latin typeface="Helvetica Neue"/>
                <a:ea typeface="Helvetica Neue"/>
                <a:cs typeface="Helvetica Neue"/>
              </a:rPr>
              <a:t>© OpenStreetMap contributors</a:t>
            </a:r>
          </a:p>
        </p:txBody>
      </p:sp>
      <p:sp>
        <p:nvSpPr>
          <p:cNvPr id="6" name="Rectangle 5">
            <a:extLst>
              <a:ext uri="{FF2B5EF4-FFF2-40B4-BE49-F238E27FC236}">
                <a16:creationId xmlns:a16="http://schemas.microsoft.com/office/drawing/2014/main" id="{97621BE3-FB95-4DDD-B1B3-D99622A0F254}"/>
              </a:ext>
            </a:extLst>
          </p:cNvPr>
          <p:cNvSpPr>
            <a:spLocks noGrp="1"/>
          </p:cNvSpPr>
          <p:nvPr/>
        </p:nvSpPr>
        <p:spPr>
          <a:xfrm>
            <a:off x="11591925" y="6515100"/>
            <a:ext cx="428625" cy="257175"/>
          </a:xfrm>
          <a:prstGeom prst="rect">
            <a:avLst/>
          </a:prstGeom>
          <a:noFill/>
          <a:ln w="0">
            <a:noFill/>
          </a:ln>
        </p:spPr>
        <p:txBody>
          <a:bodyPr>
            <a:noAutofit/>
          </a:bodyPr>
          <a:lstStyle/>
          <a:p>
            <a:pPr>
              <a:defRPr sz="1200" b="0">
                <a:solidFill>
                  <a:srgbClr val="5B676A"/>
                </a:solidFill>
                <a:latin typeface="Helvetica Neue"/>
                <a:ea typeface="Helvetica Neue"/>
                <a:cs typeface="Helvetica Neue"/>
              </a:defRPr>
            </a:pPr>
            <a:r>
              <a:rPr sz="1200" b="0">
                <a:solidFill>
                  <a:srgbClr val="5B676A"/>
                </a:solidFill>
                <a:latin typeface="Helvetica Neue"/>
                <a:ea typeface="Helvetica Neue"/>
                <a:cs typeface="Helvetica Neue"/>
              </a:rPr>
              <a:t>15</a:t>
            </a:r>
          </a:p>
        </p:txBody>
      </p:sp>
    </p:spTree>
    <p:extLst>
      <p:ext uri="{BB962C8B-B14F-4D97-AF65-F5344CB8AC3E}">
        <p14:creationId xmlns:p14="http://schemas.microsoft.com/office/powerpoint/2010/main" val="5417591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E9CA179-0C5E-448D-9A95-4F76E83D5C63}"/>
              </a:ext>
            </a:extLst>
          </p:cNvPr>
          <p:cNvSpPr>
            <a:spLocks noGrp="1"/>
          </p:cNvSpPr>
          <p:nvPr/>
        </p:nvSpPr>
        <p:spPr>
          <a:xfrm>
            <a:off x="590550" y="438150"/>
            <a:ext cx="11010900" cy="1038225"/>
          </a:xfrm>
          <a:prstGeom prst="rect">
            <a:avLst/>
          </a:prstGeom>
          <a:noFill/>
          <a:ln w="0">
            <a:noFill/>
          </a:ln>
        </p:spPr>
        <p:txBody>
          <a:bodyPr>
            <a:noAutofit/>
          </a:bodyPr>
          <a:lstStyle/>
          <a:p>
            <a:pPr>
              <a:defRPr sz="3450" b="1">
                <a:solidFill>
                  <a:srgbClr val="243136"/>
                </a:solidFill>
                <a:latin typeface="Helvetica Neue"/>
                <a:ea typeface="Helvetica Neue"/>
                <a:cs typeface="Helvetica Neue"/>
              </a:defRPr>
            </a:pPr>
            <a:r>
              <a:rPr sz="3450" b="1">
                <a:solidFill>
                  <a:srgbClr val="243136"/>
                </a:solidFill>
                <a:latin typeface="Helvetica Neue"/>
                <a:ea typeface="Helvetica Neue"/>
                <a:cs typeface="Helvetica Neue"/>
              </a:rPr>
              <a:t>Inspect before plotting</a:t>
            </a:r>
          </a:p>
        </p:txBody>
      </p:sp>
      <p:sp>
        <p:nvSpPr>
          <p:cNvPr id="2" name="Rectangle 1">
            <a:extLst>
              <a:ext uri="{FF2B5EF4-FFF2-40B4-BE49-F238E27FC236}">
                <a16:creationId xmlns:a16="http://schemas.microsoft.com/office/drawing/2014/main" id="{1D0B8BE0-8047-407D-AA27-80588205E8D3}"/>
              </a:ext>
            </a:extLst>
          </p:cNvPr>
          <p:cNvSpPr>
            <a:spLocks noGrp="1"/>
          </p:cNvSpPr>
          <p:nvPr/>
        </p:nvSpPr>
        <p:spPr>
          <a:xfrm>
            <a:off x="647700" y="2038350"/>
            <a:ext cx="10810875" cy="2381250"/>
          </a:xfrm>
          <a:prstGeom prst="rect">
            <a:avLst/>
          </a:prstGeom>
          <a:noFill/>
          <a:ln w="0">
            <a:noFill/>
          </a:ln>
        </p:spPr>
        <p:txBody>
          <a:bodyPr>
            <a:noAutofit/>
          </a:bodyPr>
          <a:lstStyle/>
          <a:p>
            <a:pPr>
              <a:defRPr sz="2100" b="0">
                <a:solidFill>
                  <a:srgbClr val="227C9D"/>
                </a:solidFill>
                <a:latin typeface="Menlo"/>
                <a:ea typeface="Menlo"/>
                <a:cs typeface="Menlo"/>
              </a:defRPr>
            </a:pPr>
            <a:r>
              <a:rPr sz="2100" b="0">
                <a:solidFill>
                  <a:srgbClr val="227C9D"/>
                </a:solidFill>
                <a:latin typeface="Menlo"/>
                <a:ea typeface="Menlo"/>
                <a:cs typeface="Menlo"/>
              </a:rPr>
              <a:t>cafes[["name", "amenity", "geometry"]].head()</a:t>
            </a:r>
          </a:p>
        </p:txBody>
      </p:sp>
      <p:sp>
        <p:nvSpPr>
          <p:cNvPr id="3" name="Rectangle 2">
            <a:extLst>
              <a:ext uri="{FF2B5EF4-FFF2-40B4-BE49-F238E27FC236}">
                <a16:creationId xmlns:a16="http://schemas.microsoft.com/office/drawing/2014/main" id="{34414B04-1AE3-4B70-8FAA-06542E6763AA}"/>
              </a:ext>
            </a:extLst>
          </p:cNvPr>
          <p:cNvSpPr>
            <a:spLocks noGrp="1"/>
          </p:cNvSpPr>
          <p:nvPr/>
        </p:nvSpPr>
        <p:spPr>
          <a:xfrm>
            <a:off x="647700" y="5124450"/>
            <a:ext cx="10477500" cy="952500"/>
          </a:xfrm>
          <a:prstGeom prst="rect">
            <a:avLst/>
          </a:prstGeom>
          <a:noFill/>
          <a:ln w="0">
            <a:noFill/>
          </a:ln>
        </p:spPr>
        <p:txBody>
          <a:bodyPr>
            <a:noAutofit/>
          </a:bodyPr>
          <a:lstStyle/>
          <a:p>
            <a:pPr>
              <a:defRPr sz="2250" b="0">
                <a:solidFill>
                  <a:srgbClr val="243136"/>
                </a:solidFill>
                <a:latin typeface="Helvetica Neue"/>
                <a:ea typeface="Helvetica Neue"/>
                <a:cs typeface="Helvetica Neue"/>
              </a:defRPr>
            </a:pPr>
            <a:r>
              <a:rPr sz="2250" b="0">
                <a:solidFill>
                  <a:srgbClr val="243136"/>
                </a:solidFill>
                <a:latin typeface="Helvetica Neue"/>
                <a:ea typeface="Helvetica Neue"/>
                <a:cs typeface="Helvetica Neue"/>
              </a:rPr>
              <a:t>Each row is an OSM feature.</a:t>
            </a:r>
          </a:p>
          <a:p>
            <a:pPr>
              <a:defRPr sz="2250" b="0">
                <a:solidFill>
                  <a:srgbClr val="243136"/>
                </a:solidFill>
                <a:latin typeface="Helvetica Neue"/>
                <a:ea typeface="Helvetica Neue"/>
                <a:cs typeface="Helvetica Neue"/>
              </a:defRPr>
            </a:pPr>
            <a:r>
              <a:rPr sz="2250" b="0">
                <a:solidFill>
                  <a:srgbClr val="243136"/>
                </a:solidFill>
                <a:latin typeface="Helvetica Neue"/>
                <a:ea typeface="Helvetica Neue"/>
                <a:cs typeface="Helvetica Neue"/>
              </a:rPr>
              <a:t>Some features are points. Others are polygons.</a:t>
            </a:r>
          </a:p>
        </p:txBody>
      </p:sp>
      <p:sp>
        <p:nvSpPr>
          <p:cNvPr id="4" name="Rectangle 3">
            <a:extLst>
              <a:ext uri="{FF2B5EF4-FFF2-40B4-BE49-F238E27FC236}">
                <a16:creationId xmlns:a16="http://schemas.microsoft.com/office/drawing/2014/main" id="{D75C1012-DBD9-4810-BC34-8606C35A2A47}"/>
              </a:ext>
            </a:extLst>
          </p:cNvPr>
          <p:cNvSpPr>
            <a:spLocks noGrp="1"/>
          </p:cNvSpPr>
          <p:nvPr/>
        </p:nvSpPr>
        <p:spPr>
          <a:xfrm>
            <a:off x="11591925" y="6515100"/>
            <a:ext cx="428625" cy="257175"/>
          </a:xfrm>
          <a:prstGeom prst="rect">
            <a:avLst/>
          </a:prstGeom>
          <a:noFill/>
          <a:ln w="0">
            <a:noFill/>
          </a:ln>
        </p:spPr>
        <p:txBody>
          <a:bodyPr>
            <a:noAutofit/>
          </a:bodyPr>
          <a:lstStyle/>
          <a:p>
            <a:pPr>
              <a:defRPr sz="1200" b="0">
                <a:solidFill>
                  <a:srgbClr val="5B676A"/>
                </a:solidFill>
                <a:latin typeface="Helvetica Neue"/>
                <a:ea typeface="Helvetica Neue"/>
                <a:cs typeface="Helvetica Neue"/>
              </a:defRPr>
            </a:pPr>
            <a:r>
              <a:rPr sz="1200" b="0">
                <a:solidFill>
                  <a:srgbClr val="5B676A"/>
                </a:solidFill>
                <a:latin typeface="Helvetica Neue"/>
                <a:ea typeface="Helvetica Neue"/>
                <a:cs typeface="Helvetica Neue"/>
              </a:rPr>
              <a:t>16</a:t>
            </a:r>
          </a:p>
        </p:txBody>
      </p:sp>
    </p:spTree>
    <p:extLst>
      <p:ext uri="{BB962C8B-B14F-4D97-AF65-F5344CB8AC3E}">
        <p14:creationId xmlns:p14="http://schemas.microsoft.com/office/powerpoint/2010/main" val="2463639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243136"/>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54A5989-F639-45E0-A792-176B5DBD68C9}"/>
              </a:ext>
            </a:extLst>
          </p:cNvPr>
          <p:cNvSpPr>
            <a:spLocks noGrp="1"/>
          </p:cNvSpPr>
          <p:nvPr/>
        </p:nvSpPr>
        <p:spPr>
          <a:xfrm>
            <a:off x="590550" y="438150"/>
            <a:ext cx="11010900" cy="1038225"/>
          </a:xfrm>
          <a:prstGeom prst="rect">
            <a:avLst/>
          </a:prstGeom>
          <a:noFill/>
          <a:ln w="0">
            <a:noFill/>
          </a:ln>
        </p:spPr>
        <p:txBody>
          <a:bodyPr>
            <a:noAutofit/>
          </a:bodyPr>
          <a:lstStyle/>
          <a:p>
            <a:pPr>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Your turn: find restaurants</a:t>
            </a:r>
          </a:p>
        </p:txBody>
      </p:sp>
      <p:sp>
        <p:nvSpPr>
          <p:cNvPr id="2" name="Rectangle 1">
            <a:extLst>
              <a:ext uri="{FF2B5EF4-FFF2-40B4-BE49-F238E27FC236}">
                <a16:creationId xmlns:a16="http://schemas.microsoft.com/office/drawing/2014/main" id="{CD724F49-FAFB-4D25-86B2-B7C9E414962E}"/>
              </a:ext>
            </a:extLst>
          </p:cNvPr>
          <p:cNvSpPr>
            <a:spLocks noGrp="1"/>
          </p:cNvSpPr>
          <p:nvPr/>
        </p:nvSpPr>
        <p:spPr>
          <a:xfrm>
            <a:off x="628650" y="2143125"/>
            <a:ext cx="10668000" cy="2476500"/>
          </a:xfrm>
          <a:prstGeom prst="rect">
            <a:avLst/>
          </a:prstGeom>
          <a:noFill/>
          <a:ln w="0">
            <a:noFill/>
          </a:ln>
        </p:spPr>
        <p:txBody>
          <a:bodyPr>
            <a:noAutofit/>
          </a:bodyPr>
          <a:lstStyle/>
          <a:p>
            <a:pPr>
              <a:defRPr sz="3825" b="0">
                <a:solidFill>
                  <a:srgbClr val="FFFFFF"/>
                </a:solidFill>
                <a:latin typeface="Helvetica Neue"/>
                <a:ea typeface="Helvetica Neue"/>
                <a:cs typeface="Helvetica Neue"/>
              </a:defRPr>
            </a:pPr>
            <a:r>
              <a:rPr sz="3825" b="0">
                <a:solidFill>
                  <a:srgbClr val="FFFFFF"/>
                </a:solidFill>
                <a:latin typeface="Helvetica Neue"/>
                <a:ea typeface="Helvetica Neue"/>
                <a:cs typeface="Helvetica Neue"/>
              </a:rPr>
              <a:t>Which word would you change?</a:t>
            </a:r>
          </a:p>
        </p:txBody>
      </p:sp>
      <p:sp>
        <p:nvSpPr>
          <p:cNvPr id="3" name="Rectangle 2">
            <a:extLst>
              <a:ext uri="{FF2B5EF4-FFF2-40B4-BE49-F238E27FC236}">
                <a16:creationId xmlns:a16="http://schemas.microsoft.com/office/drawing/2014/main" id="{38D0D86E-EFD8-4780-9395-463E93394E1D}"/>
              </a:ext>
            </a:extLst>
          </p:cNvPr>
          <p:cNvSpPr>
            <a:spLocks noGrp="1"/>
          </p:cNvSpPr>
          <p:nvPr/>
        </p:nvSpPr>
        <p:spPr>
          <a:xfrm>
            <a:off x="647700" y="5429250"/>
            <a:ext cx="10525125" cy="847725"/>
          </a:xfrm>
          <a:prstGeom prst="rect">
            <a:avLst/>
          </a:prstGeom>
          <a:noFill/>
          <a:ln w="0">
            <a:noFill/>
          </a:ln>
        </p:spPr>
        <p:txBody>
          <a:bodyPr>
            <a:noAutofit/>
          </a:bodyPr>
          <a:lstStyle/>
          <a:p>
            <a:pPr>
              <a:defRPr sz="2250" b="0">
                <a:solidFill>
                  <a:srgbClr val="8FD4D9"/>
                </a:solidFill>
                <a:latin typeface="Helvetica Neue"/>
                <a:ea typeface="Helvetica Neue"/>
                <a:cs typeface="Helvetica Neue"/>
              </a:defRPr>
            </a:pPr>
            <a:r>
              <a:rPr sz="2250" b="0">
                <a:solidFill>
                  <a:srgbClr val="8FD4D9"/>
                </a:solidFill>
                <a:latin typeface="Helvetica Neue"/>
                <a:ea typeface="Helvetica Neue"/>
                <a:cs typeface="Helvetica Neue"/>
              </a:rPr>
              <a:t>{"amenity": "cafe"}</a:t>
            </a:r>
          </a:p>
        </p:txBody>
      </p:sp>
      <p:sp>
        <p:nvSpPr>
          <p:cNvPr id="4" name="Rectangle 3">
            <a:extLst>
              <a:ext uri="{FF2B5EF4-FFF2-40B4-BE49-F238E27FC236}">
                <a16:creationId xmlns:a16="http://schemas.microsoft.com/office/drawing/2014/main" id="{680664B2-7BED-43D0-A560-D9D144DBE151}"/>
              </a:ext>
            </a:extLst>
          </p:cNvPr>
          <p:cNvSpPr>
            <a:spLocks noGrp="1"/>
          </p:cNvSpPr>
          <p:nvPr/>
        </p:nvSpPr>
        <p:spPr>
          <a:xfrm>
            <a:off x="11591925" y="6515100"/>
            <a:ext cx="428625" cy="257175"/>
          </a:xfrm>
          <a:prstGeom prst="rect">
            <a:avLst/>
          </a:prstGeom>
          <a:noFill/>
          <a:ln w="0">
            <a:noFill/>
          </a:ln>
        </p:spPr>
        <p:txBody>
          <a:bodyPr>
            <a:noAutofit/>
          </a:bodyPr>
          <a:lstStyle/>
          <a:p>
            <a:pPr>
              <a:defRPr sz="1200" b="0">
                <a:solidFill>
                  <a:srgbClr val="9CB7BC"/>
                </a:solidFill>
                <a:latin typeface="Helvetica Neue"/>
                <a:ea typeface="Helvetica Neue"/>
                <a:cs typeface="Helvetica Neue"/>
              </a:defRPr>
            </a:pPr>
            <a:r>
              <a:rPr sz="1200" b="0">
                <a:solidFill>
                  <a:srgbClr val="9CB7BC"/>
                </a:solidFill>
                <a:latin typeface="Helvetica Neue"/>
                <a:ea typeface="Helvetica Neue"/>
                <a:cs typeface="Helvetica Neue"/>
              </a:rPr>
              <a:t>17</a:t>
            </a:r>
          </a:p>
        </p:txBody>
      </p:sp>
    </p:spTree>
    <p:extLst>
      <p:ext uri="{BB962C8B-B14F-4D97-AF65-F5344CB8AC3E}">
        <p14:creationId xmlns:p14="http://schemas.microsoft.com/office/powerpoint/2010/main" val="16533028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A641D52-7D84-4D2A-85EF-6117E305C1F3}"/>
              </a:ext>
            </a:extLst>
          </p:cNvPr>
          <p:cNvSpPr>
            <a:spLocks noGrp="1"/>
          </p:cNvSpPr>
          <p:nvPr/>
        </p:nvSpPr>
        <p:spPr>
          <a:xfrm>
            <a:off x="590550" y="438150"/>
            <a:ext cx="11010900" cy="1038225"/>
          </a:xfrm>
          <a:prstGeom prst="rect">
            <a:avLst/>
          </a:prstGeom>
          <a:noFill/>
          <a:ln w="0">
            <a:noFill/>
          </a:ln>
        </p:spPr>
        <p:txBody>
          <a:bodyPr>
            <a:noAutofit/>
          </a:bodyPr>
          <a:lstStyle/>
          <a:p>
            <a:pPr>
              <a:defRPr sz="3450" b="1">
                <a:solidFill>
                  <a:srgbClr val="243136"/>
                </a:solidFill>
                <a:latin typeface="Helvetica Neue"/>
                <a:ea typeface="Helvetica Neue"/>
                <a:cs typeface="Helvetica Neue"/>
              </a:defRPr>
            </a:pPr>
            <a:r>
              <a:rPr sz="3450" b="1">
                <a:solidFill>
                  <a:srgbClr val="243136"/>
                </a:solidFill>
                <a:latin typeface="Helvetica Neue"/>
                <a:ea typeface="Helvetica Neue"/>
                <a:cs typeface="Helvetica Neue"/>
              </a:rPr>
              <a:t>Now we want connections</a:t>
            </a:r>
          </a:p>
        </p:txBody>
      </p:sp>
      <p:sp>
        <p:nvSpPr>
          <p:cNvPr id="2" name="Rectangle 1">
            <a:extLst>
              <a:ext uri="{FF2B5EF4-FFF2-40B4-BE49-F238E27FC236}">
                <a16:creationId xmlns:a16="http://schemas.microsoft.com/office/drawing/2014/main" id="{8A127A66-9060-4EC5-8935-61577ACB65B4}"/>
              </a:ext>
            </a:extLst>
          </p:cNvPr>
          <p:cNvSpPr>
            <a:spLocks noGrp="1"/>
          </p:cNvSpPr>
          <p:nvPr/>
        </p:nvSpPr>
        <p:spPr>
          <a:xfrm>
            <a:off x="619125" y="2009775"/>
            <a:ext cx="6143625" cy="3067050"/>
          </a:xfrm>
          <a:prstGeom prst="rect">
            <a:avLst/>
          </a:prstGeom>
          <a:noFill/>
          <a:ln w="0">
            <a:noFill/>
          </a:ln>
        </p:spPr>
        <p:txBody>
          <a:bodyPr>
            <a:noAutofit/>
          </a:bodyPr>
          <a:lstStyle/>
          <a:p>
            <a:pPr>
              <a:defRPr sz="1725" b="0">
                <a:solidFill>
                  <a:srgbClr val="227C9D"/>
                </a:solidFill>
                <a:latin typeface="Menlo"/>
                <a:ea typeface="Menlo"/>
                <a:cs typeface="Menlo"/>
              </a:defRPr>
            </a:pPr>
            <a:r>
              <a:rPr sz="1725" b="0">
                <a:solidFill>
                  <a:srgbClr val="227C9D"/>
                </a:solidFill>
                <a:latin typeface="Menlo"/>
                <a:ea typeface="Menlo"/>
                <a:cs typeface="Menlo"/>
              </a:rPr>
              <a:t>G = ox.graph_from_point(</a:t>
            </a:r>
          </a:p>
          <a:p>
            <a:pPr>
              <a:defRPr sz="1725" b="0">
                <a:solidFill>
                  <a:srgbClr val="227C9D"/>
                </a:solidFill>
                <a:latin typeface="Menlo"/>
                <a:ea typeface="Menlo"/>
                <a:cs typeface="Menlo"/>
              </a:defRPr>
            </a:pPr>
            <a:r>
              <a:rPr sz="1725" b="0">
                <a:solidFill>
                  <a:srgbClr val="227C9D"/>
                </a:solidFill>
                <a:latin typeface="Menlo"/>
                <a:ea typeface="Menlo"/>
                <a:cs typeface="Menlo"/>
              </a:rPr>
              <a:t>    center, dist=2500,</a:t>
            </a:r>
          </a:p>
          <a:p>
            <a:pPr>
              <a:defRPr sz="1725" b="0">
                <a:solidFill>
                  <a:srgbClr val="227C9D"/>
                </a:solidFill>
                <a:latin typeface="Menlo"/>
                <a:ea typeface="Menlo"/>
                <a:cs typeface="Menlo"/>
              </a:defRPr>
            </a:pPr>
            <a:r>
              <a:rPr sz="1725" b="0">
                <a:solidFill>
                  <a:srgbClr val="227C9D"/>
                </a:solidFill>
                <a:latin typeface="Menlo"/>
                <a:ea typeface="Menlo"/>
                <a:cs typeface="Menlo"/>
              </a:rPr>
              <a:t>    network_type="walk"</a:t>
            </a:r>
          </a:p>
          <a:p>
            <a:pPr>
              <a:defRPr sz="1725" b="0">
                <a:solidFill>
                  <a:srgbClr val="227C9D"/>
                </a:solidFill>
                <a:latin typeface="Menlo"/>
                <a:ea typeface="Menlo"/>
                <a:cs typeface="Menlo"/>
              </a:defRPr>
            </a:pPr>
            <a:r>
              <a:rPr sz="1725" b="0">
                <a:solidFill>
                  <a:srgbClr val="227C9D"/>
                </a:solidFill>
                <a:latin typeface="Menlo"/>
                <a:ea typeface="Menlo"/>
                <a:cs typeface="Menlo"/>
              </a:rPr>
              <a:t>)</a:t>
            </a:r>
          </a:p>
          <a:p>
            <a:pPr>
              <a:defRPr sz="1725" b="0">
                <a:solidFill>
                  <a:srgbClr val="227C9D"/>
                </a:solidFill>
                <a:latin typeface="Menlo"/>
                <a:ea typeface="Menlo"/>
                <a:cs typeface="Menlo"/>
              </a:defRPr>
            </a:pPr>
            <a:r>
              <a:rPr sz="1725" b="0">
                <a:solidFill>
                  <a:srgbClr val="227C9D"/>
                </a:solidFill>
                <a:latin typeface="Menlo"/>
                <a:ea typeface="Menlo"/>
                <a:cs typeface="Menlo"/>
              </a:rPr>
              <a:t>ox.plot_graph(G, node_size=0)</a:t>
            </a:r>
          </a:p>
        </p:txBody>
      </p:sp>
      <p:pic>
        <p:nvPicPr>
          <p:cNvPr id="9" name="Picture 8"/>
          <p:cNvPicPr>
            <a:picLocks noChangeAspect="1"/>
          </p:cNvPicPr>
          <p:nvPr/>
        </p:nvPicPr>
        <p:blipFill>
          <a:blip r:embed="rId3"/>
          <a:stretch/>
        </p:blipFill>
        <p:spPr>
          <a:xfrm>
            <a:off x="7104155" y="1552575"/>
            <a:ext cx="4308290" cy="4305300"/>
          </a:xfrm>
          <a:prstGeom prst="rect">
            <a:avLst/>
          </a:prstGeom>
        </p:spPr>
      </p:pic>
      <p:sp>
        <p:nvSpPr>
          <p:cNvPr id="4" name="Rectangle 3">
            <a:extLst>
              <a:ext uri="{FF2B5EF4-FFF2-40B4-BE49-F238E27FC236}">
                <a16:creationId xmlns:a16="http://schemas.microsoft.com/office/drawing/2014/main" id="{19A5B938-3650-4250-989B-240038494E49}"/>
              </a:ext>
            </a:extLst>
          </p:cNvPr>
          <p:cNvSpPr>
            <a:spLocks noGrp="1"/>
          </p:cNvSpPr>
          <p:nvPr/>
        </p:nvSpPr>
        <p:spPr>
          <a:xfrm>
            <a:off x="638175" y="5476875"/>
            <a:ext cx="6191250" cy="914400"/>
          </a:xfrm>
          <a:prstGeom prst="rect">
            <a:avLst/>
          </a:prstGeom>
          <a:noFill/>
          <a:ln w="0">
            <a:noFill/>
          </a:ln>
        </p:spPr>
        <p:txBody>
          <a:bodyPr>
            <a:noAutofit/>
          </a:bodyPr>
          <a:lstStyle/>
          <a:p>
            <a:pPr>
              <a:defRPr sz="1950" b="0">
                <a:solidFill>
                  <a:srgbClr val="243136"/>
                </a:solidFill>
                <a:latin typeface="Helvetica Neue"/>
                <a:ea typeface="Helvetica Neue"/>
                <a:cs typeface="Helvetica Neue"/>
              </a:defRPr>
            </a:pPr>
            <a:r>
              <a:rPr sz="1950" b="0">
                <a:solidFill>
                  <a:srgbClr val="243136"/>
                </a:solidFill>
                <a:latin typeface="Helvetica Neue"/>
                <a:ea typeface="Helvetica Neue"/>
                <a:cs typeface="Helvetica Neue"/>
              </a:rPr>
              <a:t>Notebook §4</a:t>
            </a:r>
          </a:p>
        </p:txBody>
      </p:sp>
      <p:sp>
        <p:nvSpPr>
          <p:cNvPr id="5" name="Rectangle 4">
            <a:extLst>
              <a:ext uri="{FF2B5EF4-FFF2-40B4-BE49-F238E27FC236}">
                <a16:creationId xmlns:a16="http://schemas.microsoft.com/office/drawing/2014/main" id="{2E305A22-E83F-4446-A39A-AD6D9DFB9867}"/>
              </a:ext>
            </a:extLst>
          </p:cNvPr>
          <p:cNvSpPr>
            <a:spLocks noGrp="1"/>
          </p:cNvSpPr>
          <p:nvPr/>
        </p:nvSpPr>
        <p:spPr>
          <a:xfrm>
            <a:off x="619125" y="6581775"/>
            <a:ext cx="5334000" cy="228600"/>
          </a:xfrm>
          <a:prstGeom prst="rect">
            <a:avLst/>
          </a:prstGeom>
          <a:noFill/>
          <a:ln w="0">
            <a:noFill/>
          </a:ln>
        </p:spPr>
        <p:txBody>
          <a:bodyPr>
            <a:noAutofit/>
          </a:bodyPr>
          <a:lstStyle/>
          <a:p>
            <a:pPr>
              <a:defRPr sz="1125" b="0">
                <a:solidFill>
                  <a:srgbClr val="5B676A"/>
                </a:solidFill>
                <a:latin typeface="Helvetica Neue"/>
                <a:ea typeface="Helvetica Neue"/>
                <a:cs typeface="Helvetica Neue"/>
              </a:defRPr>
            </a:pPr>
            <a:r>
              <a:rPr sz="1125" b="0">
                <a:solidFill>
                  <a:srgbClr val="5B676A"/>
                </a:solidFill>
                <a:latin typeface="Helvetica Neue"/>
                <a:ea typeface="Helvetica Neue"/>
                <a:cs typeface="Helvetica Neue"/>
              </a:rPr>
              <a:t>© OpenStreetMap contributors</a:t>
            </a:r>
          </a:p>
        </p:txBody>
      </p:sp>
      <p:sp>
        <p:nvSpPr>
          <p:cNvPr id="6" name="Rectangle 5">
            <a:extLst>
              <a:ext uri="{FF2B5EF4-FFF2-40B4-BE49-F238E27FC236}">
                <a16:creationId xmlns:a16="http://schemas.microsoft.com/office/drawing/2014/main" id="{5A2ACF30-614A-4887-8181-E807E7826BD2}"/>
              </a:ext>
            </a:extLst>
          </p:cNvPr>
          <p:cNvSpPr>
            <a:spLocks noGrp="1"/>
          </p:cNvSpPr>
          <p:nvPr/>
        </p:nvSpPr>
        <p:spPr>
          <a:xfrm>
            <a:off x="11591925" y="6515100"/>
            <a:ext cx="428625" cy="257175"/>
          </a:xfrm>
          <a:prstGeom prst="rect">
            <a:avLst/>
          </a:prstGeom>
          <a:noFill/>
          <a:ln w="0">
            <a:noFill/>
          </a:ln>
        </p:spPr>
        <p:txBody>
          <a:bodyPr>
            <a:noAutofit/>
          </a:bodyPr>
          <a:lstStyle/>
          <a:p>
            <a:pPr>
              <a:defRPr sz="1200" b="0">
                <a:solidFill>
                  <a:srgbClr val="5B676A"/>
                </a:solidFill>
                <a:latin typeface="Helvetica Neue"/>
                <a:ea typeface="Helvetica Neue"/>
                <a:cs typeface="Helvetica Neue"/>
              </a:defRPr>
            </a:pPr>
            <a:r>
              <a:rPr sz="1200" b="0">
                <a:solidFill>
                  <a:srgbClr val="5B676A"/>
                </a:solidFill>
                <a:latin typeface="Helvetica Neue"/>
                <a:ea typeface="Helvetica Neue"/>
                <a:cs typeface="Helvetica Neue"/>
              </a:rPr>
              <a:t>18</a:t>
            </a:r>
          </a:p>
        </p:txBody>
      </p:sp>
    </p:spTree>
    <p:extLst>
      <p:ext uri="{BB962C8B-B14F-4D97-AF65-F5344CB8AC3E}">
        <p14:creationId xmlns:p14="http://schemas.microsoft.com/office/powerpoint/2010/main" val="21124165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B99729F-AE16-47B1-99EC-B505DF7D68F3}"/>
              </a:ext>
            </a:extLst>
          </p:cNvPr>
          <p:cNvSpPr>
            <a:spLocks noGrp="1"/>
          </p:cNvSpPr>
          <p:nvPr/>
        </p:nvSpPr>
        <p:spPr>
          <a:xfrm>
            <a:off x="590550" y="438150"/>
            <a:ext cx="11010900" cy="1038225"/>
          </a:xfrm>
          <a:prstGeom prst="rect">
            <a:avLst/>
          </a:prstGeom>
          <a:noFill/>
          <a:ln w="0">
            <a:noFill/>
          </a:ln>
        </p:spPr>
        <p:txBody>
          <a:bodyPr>
            <a:noAutofit/>
          </a:bodyPr>
          <a:lstStyle/>
          <a:p>
            <a:pPr>
              <a:defRPr sz="3450" b="1">
                <a:solidFill>
                  <a:srgbClr val="243136"/>
                </a:solidFill>
                <a:latin typeface="Helvetica Neue"/>
                <a:ea typeface="Helvetica Neue"/>
                <a:cs typeface="Helvetica Neue"/>
              </a:defRPr>
            </a:pPr>
            <a:r>
              <a:rPr sz="3450" b="1">
                <a:solidFill>
                  <a:srgbClr val="243136"/>
                </a:solidFill>
                <a:latin typeface="Helvetica Neue"/>
                <a:ea typeface="Helvetica Neue"/>
                <a:cs typeface="Helvetica Neue"/>
              </a:rPr>
              <a:t>Can walking and driving use the same links?</a:t>
            </a:r>
          </a:p>
        </p:txBody>
      </p:sp>
      <p:sp>
        <p:nvSpPr>
          <p:cNvPr id="2" name="Rectangle 1">
            <a:extLst>
              <a:ext uri="{FF2B5EF4-FFF2-40B4-BE49-F238E27FC236}">
                <a16:creationId xmlns:a16="http://schemas.microsoft.com/office/drawing/2014/main" id="{9756A89B-44BB-47E7-940D-5211DCF4ABEC}"/>
              </a:ext>
            </a:extLst>
          </p:cNvPr>
          <p:cNvSpPr>
            <a:spLocks noGrp="1"/>
          </p:cNvSpPr>
          <p:nvPr/>
        </p:nvSpPr>
        <p:spPr>
          <a:xfrm>
            <a:off x="628650" y="1571625"/>
            <a:ext cx="5048250" cy="457200"/>
          </a:xfrm>
          <a:prstGeom prst="rect">
            <a:avLst/>
          </a:prstGeom>
          <a:noFill/>
          <a:ln w="0">
            <a:noFill/>
          </a:ln>
        </p:spPr>
        <p:txBody>
          <a:bodyPr>
            <a:noAutofit/>
          </a:bodyPr>
          <a:lstStyle/>
          <a:p>
            <a:pPr>
              <a:defRPr sz="2100" b="1">
                <a:solidFill>
                  <a:srgbClr val="227C9D"/>
                </a:solidFill>
                <a:latin typeface="Helvetica Neue"/>
                <a:ea typeface="Helvetica Neue"/>
                <a:cs typeface="Helvetica Neue"/>
              </a:defRPr>
            </a:pPr>
            <a:r>
              <a:rPr sz="2100" b="1">
                <a:solidFill>
                  <a:srgbClr val="227C9D"/>
                </a:solidFill>
                <a:latin typeface="Helvetica Neue"/>
                <a:ea typeface="Helvetica Neue"/>
                <a:cs typeface="Helvetica Neue"/>
              </a:rPr>
              <a:t>Driving</a:t>
            </a:r>
          </a:p>
        </p:txBody>
      </p:sp>
      <p:sp>
        <p:nvSpPr>
          <p:cNvPr id="3" name="Rectangle 2">
            <a:extLst>
              <a:ext uri="{FF2B5EF4-FFF2-40B4-BE49-F238E27FC236}">
                <a16:creationId xmlns:a16="http://schemas.microsoft.com/office/drawing/2014/main" id="{E3FDEB3C-9E3C-4DD6-8C83-3E51FFE02FD3}"/>
              </a:ext>
            </a:extLst>
          </p:cNvPr>
          <p:cNvSpPr>
            <a:spLocks noGrp="1"/>
          </p:cNvSpPr>
          <p:nvPr/>
        </p:nvSpPr>
        <p:spPr>
          <a:xfrm>
            <a:off x="6467475" y="1571625"/>
            <a:ext cx="5095875" cy="457200"/>
          </a:xfrm>
          <a:prstGeom prst="rect">
            <a:avLst/>
          </a:prstGeom>
          <a:noFill/>
          <a:ln w="0">
            <a:noFill/>
          </a:ln>
        </p:spPr>
        <p:txBody>
          <a:bodyPr>
            <a:noAutofit/>
          </a:bodyPr>
          <a:lstStyle/>
          <a:p>
            <a:pPr>
              <a:defRPr sz="2100" b="1">
                <a:solidFill>
                  <a:srgbClr val="227C9D"/>
                </a:solidFill>
                <a:latin typeface="Helvetica Neue"/>
                <a:ea typeface="Helvetica Neue"/>
                <a:cs typeface="Helvetica Neue"/>
              </a:defRPr>
            </a:pPr>
            <a:r>
              <a:rPr sz="2100" b="1">
                <a:solidFill>
                  <a:srgbClr val="227C9D"/>
                </a:solidFill>
                <a:latin typeface="Helvetica Neue"/>
                <a:ea typeface="Helvetica Neue"/>
                <a:cs typeface="Helvetica Neue"/>
              </a:rPr>
              <a:t>Walking</a:t>
            </a:r>
          </a:p>
        </p:txBody>
      </p:sp>
      <p:pic>
        <p:nvPicPr>
          <p:cNvPr id="11" name="Picture 10"/>
          <p:cNvPicPr>
            <a:picLocks noChangeAspect="1"/>
          </p:cNvPicPr>
          <p:nvPr/>
        </p:nvPicPr>
        <p:blipFill>
          <a:blip r:embed="rId3"/>
          <a:stretch/>
        </p:blipFill>
        <p:spPr>
          <a:xfrm>
            <a:off x="1219200" y="2152650"/>
            <a:ext cx="3905250" cy="3905250"/>
          </a:xfrm>
          <a:prstGeom prst="rect">
            <a:avLst/>
          </a:prstGeom>
        </p:spPr>
      </p:pic>
      <p:pic>
        <p:nvPicPr>
          <p:cNvPr id="12" name="Picture 11"/>
          <p:cNvPicPr>
            <a:picLocks noChangeAspect="1"/>
          </p:cNvPicPr>
          <p:nvPr/>
        </p:nvPicPr>
        <p:blipFill>
          <a:blip r:embed="rId4"/>
          <a:stretch/>
        </p:blipFill>
        <p:spPr>
          <a:xfrm>
            <a:off x="7067550" y="2152650"/>
            <a:ext cx="3905250" cy="3905250"/>
          </a:xfrm>
          <a:prstGeom prst="rect">
            <a:avLst/>
          </a:prstGeom>
        </p:spPr>
      </p:pic>
      <p:sp>
        <p:nvSpPr>
          <p:cNvPr id="6" name="Rectangle 5">
            <a:extLst>
              <a:ext uri="{FF2B5EF4-FFF2-40B4-BE49-F238E27FC236}">
                <a16:creationId xmlns:a16="http://schemas.microsoft.com/office/drawing/2014/main" id="{8925847E-BBC9-4DB0-8CB1-4EA7EED316DE}"/>
              </a:ext>
            </a:extLst>
          </p:cNvPr>
          <p:cNvSpPr>
            <a:spLocks noGrp="1"/>
          </p:cNvSpPr>
          <p:nvPr/>
        </p:nvSpPr>
        <p:spPr>
          <a:xfrm>
            <a:off x="619125" y="6581775"/>
            <a:ext cx="5334000" cy="228600"/>
          </a:xfrm>
          <a:prstGeom prst="rect">
            <a:avLst/>
          </a:prstGeom>
          <a:noFill/>
          <a:ln w="0">
            <a:noFill/>
          </a:ln>
        </p:spPr>
        <p:txBody>
          <a:bodyPr>
            <a:noAutofit/>
          </a:bodyPr>
          <a:lstStyle/>
          <a:p>
            <a:pPr>
              <a:defRPr sz="1125" b="0">
                <a:solidFill>
                  <a:srgbClr val="5B676A"/>
                </a:solidFill>
                <a:latin typeface="Helvetica Neue"/>
                <a:ea typeface="Helvetica Neue"/>
                <a:cs typeface="Helvetica Neue"/>
              </a:defRPr>
            </a:pPr>
            <a:r>
              <a:rPr sz="1125" b="0">
                <a:solidFill>
                  <a:srgbClr val="5B676A"/>
                </a:solidFill>
                <a:latin typeface="Helvetica Neue"/>
                <a:ea typeface="Helvetica Neue"/>
                <a:cs typeface="Helvetica Neue"/>
              </a:rPr>
              <a:t>© OpenStreetMap contributors</a:t>
            </a:r>
          </a:p>
        </p:txBody>
      </p:sp>
      <p:sp>
        <p:nvSpPr>
          <p:cNvPr id="7" name="Rectangle 6">
            <a:extLst>
              <a:ext uri="{FF2B5EF4-FFF2-40B4-BE49-F238E27FC236}">
                <a16:creationId xmlns:a16="http://schemas.microsoft.com/office/drawing/2014/main" id="{C8636BCA-90A8-459F-B705-BC295892A7C1}"/>
              </a:ext>
            </a:extLst>
          </p:cNvPr>
          <p:cNvSpPr>
            <a:spLocks noGrp="1"/>
          </p:cNvSpPr>
          <p:nvPr/>
        </p:nvSpPr>
        <p:spPr>
          <a:xfrm>
            <a:off x="11591925" y="6515100"/>
            <a:ext cx="428625" cy="257175"/>
          </a:xfrm>
          <a:prstGeom prst="rect">
            <a:avLst/>
          </a:prstGeom>
          <a:noFill/>
          <a:ln w="0">
            <a:noFill/>
          </a:ln>
        </p:spPr>
        <p:txBody>
          <a:bodyPr>
            <a:noAutofit/>
          </a:bodyPr>
          <a:lstStyle/>
          <a:p>
            <a:pPr>
              <a:defRPr sz="1200" b="0">
                <a:solidFill>
                  <a:srgbClr val="5B676A"/>
                </a:solidFill>
                <a:latin typeface="Helvetica Neue"/>
                <a:ea typeface="Helvetica Neue"/>
                <a:cs typeface="Helvetica Neue"/>
              </a:defRPr>
            </a:pPr>
            <a:r>
              <a:rPr sz="1200" b="0">
                <a:solidFill>
                  <a:srgbClr val="5B676A"/>
                </a:solidFill>
                <a:latin typeface="Helvetica Neue"/>
                <a:ea typeface="Helvetica Neue"/>
                <a:cs typeface="Helvetica Neue"/>
              </a:rPr>
              <a:t>19</a:t>
            </a:r>
          </a:p>
        </p:txBody>
      </p:sp>
    </p:spTree>
    <p:extLst>
      <p:ext uri="{BB962C8B-B14F-4D97-AF65-F5344CB8AC3E}">
        <p14:creationId xmlns:p14="http://schemas.microsoft.com/office/powerpoint/2010/main" val="17064458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3F5D7A0-2888-4222-9F20-02F1EA275AD9}"/>
              </a:ext>
            </a:extLst>
          </p:cNvPr>
          <p:cNvSpPr>
            <a:spLocks noGrp="1"/>
          </p:cNvSpPr>
          <p:nvPr/>
        </p:nvSpPr>
        <p:spPr>
          <a:xfrm>
            <a:off x="590550" y="438150"/>
            <a:ext cx="11010900" cy="1038225"/>
          </a:xfrm>
          <a:prstGeom prst="rect">
            <a:avLst/>
          </a:prstGeom>
          <a:noFill/>
          <a:ln w="0">
            <a:noFill/>
          </a:ln>
        </p:spPr>
        <p:txBody>
          <a:bodyPr>
            <a:noAutofit/>
          </a:bodyPr>
          <a:lstStyle/>
          <a:p>
            <a:pPr>
              <a:defRPr sz="3450" b="1">
                <a:solidFill>
                  <a:srgbClr val="243136"/>
                </a:solidFill>
                <a:latin typeface="Helvetica Neue"/>
                <a:ea typeface="Helvetica Neue"/>
                <a:cs typeface="Helvetica Neue"/>
              </a:defRPr>
            </a:pPr>
            <a:r>
              <a:rPr sz="3450" b="1">
                <a:solidFill>
                  <a:srgbClr val="243136"/>
                </a:solidFill>
                <a:latin typeface="Helvetica Neue"/>
                <a:ea typeface="Helvetica Neue"/>
                <a:cs typeface="Helvetica Neue"/>
              </a:rPr>
              <a:t>The dots and lines have names</a:t>
            </a:r>
          </a:p>
        </p:txBody>
      </p:sp>
      <p:sp>
        <p:nvSpPr>
          <p:cNvPr id="2" name="Rectangle 1">
            <a:extLst>
              <a:ext uri="{FF2B5EF4-FFF2-40B4-BE49-F238E27FC236}">
                <a16:creationId xmlns:a16="http://schemas.microsoft.com/office/drawing/2014/main" id="{AB02FEF5-B6DC-493C-9E54-ACB661E2BF91}"/>
              </a:ext>
            </a:extLst>
          </p:cNvPr>
          <p:cNvSpPr>
            <a:spLocks noGrp="1"/>
          </p:cNvSpPr>
          <p:nvPr/>
        </p:nvSpPr>
        <p:spPr>
          <a:xfrm>
            <a:off x="628650" y="1571625"/>
            <a:ext cx="5048250" cy="457200"/>
          </a:xfrm>
          <a:prstGeom prst="rect">
            <a:avLst/>
          </a:prstGeom>
          <a:noFill/>
          <a:ln w="0">
            <a:noFill/>
          </a:ln>
        </p:spPr>
        <p:txBody>
          <a:bodyPr>
            <a:noAutofit/>
          </a:bodyPr>
          <a:lstStyle/>
          <a:p>
            <a:pPr>
              <a:defRPr sz="2100" b="1">
                <a:solidFill>
                  <a:srgbClr val="227C9D"/>
                </a:solidFill>
                <a:latin typeface="Helvetica Neue"/>
                <a:ea typeface="Helvetica Neue"/>
                <a:cs typeface="Helvetica Neue"/>
              </a:defRPr>
            </a:pPr>
            <a:r>
              <a:rPr sz="2100" b="1">
                <a:solidFill>
                  <a:srgbClr val="227C9D"/>
                </a:solidFill>
                <a:latin typeface="Helvetica Neue"/>
                <a:ea typeface="Helvetica Neue"/>
                <a:cs typeface="Helvetica Neue"/>
              </a:rPr>
              <a:t>OSM shape points</a:t>
            </a:r>
          </a:p>
        </p:txBody>
      </p:sp>
      <p:sp>
        <p:nvSpPr>
          <p:cNvPr id="3" name="Rectangle 2">
            <a:extLst>
              <a:ext uri="{FF2B5EF4-FFF2-40B4-BE49-F238E27FC236}">
                <a16:creationId xmlns:a16="http://schemas.microsoft.com/office/drawing/2014/main" id="{EBE86A98-76A6-4DBB-B4E3-7B524EC71234}"/>
              </a:ext>
            </a:extLst>
          </p:cNvPr>
          <p:cNvSpPr>
            <a:spLocks noGrp="1"/>
          </p:cNvSpPr>
          <p:nvPr/>
        </p:nvSpPr>
        <p:spPr>
          <a:xfrm>
            <a:off x="6467475" y="1571625"/>
            <a:ext cx="5095875" cy="457200"/>
          </a:xfrm>
          <a:prstGeom prst="rect">
            <a:avLst/>
          </a:prstGeom>
          <a:noFill/>
          <a:ln w="0">
            <a:noFill/>
          </a:ln>
        </p:spPr>
        <p:txBody>
          <a:bodyPr>
            <a:noAutofit/>
          </a:bodyPr>
          <a:lstStyle/>
          <a:p>
            <a:pPr>
              <a:defRPr sz="2100" b="1">
                <a:solidFill>
                  <a:srgbClr val="227C9D"/>
                </a:solidFill>
                <a:latin typeface="Helvetica Neue"/>
                <a:ea typeface="Helvetica Neue"/>
                <a:cs typeface="Helvetica Neue"/>
              </a:defRPr>
            </a:pPr>
            <a:r>
              <a:rPr sz="2100" b="1">
                <a:solidFill>
                  <a:srgbClr val="227C9D"/>
                </a:solidFill>
                <a:latin typeface="Helvetica Neue"/>
                <a:ea typeface="Helvetica Neue"/>
                <a:cs typeface="Helvetica Neue"/>
              </a:rPr>
              <a:t>Simplified graph nodes</a:t>
            </a:r>
          </a:p>
        </p:txBody>
      </p:sp>
      <p:pic>
        <p:nvPicPr>
          <p:cNvPr id="11" name="Picture 10"/>
          <p:cNvPicPr>
            <a:picLocks noChangeAspect="1"/>
          </p:cNvPicPr>
          <p:nvPr/>
        </p:nvPicPr>
        <p:blipFill>
          <a:blip r:embed="rId3"/>
          <a:stretch/>
        </p:blipFill>
        <p:spPr>
          <a:xfrm>
            <a:off x="700050" y="2152650"/>
            <a:ext cx="4943551" cy="3905250"/>
          </a:xfrm>
          <a:prstGeom prst="rect">
            <a:avLst/>
          </a:prstGeom>
        </p:spPr>
      </p:pic>
      <p:pic>
        <p:nvPicPr>
          <p:cNvPr id="12" name="Picture 11"/>
          <p:cNvPicPr>
            <a:picLocks noChangeAspect="1"/>
          </p:cNvPicPr>
          <p:nvPr/>
        </p:nvPicPr>
        <p:blipFill>
          <a:blip r:embed="rId4"/>
          <a:stretch/>
        </p:blipFill>
        <p:spPr>
          <a:xfrm>
            <a:off x="6548400" y="2152650"/>
            <a:ext cx="4943551" cy="3905250"/>
          </a:xfrm>
          <a:prstGeom prst="rect">
            <a:avLst/>
          </a:prstGeom>
        </p:spPr>
      </p:pic>
      <p:sp>
        <p:nvSpPr>
          <p:cNvPr id="6" name="Rectangle 5">
            <a:extLst>
              <a:ext uri="{FF2B5EF4-FFF2-40B4-BE49-F238E27FC236}">
                <a16:creationId xmlns:a16="http://schemas.microsoft.com/office/drawing/2014/main" id="{31107D30-18EB-4890-AE3E-795DF5D2E606}"/>
              </a:ext>
            </a:extLst>
          </p:cNvPr>
          <p:cNvSpPr>
            <a:spLocks noGrp="1"/>
          </p:cNvSpPr>
          <p:nvPr/>
        </p:nvSpPr>
        <p:spPr>
          <a:xfrm>
            <a:off x="619125" y="6581775"/>
            <a:ext cx="5334000" cy="228600"/>
          </a:xfrm>
          <a:prstGeom prst="rect">
            <a:avLst/>
          </a:prstGeom>
          <a:noFill/>
          <a:ln w="0">
            <a:noFill/>
          </a:ln>
        </p:spPr>
        <p:txBody>
          <a:bodyPr>
            <a:noAutofit/>
          </a:bodyPr>
          <a:lstStyle/>
          <a:p>
            <a:pPr>
              <a:defRPr sz="1125" b="0">
                <a:solidFill>
                  <a:srgbClr val="5B676A"/>
                </a:solidFill>
                <a:latin typeface="Helvetica Neue"/>
                <a:ea typeface="Helvetica Neue"/>
                <a:cs typeface="Helvetica Neue"/>
              </a:defRPr>
            </a:pPr>
            <a:r>
              <a:rPr sz="1125" b="0">
                <a:solidFill>
                  <a:srgbClr val="5B676A"/>
                </a:solidFill>
                <a:latin typeface="Helvetica Neue"/>
                <a:ea typeface="Helvetica Neue"/>
                <a:cs typeface="Helvetica Neue"/>
              </a:rPr>
              <a:t>© OpenStreetMap contributors</a:t>
            </a:r>
          </a:p>
        </p:txBody>
      </p:sp>
      <p:sp>
        <p:nvSpPr>
          <p:cNvPr id="7" name="Rectangle 6">
            <a:extLst>
              <a:ext uri="{FF2B5EF4-FFF2-40B4-BE49-F238E27FC236}">
                <a16:creationId xmlns:a16="http://schemas.microsoft.com/office/drawing/2014/main" id="{CACB0959-F9BB-4F28-844F-2C66B01D410A}"/>
              </a:ext>
            </a:extLst>
          </p:cNvPr>
          <p:cNvSpPr>
            <a:spLocks noGrp="1"/>
          </p:cNvSpPr>
          <p:nvPr/>
        </p:nvSpPr>
        <p:spPr>
          <a:xfrm>
            <a:off x="11591925" y="6515100"/>
            <a:ext cx="428625" cy="257175"/>
          </a:xfrm>
          <a:prstGeom prst="rect">
            <a:avLst/>
          </a:prstGeom>
          <a:noFill/>
          <a:ln w="0">
            <a:noFill/>
          </a:ln>
        </p:spPr>
        <p:txBody>
          <a:bodyPr>
            <a:noAutofit/>
          </a:bodyPr>
          <a:lstStyle/>
          <a:p>
            <a:pPr>
              <a:defRPr sz="1200" b="0">
                <a:solidFill>
                  <a:srgbClr val="5B676A"/>
                </a:solidFill>
                <a:latin typeface="Helvetica Neue"/>
                <a:ea typeface="Helvetica Neue"/>
                <a:cs typeface="Helvetica Neue"/>
              </a:defRPr>
            </a:pPr>
            <a:r>
              <a:rPr sz="1200" b="0">
                <a:solidFill>
                  <a:srgbClr val="5B676A"/>
                </a:solidFill>
                <a:latin typeface="Helvetica Neue"/>
                <a:ea typeface="Helvetica Neue"/>
                <a:cs typeface="Helvetica Neue"/>
              </a:rPr>
              <a:t>20</a:t>
            </a:r>
          </a:p>
        </p:txBody>
      </p:sp>
    </p:spTree>
    <p:extLst>
      <p:ext uri="{BB962C8B-B14F-4D97-AF65-F5344CB8AC3E}">
        <p14:creationId xmlns:p14="http://schemas.microsoft.com/office/powerpoint/2010/main" val="18027788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B8455D-A516-4072-9BC6-8A2F79A68EB9}"/>
              </a:ext>
            </a:extLst>
          </p:cNvPr>
          <p:cNvSpPr>
            <a:spLocks noGrp="1"/>
          </p:cNvSpPr>
          <p:nvPr/>
        </p:nvSpPr>
        <p:spPr>
          <a:xfrm>
            <a:off x="590550" y="438150"/>
            <a:ext cx="11010900" cy="1038225"/>
          </a:xfrm>
          <a:prstGeom prst="rect">
            <a:avLst/>
          </a:prstGeom>
          <a:noFill/>
          <a:ln w="0">
            <a:noFill/>
          </a:ln>
        </p:spPr>
        <p:txBody>
          <a:bodyPr>
            <a:noAutofit/>
          </a:bodyPr>
          <a:lstStyle/>
          <a:p>
            <a:pPr>
              <a:defRPr sz="3450" b="1">
                <a:solidFill>
                  <a:srgbClr val="243136"/>
                </a:solidFill>
                <a:latin typeface="Helvetica Neue"/>
                <a:ea typeface="Helvetica Neue"/>
                <a:cs typeface="Helvetica Neue"/>
              </a:defRPr>
            </a:pPr>
            <a:r>
              <a:rPr sz="3450" b="1">
                <a:solidFill>
                  <a:srgbClr val="243136"/>
                </a:solidFill>
                <a:latin typeface="Helvetica Neue"/>
                <a:ea typeface="Helvetica Neue"/>
                <a:cs typeface="Helvetica Neue"/>
              </a:rPr>
              <a:t>The graph becomes two familiar tables</a:t>
            </a:r>
          </a:p>
        </p:txBody>
      </p:sp>
      <p:sp>
        <p:nvSpPr>
          <p:cNvPr id="2" name="Rectangle 1">
            <a:extLst>
              <a:ext uri="{FF2B5EF4-FFF2-40B4-BE49-F238E27FC236}">
                <a16:creationId xmlns:a16="http://schemas.microsoft.com/office/drawing/2014/main" id="{334A0104-1694-434A-85A2-1A7163607EB5}"/>
              </a:ext>
            </a:extLst>
          </p:cNvPr>
          <p:cNvSpPr>
            <a:spLocks noGrp="1"/>
          </p:cNvSpPr>
          <p:nvPr/>
        </p:nvSpPr>
        <p:spPr>
          <a:xfrm>
            <a:off x="647700" y="2038350"/>
            <a:ext cx="10810875" cy="2381250"/>
          </a:xfrm>
          <a:prstGeom prst="rect">
            <a:avLst/>
          </a:prstGeom>
          <a:noFill/>
          <a:ln w="0">
            <a:noFill/>
          </a:ln>
        </p:spPr>
        <p:txBody>
          <a:bodyPr>
            <a:noAutofit/>
          </a:bodyPr>
          <a:lstStyle/>
          <a:p>
            <a:pPr>
              <a:defRPr sz="2100" b="0">
                <a:solidFill>
                  <a:srgbClr val="227C9D"/>
                </a:solidFill>
                <a:latin typeface="Menlo"/>
                <a:ea typeface="Menlo"/>
                <a:cs typeface="Menlo"/>
              </a:defRPr>
            </a:pPr>
            <a:r>
              <a:rPr sz="2100" b="0">
                <a:solidFill>
                  <a:srgbClr val="227C9D"/>
                </a:solidFill>
                <a:latin typeface="Menlo"/>
                <a:ea typeface="Menlo"/>
                <a:cs typeface="Menlo"/>
              </a:rPr>
              <a:t>G_m = ox.project_graph(G)</a:t>
            </a:r>
          </a:p>
          <a:p>
            <a:pPr>
              <a:defRPr sz="2100" b="0">
                <a:solidFill>
                  <a:srgbClr val="227C9D"/>
                </a:solidFill>
                <a:latin typeface="Menlo"/>
                <a:ea typeface="Menlo"/>
                <a:cs typeface="Menlo"/>
              </a:defRPr>
            </a:pPr>
            <a:r>
              <a:rPr sz="2100" b="0">
                <a:solidFill>
                  <a:srgbClr val="227C9D"/>
                </a:solidFill>
                <a:latin typeface="Menlo"/>
                <a:ea typeface="Menlo"/>
                <a:cs typeface="Menlo"/>
              </a:rPr>
              <a:t>nodes, edges = ox.graph_to_gdfs(G_m)</a:t>
            </a:r>
          </a:p>
          <a:p>
            <a:endParaRPr sz="2100" b="0">
              <a:solidFill>
                <a:srgbClr val="227C9D"/>
              </a:solidFill>
              <a:latin typeface="Menlo"/>
              <a:ea typeface="Menlo"/>
              <a:cs typeface="Menlo"/>
            </a:endParaRPr>
          </a:p>
          <a:p>
            <a:pPr>
              <a:defRPr sz="2100" b="0">
                <a:solidFill>
                  <a:srgbClr val="227C9D"/>
                </a:solidFill>
                <a:latin typeface="Menlo"/>
                <a:ea typeface="Menlo"/>
                <a:cs typeface="Menlo"/>
              </a:defRPr>
            </a:pPr>
            <a:r>
              <a:rPr sz="2100" b="0">
                <a:solidFill>
                  <a:srgbClr val="227C9D"/>
                </a:solidFill>
                <a:latin typeface="Menlo"/>
                <a:ea typeface="Menlo"/>
                <a:cs typeface="Menlo"/>
              </a:rPr>
              <a:t>edges[["length", "highway", "geometry"]].head()</a:t>
            </a:r>
          </a:p>
        </p:txBody>
      </p:sp>
      <p:sp>
        <p:nvSpPr>
          <p:cNvPr id="3" name="Rectangle 2">
            <a:extLst>
              <a:ext uri="{FF2B5EF4-FFF2-40B4-BE49-F238E27FC236}">
                <a16:creationId xmlns:a16="http://schemas.microsoft.com/office/drawing/2014/main" id="{108FF059-DE57-400F-B388-192A36BC96AE}"/>
              </a:ext>
            </a:extLst>
          </p:cNvPr>
          <p:cNvSpPr>
            <a:spLocks noGrp="1"/>
          </p:cNvSpPr>
          <p:nvPr/>
        </p:nvSpPr>
        <p:spPr>
          <a:xfrm>
            <a:off x="647700" y="5124450"/>
            <a:ext cx="10477500" cy="952500"/>
          </a:xfrm>
          <a:prstGeom prst="rect">
            <a:avLst/>
          </a:prstGeom>
          <a:noFill/>
          <a:ln w="0">
            <a:noFill/>
          </a:ln>
        </p:spPr>
        <p:txBody>
          <a:bodyPr>
            <a:noAutofit/>
          </a:bodyPr>
          <a:lstStyle/>
          <a:p>
            <a:pPr>
              <a:defRPr sz="2250" b="0">
                <a:solidFill>
                  <a:srgbClr val="243136"/>
                </a:solidFill>
                <a:latin typeface="Helvetica Neue"/>
                <a:ea typeface="Helvetica Neue"/>
                <a:cs typeface="Helvetica Neue"/>
              </a:defRPr>
            </a:pPr>
            <a:r>
              <a:rPr sz="2250" b="0">
                <a:solidFill>
                  <a:srgbClr val="243136"/>
                </a:solidFill>
                <a:latin typeface="Helvetica Neue"/>
                <a:ea typeface="Helvetica Neue"/>
                <a:cs typeface="Helvetica Neue"/>
              </a:rPr>
              <a:t>Nodes describe locations. Edges describe connections.</a:t>
            </a:r>
          </a:p>
        </p:txBody>
      </p:sp>
      <p:sp>
        <p:nvSpPr>
          <p:cNvPr id="4" name="Rectangle 3">
            <a:extLst>
              <a:ext uri="{FF2B5EF4-FFF2-40B4-BE49-F238E27FC236}">
                <a16:creationId xmlns:a16="http://schemas.microsoft.com/office/drawing/2014/main" id="{99A38588-65DE-49D0-9C31-C0B247A7F3E2}"/>
              </a:ext>
            </a:extLst>
          </p:cNvPr>
          <p:cNvSpPr>
            <a:spLocks noGrp="1"/>
          </p:cNvSpPr>
          <p:nvPr/>
        </p:nvSpPr>
        <p:spPr>
          <a:xfrm>
            <a:off x="11591925" y="6515100"/>
            <a:ext cx="428625" cy="257175"/>
          </a:xfrm>
          <a:prstGeom prst="rect">
            <a:avLst/>
          </a:prstGeom>
          <a:noFill/>
          <a:ln w="0">
            <a:noFill/>
          </a:ln>
        </p:spPr>
        <p:txBody>
          <a:bodyPr>
            <a:noAutofit/>
          </a:bodyPr>
          <a:lstStyle/>
          <a:p>
            <a:pPr>
              <a:defRPr sz="1200" b="0">
                <a:solidFill>
                  <a:srgbClr val="5B676A"/>
                </a:solidFill>
                <a:latin typeface="Helvetica Neue"/>
                <a:ea typeface="Helvetica Neue"/>
                <a:cs typeface="Helvetica Neue"/>
              </a:defRPr>
            </a:pPr>
            <a:r>
              <a:rPr sz="1200" b="0">
                <a:solidFill>
                  <a:srgbClr val="5B676A"/>
                </a:solidFill>
                <a:latin typeface="Helvetica Neue"/>
                <a:ea typeface="Helvetica Neue"/>
                <a:cs typeface="Helvetica Neue"/>
              </a:rPr>
              <a:t>21</a:t>
            </a:r>
          </a:p>
        </p:txBody>
      </p:sp>
    </p:spTree>
    <p:extLst>
      <p:ext uri="{BB962C8B-B14F-4D97-AF65-F5344CB8AC3E}">
        <p14:creationId xmlns:p14="http://schemas.microsoft.com/office/powerpoint/2010/main" val="7209749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E1C95FC-5CAD-4CC3-B27D-ABBB5692B99B}"/>
              </a:ext>
            </a:extLst>
          </p:cNvPr>
          <p:cNvSpPr>
            <a:spLocks noGrp="1"/>
          </p:cNvSpPr>
          <p:nvPr/>
        </p:nvSpPr>
        <p:spPr>
          <a:xfrm>
            <a:off x="590550" y="438150"/>
            <a:ext cx="11010900" cy="1038225"/>
          </a:xfrm>
          <a:prstGeom prst="rect">
            <a:avLst/>
          </a:prstGeom>
          <a:noFill/>
          <a:ln w="0">
            <a:noFill/>
          </a:ln>
        </p:spPr>
        <p:txBody>
          <a:bodyPr>
            <a:noAutofit/>
          </a:bodyPr>
          <a:lstStyle/>
          <a:p>
            <a:pPr>
              <a:defRPr sz="3450" b="1">
                <a:solidFill>
                  <a:srgbClr val="243136"/>
                </a:solidFill>
                <a:latin typeface="Helvetica Neue"/>
                <a:ea typeface="Helvetica Neue"/>
                <a:cs typeface="Helvetica Neue"/>
              </a:defRPr>
            </a:pPr>
            <a:r>
              <a:rPr sz="3450" b="1">
                <a:solidFill>
                  <a:srgbClr val="243136"/>
                </a:solidFill>
                <a:latin typeface="Helvetica Neue"/>
                <a:ea typeface="Helvetica Neue"/>
                <a:cs typeface="Helvetica Neue"/>
              </a:rPr>
              <a:t>A first walking route</a:t>
            </a:r>
          </a:p>
        </p:txBody>
      </p:sp>
      <p:sp>
        <p:nvSpPr>
          <p:cNvPr id="2" name="Rectangle 1">
            <a:extLst>
              <a:ext uri="{FF2B5EF4-FFF2-40B4-BE49-F238E27FC236}">
                <a16:creationId xmlns:a16="http://schemas.microsoft.com/office/drawing/2014/main" id="{7AFE736E-18CB-4B2E-9696-FA02C579515A}"/>
              </a:ext>
            </a:extLst>
          </p:cNvPr>
          <p:cNvSpPr>
            <a:spLocks noGrp="1"/>
          </p:cNvSpPr>
          <p:nvPr/>
        </p:nvSpPr>
        <p:spPr>
          <a:xfrm>
            <a:off x="619125" y="2009775"/>
            <a:ext cx="6143625" cy="3067050"/>
          </a:xfrm>
          <a:prstGeom prst="rect">
            <a:avLst/>
          </a:prstGeom>
          <a:noFill/>
          <a:ln w="0">
            <a:noFill/>
          </a:ln>
        </p:spPr>
        <p:txBody>
          <a:bodyPr>
            <a:noAutofit/>
          </a:bodyPr>
          <a:lstStyle/>
          <a:p>
            <a:pPr>
              <a:defRPr sz="1725" b="0">
                <a:solidFill>
                  <a:srgbClr val="227C9D"/>
                </a:solidFill>
                <a:latin typeface="Menlo"/>
                <a:ea typeface="Menlo"/>
                <a:cs typeface="Menlo"/>
              </a:defRPr>
            </a:pPr>
            <a:r>
              <a:rPr sz="1725" b="0">
                <a:solidFill>
                  <a:srgbClr val="227C9D"/>
                </a:solidFill>
                <a:latin typeface="Menlo"/>
                <a:ea typeface="Menlo"/>
                <a:cs typeface="Menlo"/>
              </a:rPr>
              <a:t>origin = ox.nearest_nodes(</a:t>
            </a:r>
          </a:p>
          <a:p>
            <a:pPr>
              <a:defRPr sz="1725" b="0">
                <a:solidFill>
                  <a:srgbClr val="227C9D"/>
                </a:solidFill>
                <a:latin typeface="Menlo"/>
                <a:ea typeface="Menlo"/>
                <a:cs typeface="Menlo"/>
              </a:defRPr>
            </a:pPr>
            <a:r>
              <a:rPr sz="1725" b="0">
                <a:solidFill>
                  <a:srgbClr val="227C9D"/>
                </a:solidFill>
                <a:latin typeface="Menlo"/>
                <a:ea typeface="Menlo"/>
                <a:cs typeface="Menlo"/>
              </a:rPr>
              <a:t>    G, X=-75.193, Y=39.952</a:t>
            </a:r>
          </a:p>
          <a:p>
            <a:pPr>
              <a:defRPr sz="1725" b="0">
                <a:solidFill>
                  <a:srgbClr val="227C9D"/>
                </a:solidFill>
                <a:latin typeface="Menlo"/>
                <a:ea typeface="Menlo"/>
                <a:cs typeface="Menlo"/>
              </a:defRPr>
            </a:pPr>
            <a:r>
              <a:rPr sz="1725" b="0">
                <a:solidFill>
                  <a:srgbClr val="227C9D"/>
                </a:solidFill>
                <a:latin typeface="Menlo"/>
                <a:ea typeface="Menlo"/>
                <a:cs typeface="Menlo"/>
              </a:rPr>
              <a:t>)</a:t>
            </a:r>
          </a:p>
          <a:p>
            <a:pPr>
              <a:defRPr sz="1725" b="0">
                <a:solidFill>
                  <a:srgbClr val="227C9D"/>
                </a:solidFill>
                <a:latin typeface="Menlo"/>
                <a:ea typeface="Menlo"/>
                <a:cs typeface="Menlo"/>
              </a:defRPr>
            </a:pPr>
            <a:r>
              <a:rPr sz="1725" b="0">
                <a:solidFill>
                  <a:srgbClr val="227C9D"/>
                </a:solidFill>
                <a:latin typeface="Menlo"/>
                <a:ea typeface="Menlo"/>
                <a:cs typeface="Menlo"/>
              </a:rPr>
              <a:t>route = ox.shortest_path(</a:t>
            </a:r>
          </a:p>
          <a:p>
            <a:pPr>
              <a:defRPr sz="1725" b="0">
                <a:solidFill>
                  <a:srgbClr val="227C9D"/>
                </a:solidFill>
                <a:latin typeface="Menlo"/>
                <a:ea typeface="Menlo"/>
                <a:cs typeface="Menlo"/>
              </a:defRPr>
            </a:pPr>
            <a:r>
              <a:rPr sz="1725" b="0">
                <a:solidFill>
                  <a:srgbClr val="227C9D"/>
                </a:solidFill>
                <a:latin typeface="Menlo"/>
                <a:ea typeface="Menlo"/>
                <a:cs typeface="Menlo"/>
              </a:rPr>
              <a:t>    G, origin, station_node,</a:t>
            </a:r>
          </a:p>
          <a:p>
            <a:pPr>
              <a:defRPr sz="1725" b="0">
                <a:solidFill>
                  <a:srgbClr val="227C9D"/>
                </a:solidFill>
                <a:latin typeface="Menlo"/>
                <a:ea typeface="Menlo"/>
                <a:cs typeface="Menlo"/>
              </a:defRPr>
            </a:pPr>
            <a:r>
              <a:rPr sz="1725" b="0">
                <a:solidFill>
                  <a:srgbClr val="227C9D"/>
                </a:solidFill>
                <a:latin typeface="Menlo"/>
                <a:ea typeface="Menlo"/>
                <a:cs typeface="Menlo"/>
              </a:rPr>
              <a:t>    weight="length"</a:t>
            </a:r>
          </a:p>
          <a:p>
            <a:pPr>
              <a:defRPr sz="1725" b="0">
                <a:solidFill>
                  <a:srgbClr val="227C9D"/>
                </a:solidFill>
                <a:latin typeface="Menlo"/>
                <a:ea typeface="Menlo"/>
                <a:cs typeface="Menlo"/>
              </a:defRPr>
            </a:pPr>
            <a:r>
              <a:rPr sz="1725" b="0">
                <a:solidFill>
                  <a:srgbClr val="227C9D"/>
                </a:solidFill>
                <a:latin typeface="Menlo"/>
                <a:ea typeface="Menlo"/>
                <a:cs typeface="Menlo"/>
              </a:rPr>
              <a:t>)</a:t>
            </a:r>
          </a:p>
        </p:txBody>
      </p:sp>
      <p:pic>
        <p:nvPicPr>
          <p:cNvPr id="9" name="Picture 8"/>
          <p:cNvPicPr>
            <a:picLocks noChangeAspect="1"/>
          </p:cNvPicPr>
          <p:nvPr/>
        </p:nvPicPr>
        <p:blipFill>
          <a:blip r:embed="rId3"/>
          <a:stretch/>
        </p:blipFill>
        <p:spPr>
          <a:xfrm>
            <a:off x="6924675" y="1976614"/>
            <a:ext cx="4667250" cy="3457222"/>
          </a:xfrm>
          <a:prstGeom prst="rect">
            <a:avLst/>
          </a:prstGeom>
        </p:spPr>
      </p:pic>
      <p:sp>
        <p:nvSpPr>
          <p:cNvPr id="4" name="Rectangle 3">
            <a:extLst>
              <a:ext uri="{FF2B5EF4-FFF2-40B4-BE49-F238E27FC236}">
                <a16:creationId xmlns:a16="http://schemas.microsoft.com/office/drawing/2014/main" id="{21289C21-35F7-41B8-B8B5-BBC730548CA1}"/>
              </a:ext>
            </a:extLst>
          </p:cNvPr>
          <p:cNvSpPr>
            <a:spLocks noGrp="1"/>
          </p:cNvSpPr>
          <p:nvPr/>
        </p:nvSpPr>
        <p:spPr>
          <a:xfrm>
            <a:off x="638175" y="5476875"/>
            <a:ext cx="6191250" cy="914400"/>
          </a:xfrm>
          <a:prstGeom prst="rect">
            <a:avLst/>
          </a:prstGeom>
          <a:noFill/>
          <a:ln w="0">
            <a:noFill/>
          </a:ln>
        </p:spPr>
        <p:txBody>
          <a:bodyPr>
            <a:noAutofit/>
          </a:bodyPr>
          <a:lstStyle/>
          <a:p>
            <a:pPr>
              <a:defRPr sz="1950" b="0">
                <a:solidFill>
                  <a:srgbClr val="243136"/>
                </a:solidFill>
                <a:latin typeface="Helvetica Neue"/>
                <a:ea typeface="Helvetica Neue"/>
                <a:cs typeface="Helvetica Neue"/>
              </a:defRPr>
            </a:pPr>
            <a:r>
              <a:rPr sz="1950" b="0">
                <a:solidFill>
                  <a:srgbClr val="243136"/>
                </a:solidFill>
                <a:latin typeface="Helvetica Neue"/>
                <a:ea typeface="Helvetica Neue"/>
                <a:cs typeface="Helvetica Neue"/>
              </a:rPr>
              <a:t>Notebook §6: nearest node, then shortest path</a:t>
            </a:r>
          </a:p>
        </p:txBody>
      </p:sp>
      <p:sp>
        <p:nvSpPr>
          <p:cNvPr id="5" name="Rectangle 4">
            <a:extLst>
              <a:ext uri="{FF2B5EF4-FFF2-40B4-BE49-F238E27FC236}">
                <a16:creationId xmlns:a16="http://schemas.microsoft.com/office/drawing/2014/main" id="{1AAC0ACC-B8BA-4CC2-8582-85059B4F9643}"/>
              </a:ext>
            </a:extLst>
          </p:cNvPr>
          <p:cNvSpPr>
            <a:spLocks noGrp="1"/>
          </p:cNvSpPr>
          <p:nvPr/>
        </p:nvSpPr>
        <p:spPr>
          <a:xfrm>
            <a:off x="619125" y="6581775"/>
            <a:ext cx="5334000" cy="228600"/>
          </a:xfrm>
          <a:prstGeom prst="rect">
            <a:avLst/>
          </a:prstGeom>
          <a:noFill/>
          <a:ln w="0">
            <a:noFill/>
          </a:ln>
        </p:spPr>
        <p:txBody>
          <a:bodyPr>
            <a:noAutofit/>
          </a:bodyPr>
          <a:lstStyle/>
          <a:p>
            <a:pPr>
              <a:defRPr sz="1125" b="0">
                <a:solidFill>
                  <a:srgbClr val="5B676A"/>
                </a:solidFill>
                <a:latin typeface="Helvetica Neue"/>
                <a:ea typeface="Helvetica Neue"/>
                <a:cs typeface="Helvetica Neue"/>
              </a:defRPr>
            </a:pPr>
            <a:r>
              <a:rPr sz="1125" b="0">
                <a:solidFill>
                  <a:srgbClr val="5B676A"/>
                </a:solidFill>
                <a:latin typeface="Helvetica Neue"/>
                <a:ea typeface="Helvetica Neue"/>
                <a:cs typeface="Helvetica Neue"/>
              </a:rPr>
              <a:t>© OpenStreetMap contributors</a:t>
            </a:r>
          </a:p>
        </p:txBody>
      </p:sp>
      <p:sp>
        <p:nvSpPr>
          <p:cNvPr id="6" name="Rectangle 5">
            <a:extLst>
              <a:ext uri="{FF2B5EF4-FFF2-40B4-BE49-F238E27FC236}">
                <a16:creationId xmlns:a16="http://schemas.microsoft.com/office/drawing/2014/main" id="{5778453D-40AB-49D9-B7E8-4EB759AEF4C8}"/>
              </a:ext>
            </a:extLst>
          </p:cNvPr>
          <p:cNvSpPr>
            <a:spLocks noGrp="1"/>
          </p:cNvSpPr>
          <p:nvPr/>
        </p:nvSpPr>
        <p:spPr>
          <a:xfrm>
            <a:off x="11591925" y="6515100"/>
            <a:ext cx="428625" cy="257175"/>
          </a:xfrm>
          <a:prstGeom prst="rect">
            <a:avLst/>
          </a:prstGeom>
          <a:noFill/>
          <a:ln w="0">
            <a:noFill/>
          </a:ln>
        </p:spPr>
        <p:txBody>
          <a:bodyPr>
            <a:noAutofit/>
          </a:bodyPr>
          <a:lstStyle/>
          <a:p>
            <a:pPr>
              <a:defRPr sz="1200" b="0">
                <a:solidFill>
                  <a:srgbClr val="5B676A"/>
                </a:solidFill>
                <a:latin typeface="Helvetica Neue"/>
                <a:ea typeface="Helvetica Neue"/>
                <a:cs typeface="Helvetica Neue"/>
              </a:defRPr>
            </a:pPr>
            <a:r>
              <a:rPr sz="1200" b="0">
                <a:solidFill>
                  <a:srgbClr val="5B676A"/>
                </a:solidFill>
                <a:latin typeface="Helvetica Neue"/>
                <a:ea typeface="Helvetica Neue"/>
                <a:cs typeface="Helvetica Neue"/>
              </a:rPr>
              <a:t>22</a:t>
            </a:r>
          </a:p>
        </p:txBody>
      </p:sp>
    </p:spTree>
    <p:extLst>
      <p:ext uri="{BB962C8B-B14F-4D97-AF65-F5344CB8AC3E}">
        <p14:creationId xmlns:p14="http://schemas.microsoft.com/office/powerpoint/2010/main" val="17183883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243136"/>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71EA08D-FE3D-4554-9359-8826F4C4C7B5}"/>
              </a:ext>
            </a:extLst>
          </p:cNvPr>
          <p:cNvSpPr>
            <a:spLocks noGrp="1"/>
          </p:cNvSpPr>
          <p:nvPr/>
        </p:nvSpPr>
        <p:spPr>
          <a:xfrm>
            <a:off x="590550" y="438150"/>
            <a:ext cx="11010900" cy="1038225"/>
          </a:xfrm>
          <a:prstGeom prst="rect">
            <a:avLst/>
          </a:prstGeom>
          <a:noFill/>
          <a:ln w="0">
            <a:noFill/>
          </a:ln>
        </p:spPr>
        <p:txBody>
          <a:bodyPr>
            <a:noAutofit/>
          </a:bodyPr>
          <a:lstStyle/>
          <a:p>
            <a:pPr>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Break</a:t>
            </a:r>
          </a:p>
        </p:txBody>
      </p:sp>
      <p:sp>
        <p:nvSpPr>
          <p:cNvPr id="2" name="Rectangle 1">
            <a:extLst>
              <a:ext uri="{FF2B5EF4-FFF2-40B4-BE49-F238E27FC236}">
                <a16:creationId xmlns:a16="http://schemas.microsoft.com/office/drawing/2014/main" id="{3DA8DAA2-CF90-4545-9292-2CF26A854CA2}"/>
              </a:ext>
            </a:extLst>
          </p:cNvPr>
          <p:cNvSpPr>
            <a:spLocks noGrp="1"/>
          </p:cNvSpPr>
          <p:nvPr/>
        </p:nvSpPr>
        <p:spPr>
          <a:xfrm>
            <a:off x="666750" y="2409825"/>
            <a:ext cx="10477500" cy="1428750"/>
          </a:xfrm>
          <a:prstGeom prst="rect">
            <a:avLst/>
          </a:prstGeom>
          <a:noFill/>
          <a:ln w="0">
            <a:noFill/>
          </a:ln>
        </p:spPr>
        <p:txBody>
          <a:bodyPr>
            <a:noAutofit/>
          </a:bodyPr>
          <a:lstStyle/>
          <a:p>
            <a:pPr>
              <a:defRPr sz="5700" b="1">
                <a:solidFill>
                  <a:srgbClr val="8FD4D9"/>
                </a:solidFill>
                <a:latin typeface="Helvetica Neue"/>
                <a:ea typeface="Helvetica Neue"/>
                <a:cs typeface="Helvetica Neue"/>
              </a:defRPr>
            </a:pPr>
            <a:r>
              <a:rPr sz="5700" b="1">
                <a:solidFill>
                  <a:srgbClr val="8FD4D9"/>
                </a:solidFill>
                <a:latin typeface="Helvetica Neue"/>
                <a:ea typeface="Helvetica Neue"/>
                <a:cs typeface="Helvetica Neue"/>
              </a:rPr>
              <a:t>10 minutes</a:t>
            </a:r>
          </a:p>
        </p:txBody>
      </p:sp>
      <p:sp>
        <p:nvSpPr>
          <p:cNvPr id="3" name="Rectangle 2">
            <a:extLst>
              <a:ext uri="{FF2B5EF4-FFF2-40B4-BE49-F238E27FC236}">
                <a16:creationId xmlns:a16="http://schemas.microsoft.com/office/drawing/2014/main" id="{5F8B20F2-1371-4617-97ED-5FE54A785E72}"/>
              </a:ext>
            </a:extLst>
          </p:cNvPr>
          <p:cNvSpPr>
            <a:spLocks noGrp="1"/>
          </p:cNvSpPr>
          <p:nvPr/>
        </p:nvSpPr>
        <p:spPr>
          <a:xfrm>
            <a:off x="676275" y="4972050"/>
            <a:ext cx="10477500" cy="857250"/>
          </a:xfrm>
          <a:prstGeom prst="rect">
            <a:avLst/>
          </a:prstGeom>
          <a:noFill/>
          <a:ln w="0">
            <a:noFill/>
          </a:ln>
        </p:spPr>
        <p:txBody>
          <a:bodyPr>
            <a:noAutofit/>
          </a:bodyPr>
          <a:lstStyle/>
          <a:p>
            <a:pPr>
              <a:defRPr sz="2400" b="0">
                <a:solidFill>
                  <a:srgbClr val="FFFFFF"/>
                </a:solidFill>
                <a:latin typeface="Helvetica Neue"/>
                <a:ea typeface="Helvetica Neue"/>
                <a:cs typeface="Helvetica Neue"/>
              </a:defRPr>
            </a:pPr>
            <a:r>
              <a:rPr sz="2400" b="0">
                <a:solidFill>
                  <a:srgbClr val="FFFFFF"/>
                </a:solidFill>
                <a:latin typeface="Helvetica Neue"/>
                <a:ea typeface="Helvetica Neue"/>
                <a:cs typeface="Helvetica Neue"/>
              </a:rPr>
              <a:t>Next: from one route to citywide accessibility</a:t>
            </a:r>
          </a:p>
        </p:txBody>
      </p:sp>
      <p:sp>
        <p:nvSpPr>
          <p:cNvPr id="4" name="Rectangle 3">
            <a:extLst>
              <a:ext uri="{FF2B5EF4-FFF2-40B4-BE49-F238E27FC236}">
                <a16:creationId xmlns:a16="http://schemas.microsoft.com/office/drawing/2014/main" id="{4E83A345-9E07-4288-96B2-07B4BD909653}"/>
              </a:ext>
            </a:extLst>
          </p:cNvPr>
          <p:cNvSpPr>
            <a:spLocks noGrp="1"/>
          </p:cNvSpPr>
          <p:nvPr/>
        </p:nvSpPr>
        <p:spPr>
          <a:xfrm>
            <a:off x="11591925" y="6515100"/>
            <a:ext cx="428625" cy="257175"/>
          </a:xfrm>
          <a:prstGeom prst="rect">
            <a:avLst/>
          </a:prstGeom>
          <a:noFill/>
          <a:ln w="0">
            <a:noFill/>
          </a:ln>
        </p:spPr>
        <p:txBody>
          <a:bodyPr>
            <a:noAutofit/>
          </a:bodyPr>
          <a:lstStyle/>
          <a:p>
            <a:pPr>
              <a:defRPr sz="1200" b="0">
                <a:solidFill>
                  <a:srgbClr val="9CB7BC"/>
                </a:solidFill>
                <a:latin typeface="Helvetica Neue"/>
                <a:ea typeface="Helvetica Neue"/>
                <a:cs typeface="Helvetica Neue"/>
              </a:defRPr>
            </a:pPr>
            <a:r>
              <a:rPr sz="1200" b="0">
                <a:solidFill>
                  <a:srgbClr val="9CB7BC"/>
                </a:solidFill>
                <a:latin typeface="Helvetica Neue"/>
                <a:ea typeface="Helvetica Neue"/>
                <a:cs typeface="Helvetica Neue"/>
              </a:rPr>
              <a:t>24</a:t>
            </a:r>
          </a:p>
        </p:txBody>
      </p:sp>
    </p:spTree>
    <p:extLst>
      <p:ext uri="{BB962C8B-B14F-4D97-AF65-F5344CB8AC3E}">
        <p14:creationId xmlns:p14="http://schemas.microsoft.com/office/powerpoint/2010/main" val="13568160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F8EF345-FD22-4706-AE0D-CCF7E17522E2}"/>
              </a:ext>
            </a:extLst>
          </p:cNvPr>
          <p:cNvSpPr>
            <a:spLocks noGrp="1"/>
          </p:cNvSpPr>
          <p:nvPr/>
        </p:nvSpPr>
        <p:spPr>
          <a:xfrm>
            <a:off x="590550" y="438150"/>
            <a:ext cx="11010900" cy="1047750"/>
          </a:xfrm>
          <a:prstGeom prst="rect">
            <a:avLst/>
          </a:prstGeom>
          <a:noFill/>
          <a:ln w="0">
            <a:noFill/>
          </a:ln>
        </p:spPr>
        <p:txBody>
          <a:bodyPr>
            <a:noAutofit/>
          </a:bodyPr>
          <a:lstStyle/>
          <a:p>
            <a:pPr>
              <a:defRPr sz="3450" b="1">
                <a:solidFill>
                  <a:srgbClr val="243136"/>
                </a:solidFill>
                <a:latin typeface="Helvetica Neue"/>
                <a:ea typeface="Helvetica Neue"/>
                <a:cs typeface="Helvetica Neue"/>
              </a:defRPr>
            </a:pPr>
            <a:r>
              <a:rPr sz="3450" b="1">
                <a:solidFill>
                  <a:srgbClr val="243136"/>
                </a:solidFill>
                <a:latin typeface="Helvetica Neue"/>
                <a:ea typeface="Helvetica Neue"/>
                <a:cs typeface="Helvetica Neue"/>
              </a:rPr>
              <a:t>One route is easy.</a:t>
            </a:r>
          </a:p>
          <a:p>
            <a:pPr>
              <a:defRPr sz="3450" b="1">
                <a:solidFill>
                  <a:srgbClr val="243136"/>
                </a:solidFill>
                <a:latin typeface="Helvetica Neue"/>
                <a:ea typeface="Helvetica Neue"/>
                <a:cs typeface="Helvetica Neue"/>
              </a:defRPr>
            </a:pPr>
            <a:r>
              <a:rPr sz="3450" b="1">
                <a:solidFill>
                  <a:srgbClr val="243136"/>
                </a:solidFill>
                <a:latin typeface="Helvetica Neue"/>
                <a:ea typeface="Helvetica Neue"/>
                <a:cs typeface="Helvetica Neue"/>
              </a:rPr>
              <a:t>What about the whole city?</a:t>
            </a:r>
          </a:p>
        </p:txBody>
      </p:sp>
      <p:sp>
        <p:nvSpPr>
          <p:cNvPr id="2" name="Rectangle 1">
            <a:extLst>
              <a:ext uri="{FF2B5EF4-FFF2-40B4-BE49-F238E27FC236}">
                <a16:creationId xmlns:a16="http://schemas.microsoft.com/office/drawing/2014/main" id="{2077A870-C358-4E3D-A3E0-EACE2F411AB8}"/>
              </a:ext>
            </a:extLst>
          </p:cNvPr>
          <p:cNvSpPr>
            <a:spLocks noGrp="1"/>
          </p:cNvSpPr>
          <p:nvPr/>
        </p:nvSpPr>
        <p:spPr>
          <a:xfrm>
            <a:off x="11525250" y="6524625"/>
            <a:ext cx="476250" cy="238125"/>
          </a:xfrm>
          <a:prstGeom prst="rect">
            <a:avLst/>
          </a:prstGeom>
          <a:noFill/>
          <a:ln w="0">
            <a:noFill/>
          </a:ln>
        </p:spPr>
        <p:txBody>
          <a:bodyPr>
            <a:noAutofit/>
          </a:bodyPr>
          <a:lstStyle/>
          <a:p>
            <a:pPr>
              <a:defRPr sz="1200" b="0">
                <a:solidFill>
                  <a:srgbClr val="5B676A"/>
                </a:solidFill>
                <a:latin typeface="Helvetica Neue"/>
                <a:ea typeface="Helvetica Neue"/>
                <a:cs typeface="Helvetica Neue"/>
              </a:defRPr>
            </a:pPr>
            <a:r>
              <a:rPr sz="1200" b="0">
                <a:solidFill>
                  <a:srgbClr val="5B676A"/>
                </a:solidFill>
                <a:latin typeface="Helvetica Neue"/>
                <a:ea typeface="Helvetica Neue"/>
                <a:cs typeface="Helvetica Neue"/>
              </a:rPr>
              <a:t>25</a:t>
            </a:r>
          </a:p>
        </p:txBody>
      </p:sp>
      <p:sp>
        <p:nvSpPr>
          <p:cNvPr id="3" name="Rectangle 2">
            <a:extLst>
              <a:ext uri="{FF2B5EF4-FFF2-40B4-BE49-F238E27FC236}">
                <a16:creationId xmlns:a16="http://schemas.microsoft.com/office/drawing/2014/main" id="{D7599353-3519-4B34-ACA3-9B6FA4C881D7}"/>
              </a:ext>
            </a:extLst>
          </p:cNvPr>
          <p:cNvSpPr>
            <a:spLocks noGrp="1"/>
          </p:cNvSpPr>
          <p:nvPr/>
        </p:nvSpPr>
        <p:spPr>
          <a:xfrm>
            <a:off x="666750" y="2286000"/>
            <a:ext cx="10763250" cy="1524000"/>
          </a:xfrm>
          <a:prstGeom prst="rect">
            <a:avLst/>
          </a:prstGeom>
          <a:noFill/>
          <a:ln w="0">
            <a:noFill/>
          </a:ln>
        </p:spPr>
        <p:txBody>
          <a:bodyPr>
            <a:noAutofit/>
          </a:bodyPr>
          <a:lstStyle/>
          <a:p>
            <a:pPr>
              <a:defRPr sz="4350" b="1">
                <a:solidFill>
                  <a:srgbClr val="227C9D"/>
                </a:solidFill>
                <a:latin typeface="Helvetica Neue"/>
                <a:ea typeface="Helvetica Neue"/>
                <a:cs typeface="Helvetica Neue"/>
              </a:defRPr>
            </a:pPr>
            <a:r>
              <a:rPr sz="4350" b="1">
                <a:solidFill>
                  <a:srgbClr val="227C9D"/>
                </a:solidFill>
                <a:latin typeface="Helvetica Neue"/>
                <a:ea typeface="Helvetica Neue"/>
                <a:cs typeface="Helvetica Neue"/>
              </a:rPr>
              <a:t>From Routing to Accessibility</a:t>
            </a:r>
          </a:p>
          <a:p>
            <a:pPr>
              <a:defRPr sz="4350" b="1">
                <a:solidFill>
                  <a:srgbClr val="227C9D"/>
                </a:solidFill>
                <a:latin typeface="Helvetica Neue"/>
                <a:ea typeface="Helvetica Neue"/>
                <a:cs typeface="Helvetica Neue"/>
              </a:defRPr>
            </a:pPr>
            <a:r>
              <a:rPr sz="4350" b="1">
                <a:solidFill>
                  <a:srgbClr val="227C9D"/>
                </a:solidFill>
                <a:latin typeface="Helvetica Neue"/>
                <a:ea typeface="Helvetica Neue"/>
                <a:cs typeface="Helvetica Neue"/>
              </a:rPr>
              <a:t>with Pandana</a:t>
            </a:r>
          </a:p>
        </p:txBody>
      </p:sp>
      <p:sp>
        <p:nvSpPr>
          <p:cNvPr id="4" name="Rectangle 3">
            <a:extLst>
              <a:ext uri="{FF2B5EF4-FFF2-40B4-BE49-F238E27FC236}">
                <a16:creationId xmlns:a16="http://schemas.microsoft.com/office/drawing/2014/main" id="{3B96161C-93DC-4052-AF3A-15FFC27C8330}"/>
              </a:ext>
            </a:extLst>
          </p:cNvPr>
          <p:cNvSpPr>
            <a:spLocks noGrp="1"/>
          </p:cNvSpPr>
          <p:nvPr/>
        </p:nvSpPr>
        <p:spPr>
          <a:xfrm>
            <a:off x="704850" y="4714875"/>
            <a:ext cx="10287000" cy="1047750"/>
          </a:xfrm>
          <a:prstGeom prst="rect">
            <a:avLst/>
          </a:prstGeom>
          <a:noFill/>
          <a:ln w="0">
            <a:noFill/>
          </a:ln>
        </p:spPr>
        <p:txBody>
          <a:bodyPr>
            <a:noAutofit/>
          </a:bodyPr>
          <a:lstStyle/>
          <a:p>
            <a:pPr>
              <a:defRPr sz="2400" b="0">
                <a:solidFill>
                  <a:srgbClr val="243136"/>
                </a:solidFill>
                <a:latin typeface="Helvetica Neue"/>
                <a:ea typeface="Helvetica Neue"/>
                <a:cs typeface="Helvetica Neue"/>
              </a:defRPr>
            </a:pPr>
            <a:r>
              <a:rPr sz="2400" b="0">
                <a:solidFill>
                  <a:srgbClr val="243136"/>
                </a:solidFill>
                <a:latin typeface="Helvetica Neue"/>
                <a:ea typeface="Helvetica Neue"/>
                <a:cs typeface="Helvetica Neue"/>
              </a:rPr>
              <a:t>One origin → one route</a:t>
            </a:r>
          </a:p>
          <a:p>
            <a:pPr>
              <a:defRPr sz="2400" b="0">
                <a:solidFill>
                  <a:srgbClr val="243136"/>
                </a:solidFill>
                <a:latin typeface="Helvetica Neue"/>
                <a:ea typeface="Helvetica Neue"/>
                <a:cs typeface="Helvetica Neue"/>
              </a:defRPr>
            </a:pPr>
            <a:r>
              <a:rPr sz="2400" b="0">
                <a:solidFill>
                  <a:srgbClr val="243136"/>
                </a:solidFill>
                <a:latin typeface="Helvetica Neue"/>
                <a:ea typeface="Helvetica Neue"/>
                <a:cs typeface="Helvetica Neue"/>
              </a:rPr>
              <a:t>Many origins → a citywide question</a:t>
            </a:r>
          </a:p>
        </p:txBody>
      </p:sp>
    </p:spTree>
    <p:extLst>
      <p:ext uri="{BB962C8B-B14F-4D97-AF65-F5344CB8AC3E}">
        <p14:creationId xmlns:p14="http://schemas.microsoft.com/office/powerpoint/2010/main" val="9206782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30081249-835C-411A-A9D6-1FA95692C683}"/>
              </a:ext>
            </a:extLst>
          </p:cNvPr>
          <p:cNvSpPr>
            <a:spLocks noGrp="1"/>
          </p:cNvSpPr>
          <p:nvPr/>
        </p:nvSpPr>
        <p:spPr>
          <a:xfrm>
            <a:off x="590550" y="438150"/>
            <a:ext cx="11010900" cy="1047750"/>
          </a:xfrm>
          <a:prstGeom prst="rect">
            <a:avLst/>
          </a:prstGeom>
          <a:noFill/>
          <a:ln w="0">
            <a:noFill/>
          </a:ln>
        </p:spPr>
        <p:txBody>
          <a:bodyPr>
            <a:noAutofit/>
          </a:bodyPr>
          <a:lstStyle/>
          <a:p>
            <a:pPr>
              <a:defRPr sz="3450" b="1">
                <a:solidFill>
                  <a:srgbClr val="243136"/>
                </a:solidFill>
                <a:latin typeface="Helvetica Neue"/>
                <a:ea typeface="Helvetica Neue"/>
                <a:cs typeface="Helvetica Neue"/>
              </a:defRPr>
            </a:pPr>
            <a:r>
              <a:rPr sz="3450" b="1">
                <a:solidFill>
                  <a:srgbClr val="243136"/>
                </a:solidFill>
                <a:latin typeface="Helvetica Neue"/>
                <a:ea typeface="Helvetica Neue"/>
                <a:cs typeface="Helvetica Neue"/>
              </a:rPr>
              <a:t>Proximity and accessibility</a:t>
            </a:r>
          </a:p>
        </p:txBody>
      </p:sp>
      <p:sp>
        <p:nvSpPr>
          <p:cNvPr id="2" name="Rectangle 1">
            <a:extLst>
              <a:ext uri="{FF2B5EF4-FFF2-40B4-BE49-F238E27FC236}">
                <a16:creationId xmlns:a16="http://schemas.microsoft.com/office/drawing/2014/main" id="{787BEF02-BBF4-4439-A835-17CAA33FC37E}"/>
              </a:ext>
            </a:extLst>
          </p:cNvPr>
          <p:cNvSpPr>
            <a:spLocks noGrp="1"/>
          </p:cNvSpPr>
          <p:nvPr/>
        </p:nvSpPr>
        <p:spPr>
          <a:xfrm>
            <a:off x="11525250" y="6524625"/>
            <a:ext cx="476250" cy="238125"/>
          </a:xfrm>
          <a:prstGeom prst="rect">
            <a:avLst/>
          </a:prstGeom>
          <a:noFill/>
          <a:ln w="0">
            <a:noFill/>
          </a:ln>
        </p:spPr>
        <p:txBody>
          <a:bodyPr>
            <a:noAutofit/>
          </a:bodyPr>
          <a:lstStyle/>
          <a:p>
            <a:pPr>
              <a:defRPr sz="1200" b="0">
                <a:solidFill>
                  <a:srgbClr val="5B676A"/>
                </a:solidFill>
                <a:latin typeface="Helvetica Neue"/>
                <a:ea typeface="Helvetica Neue"/>
                <a:cs typeface="Helvetica Neue"/>
              </a:defRPr>
            </a:pPr>
            <a:r>
              <a:rPr sz="1200" b="0">
                <a:solidFill>
                  <a:srgbClr val="5B676A"/>
                </a:solidFill>
                <a:latin typeface="Helvetica Neue"/>
                <a:ea typeface="Helvetica Neue"/>
                <a:cs typeface="Helvetica Neue"/>
              </a:rPr>
              <a:t>26</a:t>
            </a:r>
          </a:p>
        </p:txBody>
      </p:sp>
      <p:sp>
        <p:nvSpPr>
          <p:cNvPr id="3" name="Rectangle 2">
            <a:extLst>
              <a:ext uri="{FF2B5EF4-FFF2-40B4-BE49-F238E27FC236}">
                <a16:creationId xmlns:a16="http://schemas.microsoft.com/office/drawing/2014/main" id="{9522F744-658F-49FD-9A49-04B1D761BDA8}"/>
              </a:ext>
            </a:extLst>
          </p:cNvPr>
          <p:cNvSpPr>
            <a:spLocks noGrp="1"/>
          </p:cNvSpPr>
          <p:nvPr/>
        </p:nvSpPr>
        <p:spPr>
          <a:xfrm>
            <a:off x="714375" y="1809750"/>
            <a:ext cx="4572000" cy="476250"/>
          </a:xfrm>
          <a:prstGeom prst="rect">
            <a:avLst/>
          </a:prstGeom>
          <a:noFill/>
          <a:ln w="0">
            <a:noFill/>
          </a:ln>
        </p:spPr>
        <p:txBody>
          <a:bodyPr>
            <a:noAutofit/>
          </a:bodyPr>
          <a:lstStyle/>
          <a:p>
            <a:pPr>
              <a:defRPr sz="2100" b="1">
                <a:solidFill>
                  <a:srgbClr val="227C9D"/>
                </a:solidFill>
                <a:latin typeface="Helvetica Neue"/>
                <a:ea typeface="Helvetica Neue"/>
                <a:cs typeface="Helvetica Neue"/>
              </a:defRPr>
            </a:pPr>
            <a:r>
              <a:rPr sz="2100" b="1">
                <a:solidFill>
                  <a:srgbClr val="227C9D"/>
                </a:solidFill>
                <a:latin typeface="Helvetica Neue"/>
                <a:ea typeface="Helvetica Neue"/>
                <a:cs typeface="Helvetica Neue"/>
              </a:rPr>
              <a:t>PROXIMITY</a:t>
            </a:r>
          </a:p>
        </p:txBody>
      </p:sp>
      <p:sp>
        <p:nvSpPr>
          <p:cNvPr id="4" name="Rectangle 3">
            <a:extLst>
              <a:ext uri="{FF2B5EF4-FFF2-40B4-BE49-F238E27FC236}">
                <a16:creationId xmlns:a16="http://schemas.microsoft.com/office/drawing/2014/main" id="{9DE0EBE7-FA6D-4564-BE24-2D277FE3651F}"/>
              </a:ext>
            </a:extLst>
          </p:cNvPr>
          <p:cNvSpPr>
            <a:spLocks noGrp="1"/>
          </p:cNvSpPr>
          <p:nvPr/>
        </p:nvSpPr>
        <p:spPr>
          <a:xfrm>
            <a:off x="714375" y="2381250"/>
            <a:ext cx="4953000" cy="571500"/>
          </a:xfrm>
          <a:prstGeom prst="rect">
            <a:avLst/>
          </a:prstGeom>
          <a:noFill/>
          <a:ln w="0">
            <a:noFill/>
          </a:ln>
        </p:spPr>
        <p:txBody>
          <a:bodyPr>
            <a:noAutofit/>
          </a:bodyPr>
          <a:lstStyle/>
          <a:p>
            <a:pPr>
              <a:defRPr sz="3150" b="0">
                <a:solidFill>
                  <a:srgbClr val="243136"/>
                </a:solidFill>
                <a:latin typeface="Helvetica Neue"/>
                <a:ea typeface="Helvetica Neue"/>
                <a:cs typeface="Helvetica Neue"/>
              </a:defRPr>
            </a:pPr>
            <a:r>
              <a:rPr sz="3150" b="0">
                <a:solidFill>
                  <a:srgbClr val="243136"/>
                </a:solidFill>
                <a:latin typeface="Helvetica Neue"/>
                <a:ea typeface="Helvetica Neue"/>
                <a:cs typeface="Helvetica Neue"/>
              </a:rPr>
              <a:t>How close is it?</a:t>
            </a:r>
          </a:p>
        </p:txBody>
      </p:sp>
      <p:sp>
        <p:nvSpPr>
          <p:cNvPr id="5" name="Rectangle 4">
            <a:extLst>
              <a:ext uri="{FF2B5EF4-FFF2-40B4-BE49-F238E27FC236}">
                <a16:creationId xmlns:a16="http://schemas.microsoft.com/office/drawing/2014/main" id="{21202727-B944-400D-9524-B5D3934CB074}"/>
              </a:ext>
            </a:extLst>
          </p:cNvPr>
          <p:cNvSpPr>
            <a:spLocks noGrp="1"/>
          </p:cNvSpPr>
          <p:nvPr/>
        </p:nvSpPr>
        <p:spPr>
          <a:xfrm>
            <a:off x="6667500" y="1809750"/>
            <a:ext cx="4762500" cy="476250"/>
          </a:xfrm>
          <a:prstGeom prst="rect">
            <a:avLst/>
          </a:prstGeom>
          <a:noFill/>
          <a:ln w="0">
            <a:noFill/>
          </a:ln>
        </p:spPr>
        <p:txBody>
          <a:bodyPr>
            <a:noAutofit/>
          </a:bodyPr>
          <a:lstStyle/>
          <a:p>
            <a:pPr>
              <a:defRPr sz="2100" b="1">
                <a:solidFill>
                  <a:srgbClr val="227C9D"/>
                </a:solidFill>
                <a:latin typeface="Helvetica Neue"/>
                <a:ea typeface="Helvetica Neue"/>
                <a:cs typeface="Helvetica Neue"/>
              </a:defRPr>
            </a:pPr>
            <a:r>
              <a:rPr sz="2100" b="1">
                <a:solidFill>
                  <a:srgbClr val="227C9D"/>
                </a:solidFill>
                <a:latin typeface="Helvetica Neue"/>
                <a:ea typeface="Helvetica Neue"/>
                <a:cs typeface="Helvetica Neue"/>
              </a:rPr>
              <a:t>ACCESSIBILITY</a:t>
            </a:r>
          </a:p>
        </p:txBody>
      </p:sp>
      <p:sp>
        <p:nvSpPr>
          <p:cNvPr id="6" name="Rectangle 5">
            <a:extLst>
              <a:ext uri="{FF2B5EF4-FFF2-40B4-BE49-F238E27FC236}">
                <a16:creationId xmlns:a16="http://schemas.microsoft.com/office/drawing/2014/main" id="{818BDBE4-EBCC-4DBD-8537-D33F60DAFD3F}"/>
              </a:ext>
            </a:extLst>
          </p:cNvPr>
          <p:cNvSpPr>
            <a:spLocks noGrp="1"/>
          </p:cNvSpPr>
          <p:nvPr/>
        </p:nvSpPr>
        <p:spPr>
          <a:xfrm>
            <a:off x="6667500" y="2381250"/>
            <a:ext cx="4762500" cy="571500"/>
          </a:xfrm>
          <a:prstGeom prst="rect">
            <a:avLst/>
          </a:prstGeom>
          <a:noFill/>
          <a:ln w="0">
            <a:noFill/>
          </a:ln>
        </p:spPr>
        <p:txBody>
          <a:bodyPr>
            <a:noAutofit/>
          </a:bodyPr>
          <a:lstStyle/>
          <a:p>
            <a:pPr>
              <a:defRPr sz="3150" b="0">
                <a:solidFill>
                  <a:srgbClr val="243136"/>
                </a:solidFill>
                <a:latin typeface="Helvetica Neue"/>
                <a:ea typeface="Helvetica Neue"/>
                <a:cs typeface="Helvetica Neue"/>
              </a:defRPr>
            </a:pPr>
            <a:r>
              <a:rPr sz="3150" b="0">
                <a:solidFill>
                  <a:srgbClr val="243136"/>
                </a:solidFill>
                <a:latin typeface="Helvetica Neue"/>
                <a:ea typeface="Helvetica Neue"/>
                <a:cs typeface="Helvetica Neue"/>
              </a:rPr>
              <a:t>Can I get there?</a:t>
            </a:r>
          </a:p>
        </p:txBody>
      </p:sp>
      <p:sp>
        <p:nvSpPr>
          <p:cNvPr id="7" name="Straight Connector 6">
            <a:extLst>
              <a:ext uri="{FF2B5EF4-FFF2-40B4-BE49-F238E27FC236}">
                <a16:creationId xmlns:a16="http://schemas.microsoft.com/office/drawing/2014/main" id="{28A8BE9D-869A-4484-8B7B-E978C56CFECB}"/>
              </a:ext>
            </a:extLst>
          </p:cNvPr>
          <p:cNvSpPr>
            <a:spLocks noGrp="1"/>
          </p:cNvSpPr>
          <p:nvPr/>
        </p:nvSpPr>
        <p:spPr>
          <a:xfrm>
            <a:off x="1143000" y="4095750"/>
            <a:ext cx="3429000" cy="0"/>
          </a:xfrm>
          <a:prstGeom prst="line">
            <a:avLst/>
          </a:prstGeom>
          <a:noFill/>
          <a:ln w="38100">
            <a:solidFill>
              <a:srgbClr val="9CB7BC"/>
            </a:solidFill>
          </a:ln>
        </p:spPr>
        <p:txBody>
          <a:bodyPr/>
          <a:lstStyle/>
          <a:p>
            <a:endParaRPr lang="en-US"/>
          </a:p>
        </p:txBody>
      </p:sp>
      <p:sp>
        <p:nvSpPr>
          <p:cNvPr id="8" name="Oval 7">
            <a:extLst>
              <a:ext uri="{FF2B5EF4-FFF2-40B4-BE49-F238E27FC236}">
                <a16:creationId xmlns:a16="http://schemas.microsoft.com/office/drawing/2014/main" id="{E168FF45-6E76-44A5-A692-B3D80F74226A}"/>
              </a:ext>
            </a:extLst>
          </p:cNvPr>
          <p:cNvSpPr>
            <a:spLocks noGrp="1"/>
          </p:cNvSpPr>
          <p:nvPr/>
        </p:nvSpPr>
        <p:spPr>
          <a:xfrm>
            <a:off x="1085850" y="4038600"/>
            <a:ext cx="114300" cy="114300"/>
          </a:xfrm>
          <a:prstGeom prst="ellipse">
            <a:avLst/>
          </a:prstGeom>
          <a:solidFill>
            <a:srgbClr val="227C9D"/>
          </a:solidFill>
          <a:ln w="0">
            <a:noFill/>
          </a:ln>
        </p:spPr>
        <p:txBody>
          <a:bodyPr/>
          <a:lstStyle/>
          <a:p>
            <a:endParaRPr lang="en-US"/>
          </a:p>
        </p:txBody>
      </p:sp>
      <p:sp>
        <p:nvSpPr>
          <p:cNvPr id="9" name="Oval 8">
            <a:extLst>
              <a:ext uri="{FF2B5EF4-FFF2-40B4-BE49-F238E27FC236}">
                <a16:creationId xmlns:a16="http://schemas.microsoft.com/office/drawing/2014/main" id="{18B3659F-9651-41FD-9CEA-BE004C9612EC}"/>
              </a:ext>
            </a:extLst>
          </p:cNvPr>
          <p:cNvSpPr>
            <a:spLocks noGrp="1"/>
          </p:cNvSpPr>
          <p:nvPr/>
        </p:nvSpPr>
        <p:spPr>
          <a:xfrm>
            <a:off x="4486275" y="4010025"/>
            <a:ext cx="171450" cy="171450"/>
          </a:xfrm>
          <a:prstGeom prst="ellipse">
            <a:avLst/>
          </a:prstGeom>
          <a:solidFill>
            <a:srgbClr val="243136"/>
          </a:solidFill>
          <a:ln w="0">
            <a:noFill/>
          </a:ln>
        </p:spPr>
        <p:txBody>
          <a:bodyPr/>
          <a:lstStyle/>
          <a:p>
            <a:endParaRPr lang="en-US"/>
          </a:p>
        </p:txBody>
      </p:sp>
      <p:sp>
        <p:nvSpPr>
          <p:cNvPr id="10" name="Straight Connector 9">
            <a:extLst>
              <a:ext uri="{FF2B5EF4-FFF2-40B4-BE49-F238E27FC236}">
                <a16:creationId xmlns:a16="http://schemas.microsoft.com/office/drawing/2014/main" id="{27D1A2D4-DB69-4320-82CD-65C524ED1148}"/>
              </a:ext>
            </a:extLst>
          </p:cNvPr>
          <p:cNvSpPr>
            <a:spLocks noGrp="1"/>
          </p:cNvSpPr>
          <p:nvPr/>
        </p:nvSpPr>
        <p:spPr>
          <a:xfrm>
            <a:off x="6953250" y="4000500"/>
            <a:ext cx="1428750" cy="0"/>
          </a:xfrm>
          <a:prstGeom prst="line">
            <a:avLst/>
          </a:prstGeom>
          <a:noFill/>
          <a:ln w="47625">
            <a:solidFill>
              <a:srgbClr val="227C9D"/>
            </a:solidFill>
          </a:ln>
        </p:spPr>
        <p:txBody>
          <a:bodyPr/>
          <a:lstStyle/>
          <a:p>
            <a:endParaRPr lang="en-US"/>
          </a:p>
        </p:txBody>
      </p:sp>
      <p:sp>
        <p:nvSpPr>
          <p:cNvPr id="11" name="Straight Connector 10">
            <a:extLst>
              <a:ext uri="{FF2B5EF4-FFF2-40B4-BE49-F238E27FC236}">
                <a16:creationId xmlns:a16="http://schemas.microsoft.com/office/drawing/2014/main" id="{07BA8169-8B56-426A-BEB8-53A6518F2D31}"/>
              </a:ext>
            </a:extLst>
          </p:cNvPr>
          <p:cNvSpPr>
            <a:spLocks noGrp="1"/>
          </p:cNvSpPr>
          <p:nvPr/>
        </p:nvSpPr>
        <p:spPr>
          <a:xfrm>
            <a:off x="8382000" y="4000500"/>
            <a:ext cx="0" cy="952500"/>
          </a:xfrm>
          <a:prstGeom prst="line">
            <a:avLst/>
          </a:prstGeom>
          <a:noFill/>
          <a:ln w="47625">
            <a:solidFill>
              <a:srgbClr val="227C9D"/>
            </a:solidFill>
          </a:ln>
        </p:spPr>
        <p:txBody>
          <a:bodyPr/>
          <a:lstStyle/>
          <a:p>
            <a:endParaRPr lang="en-US"/>
          </a:p>
        </p:txBody>
      </p:sp>
      <p:sp>
        <p:nvSpPr>
          <p:cNvPr id="12" name="Straight Connector 11">
            <a:extLst>
              <a:ext uri="{FF2B5EF4-FFF2-40B4-BE49-F238E27FC236}">
                <a16:creationId xmlns:a16="http://schemas.microsoft.com/office/drawing/2014/main" id="{E3488E66-00F5-45F8-9BBA-4CA65933062C}"/>
              </a:ext>
            </a:extLst>
          </p:cNvPr>
          <p:cNvSpPr>
            <a:spLocks noGrp="1"/>
          </p:cNvSpPr>
          <p:nvPr/>
        </p:nvSpPr>
        <p:spPr>
          <a:xfrm>
            <a:off x="8382000" y="4953000"/>
            <a:ext cx="2286000" cy="0"/>
          </a:xfrm>
          <a:prstGeom prst="line">
            <a:avLst/>
          </a:prstGeom>
          <a:noFill/>
          <a:ln w="47625">
            <a:solidFill>
              <a:srgbClr val="227C9D"/>
            </a:solidFill>
          </a:ln>
        </p:spPr>
        <p:txBody>
          <a:bodyPr/>
          <a:lstStyle/>
          <a:p>
            <a:endParaRPr lang="en-US"/>
          </a:p>
        </p:txBody>
      </p:sp>
      <p:sp>
        <p:nvSpPr>
          <p:cNvPr id="13" name="Oval 12">
            <a:extLst>
              <a:ext uri="{FF2B5EF4-FFF2-40B4-BE49-F238E27FC236}">
                <a16:creationId xmlns:a16="http://schemas.microsoft.com/office/drawing/2014/main" id="{796CE997-B0D6-41A4-9016-64FF17DD7D7F}"/>
              </a:ext>
            </a:extLst>
          </p:cNvPr>
          <p:cNvSpPr>
            <a:spLocks noGrp="1"/>
          </p:cNvSpPr>
          <p:nvPr/>
        </p:nvSpPr>
        <p:spPr>
          <a:xfrm>
            <a:off x="6896100" y="3943350"/>
            <a:ext cx="114300" cy="114300"/>
          </a:xfrm>
          <a:prstGeom prst="ellipse">
            <a:avLst/>
          </a:prstGeom>
          <a:solidFill>
            <a:srgbClr val="227C9D"/>
          </a:solidFill>
          <a:ln w="0">
            <a:noFill/>
          </a:ln>
        </p:spPr>
        <p:txBody>
          <a:bodyPr/>
          <a:lstStyle/>
          <a:p>
            <a:endParaRPr lang="en-US"/>
          </a:p>
        </p:txBody>
      </p:sp>
      <p:sp>
        <p:nvSpPr>
          <p:cNvPr id="14" name="Oval 13">
            <a:extLst>
              <a:ext uri="{FF2B5EF4-FFF2-40B4-BE49-F238E27FC236}">
                <a16:creationId xmlns:a16="http://schemas.microsoft.com/office/drawing/2014/main" id="{D3B37051-0267-4468-BBFF-5149BAB67DCB}"/>
              </a:ext>
            </a:extLst>
          </p:cNvPr>
          <p:cNvSpPr>
            <a:spLocks noGrp="1"/>
          </p:cNvSpPr>
          <p:nvPr/>
        </p:nvSpPr>
        <p:spPr>
          <a:xfrm>
            <a:off x="10582275" y="4867275"/>
            <a:ext cx="171450" cy="171450"/>
          </a:xfrm>
          <a:prstGeom prst="ellipse">
            <a:avLst/>
          </a:prstGeom>
          <a:solidFill>
            <a:srgbClr val="243136"/>
          </a:solidFill>
          <a:ln w="0">
            <a:noFill/>
          </a:ln>
        </p:spPr>
        <p:txBody>
          <a:bodyPr/>
          <a:lstStyle/>
          <a:p>
            <a:endParaRPr lang="en-US"/>
          </a:p>
        </p:txBody>
      </p:sp>
      <p:sp>
        <p:nvSpPr>
          <p:cNvPr id="15" name="Rectangle 14">
            <a:extLst>
              <a:ext uri="{FF2B5EF4-FFF2-40B4-BE49-F238E27FC236}">
                <a16:creationId xmlns:a16="http://schemas.microsoft.com/office/drawing/2014/main" id="{CCF1A643-A9CD-4948-9F2D-82A4158694A4}"/>
              </a:ext>
            </a:extLst>
          </p:cNvPr>
          <p:cNvSpPr>
            <a:spLocks noGrp="1"/>
          </p:cNvSpPr>
          <p:nvPr/>
        </p:nvSpPr>
        <p:spPr>
          <a:xfrm>
            <a:off x="666750" y="5953125"/>
            <a:ext cx="10763250" cy="495300"/>
          </a:xfrm>
          <a:prstGeom prst="rect">
            <a:avLst/>
          </a:prstGeom>
          <a:noFill/>
          <a:ln w="0">
            <a:noFill/>
          </a:ln>
        </p:spPr>
        <p:txBody>
          <a:bodyPr>
            <a:noAutofit/>
          </a:bodyPr>
          <a:lstStyle/>
          <a:p>
            <a:pPr>
              <a:defRPr sz="1800" b="0">
                <a:solidFill>
                  <a:srgbClr val="5B676A"/>
                </a:solidFill>
                <a:latin typeface="Helvetica Neue"/>
                <a:ea typeface="Helvetica Neue"/>
                <a:cs typeface="Helvetica Neue"/>
              </a:defRPr>
            </a:pPr>
            <a:r>
              <a:rPr sz="1800" b="0">
                <a:solidFill>
                  <a:srgbClr val="5B676A"/>
                </a:solidFill>
                <a:latin typeface="Helvetica Neue"/>
                <a:ea typeface="Helvetica Neue"/>
                <a:cs typeface="Helvetica Neue"/>
              </a:rPr>
              <a:t>Same destination. Different distance—and a different planning question.</a:t>
            </a:r>
          </a:p>
        </p:txBody>
      </p:sp>
    </p:spTree>
    <p:extLst>
      <p:ext uri="{BB962C8B-B14F-4D97-AF65-F5344CB8AC3E}">
        <p14:creationId xmlns:p14="http://schemas.microsoft.com/office/powerpoint/2010/main" val="698982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C6FBB86-BC98-42AB-A102-3DB49B1D40EA}"/>
              </a:ext>
            </a:extLst>
          </p:cNvPr>
          <p:cNvSpPr>
            <a:spLocks noGrp="1"/>
          </p:cNvSpPr>
          <p:nvPr/>
        </p:nvSpPr>
        <p:spPr>
          <a:xfrm>
            <a:off x="590550" y="438150"/>
            <a:ext cx="11010900" cy="1047750"/>
          </a:xfrm>
          <a:prstGeom prst="rect">
            <a:avLst/>
          </a:prstGeom>
          <a:noFill/>
          <a:ln w="0">
            <a:noFill/>
          </a:ln>
        </p:spPr>
        <p:txBody>
          <a:bodyPr>
            <a:noAutofit/>
          </a:bodyPr>
          <a:lstStyle/>
          <a:p>
            <a:pPr>
              <a:defRPr sz="3450" b="1">
                <a:solidFill>
                  <a:srgbClr val="243136"/>
                </a:solidFill>
                <a:latin typeface="Helvetica Neue"/>
                <a:ea typeface="Helvetica Neue"/>
                <a:cs typeface="Helvetica Neue"/>
              </a:defRPr>
            </a:pPr>
            <a:r>
              <a:rPr lang="en-US" sz="3450" b="1" dirty="0">
                <a:solidFill>
                  <a:srgbClr val="243136"/>
                </a:solidFill>
                <a:latin typeface="Helvetica Neue"/>
                <a:ea typeface="Helvetica Neue"/>
                <a:cs typeface="Helvetica Neue"/>
              </a:rPr>
              <a:t>Buffer</a:t>
            </a:r>
            <a:r>
              <a:rPr lang="zh-CN" altLang="en-US" sz="3450" b="1" dirty="0">
                <a:solidFill>
                  <a:srgbClr val="243136"/>
                </a:solidFill>
                <a:latin typeface="Helvetica Neue"/>
                <a:ea typeface="Helvetica Neue"/>
                <a:cs typeface="Helvetica Neue"/>
              </a:rPr>
              <a:t> </a:t>
            </a:r>
            <a:r>
              <a:rPr sz="3450" b="1" dirty="0">
                <a:solidFill>
                  <a:srgbClr val="243136"/>
                </a:solidFill>
                <a:latin typeface="Helvetica Neue"/>
                <a:ea typeface="Helvetica Neue"/>
                <a:cs typeface="Helvetica Neue"/>
              </a:rPr>
              <a:t>hypothesis</a:t>
            </a:r>
          </a:p>
        </p:txBody>
      </p:sp>
      <p:sp>
        <p:nvSpPr>
          <p:cNvPr id="2" name="Rectangle 1">
            <a:extLst>
              <a:ext uri="{FF2B5EF4-FFF2-40B4-BE49-F238E27FC236}">
                <a16:creationId xmlns:a16="http://schemas.microsoft.com/office/drawing/2014/main" id="{9F69925F-4C49-43A1-AA5F-66BF19AD7F34}"/>
              </a:ext>
            </a:extLst>
          </p:cNvPr>
          <p:cNvSpPr>
            <a:spLocks noGrp="1"/>
          </p:cNvSpPr>
          <p:nvPr/>
        </p:nvSpPr>
        <p:spPr>
          <a:xfrm>
            <a:off x="11525250" y="6524625"/>
            <a:ext cx="476250" cy="238125"/>
          </a:xfrm>
          <a:prstGeom prst="rect">
            <a:avLst/>
          </a:prstGeom>
          <a:noFill/>
          <a:ln w="0">
            <a:noFill/>
          </a:ln>
        </p:spPr>
        <p:txBody>
          <a:bodyPr>
            <a:noAutofit/>
          </a:bodyPr>
          <a:lstStyle/>
          <a:p>
            <a:pPr>
              <a:defRPr sz="1200" b="0">
                <a:solidFill>
                  <a:srgbClr val="5B676A"/>
                </a:solidFill>
                <a:latin typeface="Helvetica Neue"/>
                <a:ea typeface="Helvetica Neue"/>
                <a:cs typeface="Helvetica Neue"/>
              </a:defRPr>
            </a:pPr>
            <a:r>
              <a:rPr sz="1200" b="0">
                <a:solidFill>
                  <a:srgbClr val="5B676A"/>
                </a:solidFill>
                <a:latin typeface="Helvetica Neue"/>
                <a:ea typeface="Helvetica Neue"/>
                <a:cs typeface="Helvetica Neue"/>
              </a:rPr>
              <a:t>27</a:t>
            </a:r>
          </a:p>
        </p:txBody>
      </p:sp>
      <p:sp>
        <p:nvSpPr>
          <p:cNvPr id="3" name="Oval 2">
            <a:extLst>
              <a:ext uri="{FF2B5EF4-FFF2-40B4-BE49-F238E27FC236}">
                <a16:creationId xmlns:a16="http://schemas.microsoft.com/office/drawing/2014/main" id="{6AD9DA68-1D52-4A1E-9DCD-F75C7F8BC765}"/>
              </a:ext>
            </a:extLst>
          </p:cNvPr>
          <p:cNvSpPr>
            <a:spLocks noGrp="1"/>
          </p:cNvSpPr>
          <p:nvPr/>
        </p:nvSpPr>
        <p:spPr>
          <a:xfrm>
            <a:off x="1381125" y="1905000"/>
            <a:ext cx="3333750" cy="3333750"/>
          </a:xfrm>
          <a:prstGeom prst="ellipse">
            <a:avLst/>
          </a:prstGeom>
          <a:noFill/>
          <a:ln w="19050">
            <a:solidFill>
              <a:srgbClr val="227C9D"/>
            </a:solidFill>
          </a:ln>
        </p:spPr>
        <p:txBody>
          <a:bodyPr/>
          <a:lstStyle/>
          <a:p>
            <a:endParaRPr lang="en-US"/>
          </a:p>
        </p:txBody>
      </p:sp>
      <p:sp>
        <p:nvSpPr>
          <p:cNvPr id="4" name="Oval 3">
            <a:extLst>
              <a:ext uri="{FF2B5EF4-FFF2-40B4-BE49-F238E27FC236}">
                <a16:creationId xmlns:a16="http://schemas.microsoft.com/office/drawing/2014/main" id="{AA9A935C-B110-4331-BDCC-27F4509DA08C}"/>
              </a:ext>
            </a:extLst>
          </p:cNvPr>
          <p:cNvSpPr>
            <a:spLocks noGrp="1"/>
          </p:cNvSpPr>
          <p:nvPr/>
        </p:nvSpPr>
        <p:spPr>
          <a:xfrm>
            <a:off x="2952750" y="3476625"/>
            <a:ext cx="190500" cy="190500"/>
          </a:xfrm>
          <a:prstGeom prst="ellipse">
            <a:avLst/>
          </a:prstGeom>
          <a:solidFill>
            <a:srgbClr val="243136"/>
          </a:solidFill>
          <a:ln w="0">
            <a:noFill/>
          </a:ln>
        </p:spPr>
        <p:txBody>
          <a:bodyPr/>
          <a:lstStyle/>
          <a:p>
            <a:endParaRPr lang="en-US"/>
          </a:p>
        </p:txBody>
      </p:sp>
      <p:sp>
        <p:nvSpPr>
          <p:cNvPr id="5" name="Straight Connector 4">
            <a:extLst>
              <a:ext uri="{FF2B5EF4-FFF2-40B4-BE49-F238E27FC236}">
                <a16:creationId xmlns:a16="http://schemas.microsoft.com/office/drawing/2014/main" id="{8E968B63-F195-4726-B53C-89610F8C2B6D}"/>
              </a:ext>
            </a:extLst>
          </p:cNvPr>
          <p:cNvSpPr>
            <a:spLocks noGrp="1"/>
          </p:cNvSpPr>
          <p:nvPr/>
        </p:nvSpPr>
        <p:spPr>
          <a:xfrm>
            <a:off x="3048000" y="3571875"/>
            <a:ext cx="1571625" cy="0"/>
          </a:xfrm>
          <a:prstGeom prst="line">
            <a:avLst/>
          </a:prstGeom>
          <a:noFill/>
          <a:ln w="28575">
            <a:solidFill>
              <a:srgbClr val="227C9D"/>
            </a:solidFill>
          </a:ln>
        </p:spPr>
        <p:txBody>
          <a:bodyPr/>
          <a:lstStyle/>
          <a:p>
            <a:endParaRPr lang="en-US"/>
          </a:p>
        </p:txBody>
      </p:sp>
      <p:sp>
        <p:nvSpPr>
          <p:cNvPr id="6" name="Rectangle 5">
            <a:extLst>
              <a:ext uri="{FF2B5EF4-FFF2-40B4-BE49-F238E27FC236}">
                <a16:creationId xmlns:a16="http://schemas.microsoft.com/office/drawing/2014/main" id="{CB33470C-008A-4D94-A588-D533F1E20AF8}"/>
              </a:ext>
            </a:extLst>
          </p:cNvPr>
          <p:cNvSpPr>
            <a:spLocks noGrp="1"/>
          </p:cNvSpPr>
          <p:nvPr/>
        </p:nvSpPr>
        <p:spPr>
          <a:xfrm>
            <a:off x="3333750" y="3190875"/>
            <a:ext cx="1428750" cy="381000"/>
          </a:xfrm>
          <a:prstGeom prst="rect">
            <a:avLst/>
          </a:prstGeom>
          <a:noFill/>
          <a:ln w="0">
            <a:noFill/>
          </a:ln>
        </p:spPr>
        <p:txBody>
          <a:bodyPr>
            <a:noAutofit/>
          </a:bodyPr>
          <a:lstStyle/>
          <a:p>
            <a:pPr>
              <a:defRPr sz="2100" b="0">
                <a:solidFill>
                  <a:srgbClr val="227C9D"/>
                </a:solidFill>
                <a:latin typeface="Helvetica Neue"/>
                <a:ea typeface="Helvetica Neue"/>
                <a:cs typeface="Helvetica Neue"/>
              </a:defRPr>
            </a:pPr>
            <a:r>
              <a:rPr sz="2100" b="0">
                <a:solidFill>
                  <a:srgbClr val="227C9D"/>
                </a:solidFill>
                <a:latin typeface="Helvetica Neue"/>
                <a:ea typeface="Helvetica Neue"/>
                <a:cs typeface="Helvetica Neue"/>
              </a:rPr>
              <a:t>800 m</a:t>
            </a:r>
          </a:p>
        </p:txBody>
      </p:sp>
      <p:sp>
        <p:nvSpPr>
          <p:cNvPr id="7" name="Rectangle 6">
            <a:extLst>
              <a:ext uri="{FF2B5EF4-FFF2-40B4-BE49-F238E27FC236}">
                <a16:creationId xmlns:a16="http://schemas.microsoft.com/office/drawing/2014/main" id="{ABFB370C-C5BF-45AF-B5EF-9E2F4E2EF3A5}"/>
              </a:ext>
            </a:extLst>
          </p:cNvPr>
          <p:cNvSpPr>
            <a:spLocks noGrp="1"/>
          </p:cNvSpPr>
          <p:nvPr/>
        </p:nvSpPr>
        <p:spPr>
          <a:xfrm>
            <a:off x="6048375" y="2286000"/>
            <a:ext cx="5334000" cy="762000"/>
          </a:xfrm>
          <a:prstGeom prst="rect">
            <a:avLst/>
          </a:prstGeom>
          <a:noFill/>
          <a:ln w="0">
            <a:noFill/>
          </a:ln>
        </p:spPr>
        <p:txBody>
          <a:bodyPr>
            <a:noAutofit/>
          </a:bodyPr>
          <a:lstStyle/>
          <a:p>
            <a:pPr>
              <a:defRPr sz="3150" b="1">
                <a:solidFill>
                  <a:srgbClr val="227C9D"/>
                </a:solidFill>
                <a:latin typeface="Helvetica Neue"/>
                <a:ea typeface="Helvetica Neue"/>
                <a:cs typeface="Helvetica Neue"/>
              </a:defRPr>
            </a:pPr>
            <a:r>
              <a:rPr sz="3150" b="1">
                <a:solidFill>
                  <a:srgbClr val="227C9D"/>
                </a:solidFill>
                <a:latin typeface="Helvetica Neue"/>
                <a:ea typeface="Helvetica Neue"/>
                <a:cs typeface="Helvetica Neue"/>
              </a:rPr>
              <a:t>10 min × 80 m/min</a:t>
            </a:r>
          </a:p>
        </p:txBody>
      </p:sp>
      <p:sp>
        <p:nvSpPr>
          <p:cNvPr id="8" name="Rectangle 7">
            <a:extLst>
              <a:ext uri="{FF2B5EF4-FFF2-40B4-BE49-F238E27FC236}">
                <a16:creationId xmlns:a16="http://schemas.microsoft.com/office/drawing/2014/main" id="{91009A74-33B3-4C77-A4E7-6102220B8E5F}"/>
              </a:ext>
            </a:extLst>
          </p:cNvPr>
          <p:cNvSpPr>
            <a:spLocks noGrp="1"/>
          </p:cNvSpPr>
          <p:nvPr/>
        </p:nvSpPr>
        <p:spPr>
          <a:xfrm>
            <a:off x="6048375" y="3190875"/>
            <a:ext cx="5334000" cy="809625"/>
          </a:xfrm>
          <a:prstGeom prst="rect">
            <a:avLst/>
          </a:prstGeom>
          <a:noFill/>
          <a:ln w="0">
            <a:noFill/>
          </a:ln>
        </p:spPr>
        <p:txBody>
          <a:bodyPr>
            <a:noAutofit/>
          </a:bodyPr>
          <a:lstStyle/>
          <a:p>
            <a:pPr>
              <a:defRPr sz="4800" b="1">
                <a:solidFill>
                  <a:srgbClr val="227C9D"/>
                </a:solidFill>
                <a:latin typeface="Helvetica Neue"/>
                <a:ea typeface="Helvetica Neue"/>
                <a:cs typeface="Helvetica Neue"/>
              </a:defRPr>
            </a:pPr>
            <a:r>
              <a:rPr sz="4800" b="1">
                <a:solidFill>
                  <a:srgbClr val="227C9D"/>
                </a:solidFill>
                <a:latin typeface="Helvetica Neue"/>
                <a:ea typeface="Helvetica Neue"/>
                <a:cs typeface="Helvetica Neue"/>
              </a:rPr>
              <a:t>= 800 m</a:t>
            </a:r>
          </a:p>
        </p:txBody>
      </p:sp>
      <p:sp>
        <p:nvSpPr>
          <p:cNvPr id="9" name="Rectangle 8">
            <a:extLst>
              <a:ext uri="{FF2B5EF4-FFF2-40B4-BE49-F238E27FC236}">
                <a16:creationId xmlns:a16="http://schemas.microsoft.com/office/drawing/2014/main" id="{01F80DA0-D795-4AFD-BF7A-4285D66053CC}"/>
              </a:ext>
            </a:extLst>
          </p:cNvPr>
          <p:cNvSpPr>
            <a:spLocks noGrp="1"/>
          </p:cNvSpPr>
          <p:nvPr/>
        </p:nvSpPr>
        <p:spPr>
          <a:xfrm>
            <a:off x="6048375" y="4286250"/>
            <a:ext cx="5143500" cy="1047750"/>
          </a:xfrm>
          <a:prstGeom prst="rect">
            <a:avLst/>
          </a:prstGeom>
          <a:noFill/>
          <a:ln w="0">
            <a:noFill/>
          </a:ln>
        </p:spPr>
        <p:txBody>
          <a:bodyPr>
            <a:noAutofit/>
          </a:bodyPr>
          <a:lstStyle/>
          <a:p>
            <a:pPr>
              <a:defRPr sz="2250" b="0">
                <a:solidFill>
                  <a:srgbClr val="243136"/>
                </a:solidFill>
                <a:latin typeface="Helvetica Neue"/>
                <a:ea typeface="Helvetica Neue"/>
                <a:cs typeface="Helvetica Neue"/>
              </a:defRPr>
            </a:pPr>
            <a:r>
              <a:rPr sz="2250" b="0" dirty="0">
                <a:solidFill>
                  <a:srgbClr val="243136"/>
                </a:solidFill>
                <a:latin typeface="Helvetica Neue"/>
                <a:ea typeface="Helvetica Neue"/>
                <a:cs typeface="Helvetica Neue"/>
              </a:rPr>
              <a:t>The circle ignores the street network.</a:t>
            </a:r>
          </a:p>
        </p:txBody>
      </p:sp>
      <p:sp>
        <p:nvSpPr>
          <p:cNvPr id="10" name="Rectangle 9">
            <a:extLst>
              <a:ext uri="{FF2B5EF4-FFF2-40B4-BE49-F238E27FC236}">
                <a16:creationId xmlns:a16="http://schemas.microsoft.com/office/drawing/2014/main" id="{635E48D0-EBF0-479B-BAA5-E78655959717}"/>
              </a:ext>
            </a:extLst>
          </p:cNvPr>
          <p:cNvSpPr>
            <a:spLocks noGrp="1"/>
          </p:cNvSpPr>
          <p:nvPr/>
        </p:nvSpPr>
        <p:spPr>
          <a:xfrm>
            <a:off x="666750" y="5953125"/>
            <a:ext cx="10763250" cy="495300"/>
          </a:xfrm>
          <a:prstGeom prst="rect">
            <a:avLst/>
          </a:prstGeom>
          <a:noFill/>
          <a:ln w="0">
            <a:noFill/>
          </a:ln>
        </p:spPr>
        <p:txBody>
          <a:bodyPr>
            <a:noAutofit/>
          </a:bodyPr>
          <a:lstStyle/>
          <a:p>
            <a:pPr>
              <a:defRPr sz="1800" b="0">
                <a:solidFill>
                  <a:srgbClr val="5B676A"/>
                </a:solidFill>
                <a:latin typeface="Helvetica Neue"/>
                <a:ea typeface="Helvetica Neue"/>
                <a:cs typeface="Helvetica Neue"/>
              </a:defRPr>
            </a:pPr>
            <a:r>
              <a:rPr sz="1800" b="0">
                <a:solidFill>
                  <a:srgbClr val="5B676A"/>
                </a:solidFill>
                <a:latin typeface="Helvetica Neue"/>
                <a:ea typeface="Helvetica Neue"/>
                <a:cs typeface="Helvetica Neue"/>
              </a:rPr>
              <a:t>Assumed constant speed • buffer in a projected CRS with meter units</a:t>
            </a:r>
          </a:p>
        </p:txBody>
      </p:sp>
    </p:spTree>
    <p:extLst>
      <p:ext uri="{BB962C8B-B14F-4D97-AF65-F5344CB8AC3E}">
        <p14:creationId xmlns:p14="http://schemas.microsoft.com/office/powerpoint/2010/main" val="12679116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8D5E29B-91C3-481C-9271-43E399B7CEFF}"/>
              </a:ext>
            </a:extLst>
          </p:cNvPr>
          <p:cNvSpPr>
            <a:spLocks noGrp="1"/>
          </p:cNvSpPr>
          <p:nvPr/>
        </p:nvSpPr>
        <p:spPr>
          <a:xfrm>
            <a:off x="590550" y="438150"/>
            <a:ext cx="11010900" cy="1047750"/>
          </a:xfrm>
          <a:prstGeom prst="rect">
            <a:avLst/>
          </a:prstGeom>
          <a:noFill/>
          <a:ln w="0">
            <a:noFill/>
          </a:ln>
        </p:spPr>
        <p:txBody>
          <a:bodyPr>
            <a:noAutofit/>
          </a:bodyPr>
          <a:lstStyle/>
          <a:p>
            <a:pPr>
              <a:defRPr sz="3450" b="1">
                <a:solidFill>
                  <a:srgbClr val="243136"/>
                </a:solidFill>
                <a:latin typeface="Helvetica Neue"/>
                <a:ea typeface="Helvetica Neue"/>
                <a:cs typeface="Helvetica Neue"/>
              </a:defRPr>
            </a:pPr>
            <a:r>
              <a:rPr sz="3450" b="1">
                <a:solidFill>
                  <a:srgbClr val="243136"/>
                </a:solidFill>
                <a:latin typeface="Helvetica Neue"/>
                <a:ea typeface="Helvetica Neue"/>
                <a:cs typeface="Helvetica Neue"/>
              </a:rPr>
              <a:t>Why Pandana?</a:t>
            </a:r>
          </a:p>
        </p:txBody>
      </p:sp>
      <p:sp>
        <p:nvSpPr>
          <p:cNvPr id="2" name="Rectangle 1">
            <a:extLst>
              <a:ext uri="{FF2B5EF4-FFF2-40B4-BE49-F238E27FC236}">
                <a16:creationId xmlns:a16="http://schemas.microsoft.com/office/drawing/2014/main" id="{05723590-40D1-48E9-B052-F07A1C69FF3B}"/>
              </a:ext>
            </a:extLst>
          </p:cNvPr>
          <p:cNvSpPr>
            <a:spLocks noGrp="1"/>
          </p:cNvSpPr>
          <p:nvPr/>
        </p:nvSpPr>
        <p:spPr>
          <a:xfrm>
            <a:off x="11525250" y="6524625"/>
            <a:ext cx="476250" cy="238125"/>
          </a:xfrm>
          <a:prstGeom prst="rect">
            <a:avLst/>
          </a:prstGeom>
          <a:noFill/>
          <a:ln w="0">
            <a:noFill/>
          </a:ln>
        </p:spPr>
        <p:txBody>
          <a:bodyPr>
            <a:noAutofit/>
          </a:bodyPr>
          <a:lstStyle/>
          <a:p>
            <a:pPr>
              <a:defRPr sz="1200" b="0">
                <a:solidFill>
                  <a:srgbClr val="5B676A"/>
                </a:solidFill>
                <a:latin typeface="Helvetica Neue"/>
                <a:ea typeface="Helvetica Neue"/>
                <a:cs typeface="Helvetica Neue"/>
              </a:defRPr>
            </a:pPr>
            <a:r>
              <a:rPr sz="1200" b="0">
                <a:solidFill>
                  <a:srgbClr val="5B676A"/>
                </a:solidFill>
                <a:latin typeface="Helvetica Neue"/>
                <a:ea typeface="Helvetica Neue"/>
                <a:cs typeface="Helvetica Neue"/>
              </a:rPr>
              <a:t>28</a:t>
            </a:r>
          </a:p>
        </p:txBody>
      </p:sp>
      <p:sp>
        <p:nvSpPr>
          <p:cNvPr id="3" name="Rectangle 2">
            <a:extLst>
              <a:ext uri="{FF2B5EF4-FFF2-40B4-BE49-F238E27FC236}">
                <a16:creationId xmlns:a16="http://schemas.microsoft.com/office/drawing/2014/main" id="{8CA6A50D-EC70-4D98-994B-4E10C609D9C1}"/>
              </a:ext>
            </a:extLst>
          </p:cNvPr>
          <p:cNvSpPr>
            <a:spLocks noGrp="1"/>
          </p:cNvSpPr>
          <p:nvPr/>
        </p:nvSpPr>
        <p:spPr>
          <a:xfrm>
            <a:off x="762000" y="2095500"/>
            <a:ext cx="6667500" cy="952500"/>
          </a:xfrm>
          <a:prstGeom prst="rect">
            <a:avLst/>
          </a:prstGeom>
          <a:noFill/>
          <a:ln w="0">
            <a:noFill/>
          </a:ln>
        </p:spPr>
        <p:txBody>
          <a:bodyPr>
            <a:noAutofit/>
          </a:bodyPr>
          <a:lstStyle/>
          <a:p>
            <a:pPr>
              <a:defRPr sz="5100" b="1">
                <a:solidFill>
                  <a:srgbClr val="227C9D"/>
                </a:solidFill>
                <a:latin typeface="Helvetica Neue"/>
                <a:ea typeface="Helvetica Neue"/>
                <a:cs typeface="Helvetica Neue"/>
              </a:defRPr>
            </a:pPr>
            <a:r>
              <a:rPr sz="5100" b="1" dirty="0">
                <a:solidFill>
                  <a:srgbClr val="227C9D"/>
                </a:solidFill>
                <a:latin typeface="Helvetica Neue"/>
                <a:ea typeface="Helvetica Neue"/>
                <a:cs typeface="Helvetica Neue"/>
              </a:rPr>
              <a:t>50,000 origins</a:t>
            </a:r>
          </a:p>
        </p:txBody>
      </p:sp>
      <p:sp>
        <p:nvSpPr>
          <p:cNvPr id="4" name="Rectangle 3">
            <a:extLst>
              <a:ext uri="{FF2B5EF4-FFF2-40B4-BE49-F238E27FC236}">
                <a16:creationId xmlns:a16="http://schemas.microsoft.com/office/drawing/2014/main" id="{BD3DBFCE-5D85-4713-A16C-9E304AD02132}"/>
              </a:ext>
            </a:extLst>
          </p:cNvPr>
          <p:cNvSpPr>
            <a:spLocks noGrp="1"/>
          </p:cNvSpPr>
          <p:nvPr/>
        </p:nvSpPr>
        <p:spPr>
          <a:xfrm>
            <a:off x="762000" y="3143250"/>
            <a:ext cx="9048750" cy="952500"/>
          </a:xfrm>
          <a:prstGeom prst="rect">
            <a:avLst/>
          </a:prstGeom>
          <a:noFill/>
          <a:ln w="0">
            <a:noFill/>
          </a:ln>
        </p:spPr>
        <p:txBody>
          <a:bodyPr>
            <a:noAutofit/>
          </a:bodyPr>
          <a:lstStyle/>
          <a:p>
            <a:pPr>
              <a:defRPr sz="5100" b="1">
                <a:solidFill>
                  <a:srgbClr val="227C9D"/>
                </a:solidFill>
                <a:latin typeface="Helvetica Neue"/>
                <a:ea typeface="Helvetica Neue"/>
                <a:cs typeface="Helvetica Neue"/>
              </a:defRPr>
            </a:pPr>
            <a:r>
              <a:rPr sz="5100" b="1" dirty="0">
                <a:solidFill>
                  <a:srgbClr val="227C9D"/>
                </a:solidFill>
                <a:latin typeface="Helvetica Neue"/>
                <a:ea typeface="Helvetica Neue"/>
                <a:cs typeface="Helvetica Neue"/>
              </a:rPr>
              <a:t>× 100 destinations</a:t>
            </a:r>
          </a:p>
        </p:txBody>
      </p:sp>
      <p:sp>
        <p:nvSpPr>
          <p:cNvPr id="5" name="Rectangle 4">
            <a:extLst>
              <a:ext uri="{FF2B5EF4-FFF2-40B4-BE49-F238E27FC236}">
                <a16:creationId xmlns:a16="http://schemas.microsoft.com/office/drawing/2014/main" id="{2E22FA57-89D1-4BD2-873E-FDC4C13DCAFF}"/>
              </a:ext>
            </a:extLst>
          </p:cNvPr>
          <p:cNvSpPr>
            <a:spLocks noGrp="1"/>
          </p:cNvSpPr>
          <p:nvPr/>
        </p:nvSpPr>
        <p:spPr>
          <a:xfrm>
            <a:off x="762000" y="4667250"/>
            <a:ext cx="10572750" cy="1095375"/>
          </a:xfrm>
          <a:prstGeom prst="rect">
            <a:avLst/>
          </a:prstGeom>
          <a:noFill/>
          <a:ln w="0">
            <a:noFill/>
          </a:ln>
        </p:spPr>
        <p:txBody>
          <a:bodyPr>
            <a:noAutofit/>
          </a:bodyPr>
          <a:lstStyle/>
          <a:p>
            <a:pPr>
              <a:defRPr sz="2550" b="0">
                <a:solidFill>
                  <a:srgbClr val="243136"/>
                </a:solidFill>
                <a:latin typeface="Helvetica Neue"/>
                <a:ea typeface="Helvetica Neue"/>
                <a:cs typeface="Helvetica Neue"/>
              </a:defRPr>
            </a:pPr>
            <a:r>
              <a:rPr sz="2550" b="0" dirty="0">
                <a:solidFill>
                  <a:srgbClr val="243136"/>
                </a:solidFill>
                <a:latin typeface="Helvetica Neue"/>
                <a:ea typeface="Helvetica Neue"/>
                <a:cs typeface="Helvetica Neue"/>
              </a:rPr>
              <a:t>Which destination is nearest?</a:t>
            </a:r>
          </a:p>
          <a:p>
            <a:pPr>
              <a:defRPr sz="2550" b="0">
                <a:solidFill>
                  <a:srgbClr val="243136"/>
                </a:solidFill>
                <a:latin typeface="Helvetica Neue"/>
                <a:ea typeface="Helvetica Neue"/>
                <a:cs typeface="Helvetica Neue"/>
              </a:defRPr>
            </a:pPr>
            <a:r>
              <a:rPr sz="2550" b="0" dirty="0">
                <a:solidFill>
                  <a:srgbClr val="243136"/>
                </a:solidFill>
                <a:latin typeface="Helvetica Neue"/>
                <a:ea typeface="Helvetica Neue"/>
                <a:cs typeface="Helvetica Neue"/>
              </a:rPr>
              <a:t>How many opportunities are within reach?</a:t>
            </a:r>
          </a:p>
        </p:txBody>
      </p:sp>
      <p:sp>
        <p:nvSpPr>
          <p:cNvPr id="6" name="Rectangle 5">
            <a:extLst>
              <a:ext uri="{FF2B5EF4-FFF2-40B4-BE49-F238E27FC236}">
                <a16:creationId xmlns:a16="http://schemas.microsoft.com/office/drawing/2014/main" id="{5A4C8BC4-DD7D-414F-86F2-DE0E22218144}"/>
              </a:ext>
            </a:extLst>
          </p:cNvPr>
          <p:cNvSpPr>
            <a:spLocks noGrp="1"/>
          </p:cNvSpPr>
          <p:nvPr/>
        </p:nvSpPr>
        <p:spPr>
          <a:xfrm>
            <a:off x="666750" y="5953125"/>
            <a:ext cx="10763250" cy="495300"/>
          </a:xfrm>
          <a:prstGeom prst="rect">
            <a:avLst/>
          </a:prstGeom>
          <a:noFill/>
          <a:ln w="0">
            <a:noFill/>
          </a:ln>
        </p:spPr>
        <p:txBody>
          <a:bodyPr>
            <a:noAutofit/>
          </a:bodyPr>
          <a:lstStyle/>
          <a:p>
            <a:pPr>
              <a:defRPr sz="1800" b="0">
                <a:solidFill>
                  <a:srgbClr val="5B676A"/>
                </a:solidFill>
                <a:latin typeface="Helvetica Neue"/>
                <a:ea typeface="Helvetica Neue"/>
                <a:cs typeface="Helvetica Neue"/>
              </a:defRPr>
            </a:pPr>
            <a:r>
              <a:rPr sz="1800" b="0">
                <a:solidFill>
                  <a:srgbClr val="5B676A"/>
                </a:solidFill>
                <a:latin typeface="Helvetica Neue"/>
                <a:ea typeface="Helvetica Neue"/>
                <a:cs typeface="Helvetica Neue"/>
              </a:rPr>
              <a:t>Illustrative workload: 5 million origin–destination pairs</a:t>
            </a:r>
          </a:p>
        </p:txBody>
      </p:sp>
    </p:spTree>
    <p:extLst>
      <p:ext uri="{BB962C8B-B14F-4D97-AF65-F5344CB8AC3E}">
        <p14:creationId xmlns:p14="http://schemas.microsoft.com/office/powerpoint/2010/main" val="15294656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0C22BFD-F6DC-4995-AD33-E8382B785D5D}"/>
              </a:ext>
            </a:extLst>
          </p:cNvPr>
          <p:cNvSpPr>
            <a:spLocks noGrp="1"/>
          </p:cNvSpPr>
          <p:nvPr/>
        </p:nvSpPr>
        <p:spPr>
          <a:xfrm>
            <a:off x="590550" y="438150"/>
            <a:ext cx="11010900" cy="1047750"/>
          </a:xfrm>
          <a:prstGeom prst="rect">
            <a:avLst/>
          </a:prstGeom>
          <a:noFill/>
          <a:ln w="0">
            <a:noFill/>
          </a:ln>
        </p:spPr>
        <p:txBody>
          <a:bodyPr>
            <a:noAutofit/>
          </a:bodyPr>
          <a:lstStyle/>
          <a:p>
            <a:pPr>
              <a:defRPr sz="3450" b="1">
                <a:solidFill>
                  <a:srgbClr val="243136"/>
                </a:solidFill>
                <a:latin typeface="Helvetica Neue"/>
                <a:ea typeface="Helvetica Neue"/>
                <a:cs typeface="Helvetica Neue"/>
              </a:defRPr>
            </a:pPr>
            <a:r>
              <a:rPr sz="3450" b="1">
                <a:solidFill>
                  <a:srgbClr val="243136"/>
                </a:solidFill>
                <a:latin typeface="Helvetica Neue"/>
                <a:ea typeface="Helvetica Neue"/>
                <a:cs typeface="Helvetica Neue"/>
              </a:rPr>
              <a:t>Two tools in the same analysis</a:t>
            </a:r>
          </a:p>
        </p:txBody>
      </p:sp>
      <p:sp>
        <p:nvSpPr>
          <p:cNvPr id="2" name="Rectangle 1">
            <a:extLst>
              <a:ext uri="{FF2B5EF4-FFF2-40B4-BE49-F238E27FC236}">
                <a16:creationId xmlns:a16="http://schemas.microsoft.com/office/drawing/2014/main" id="{180B49E1-2C3B-4BFE-9C1C-742346A15E56}"/>
              </a:ext>
            </a:extLst>
          </p:cNvPr>
          <p:cNvSpPr>
            <a:spLocks noGrp="1"/>
          </p:cNvSpPr>
          <p:nvPr/>
        </p:nvSpPr>
        <p:spPr>
          <a:xfrm>
            <a:off x="11525250" y="6524625"/>
            <a:ext cx="476250" cy="238125"/>
          </a:xfrm>
          <a:prstGeom prst="rect">
            <a:avLst/>
          </a:prstGeom>
          <a:noFill/>
          <a:ln w="0">
            <a:noFill/>
          </a:ln>
        </p:spPr>
        <p:txBody>
          <a:bodyPr>
            <a:noAutofit/>
          </a:bodyPr>
          <a:lstStyle/>
          <a:p>
            <a:pPr>
              <a:defRPr sz="1200" b="0">
                <a:solidFill>
                  <a:srgbClr val="5B676A"/>
                </a:solidFill>
                <a:latin typeface="Helvetica Neue"/>
                <a:ea typeface="Helvetica Neue"/>
                <a:cs typeface="Helvetica Neue"/>
              </a:defRPr>
            </a:pPr>
            <a:r>
              <a:rPr sz="1200" b="0">
                <a:solidFill>
                  <a:srgbClr val="5B676A"/>
                </a:solidFill>
                <a:latin typeface="Helvetica Neue"/>
                <a:ea typeface="Helvetica Neue"/>
                <a:cs typeface="Helvetica Neue"/>
              </a:rPr>
              <a:t>29</a:t>
            </a:r>
          </a:p>
        </p:txBody>
      </p:sp>
      <p:sp>
        <p:nvSpPr>
          <p:cNvPr id="3" name="Rectangle 2">
            <a:extLst>
              <a:ext uri="{FF2B5EF4-FFF2-40B4-BE49-F238E27FC236}">
                <a16:creationId xmlns:a16="http://schemas.microsoft.com/office/drawing/2014/main" id="{3253C39C-C55E-40D7-BD14-58958B4C0A6E}"/>
              </a:ext>
            </a:extLst>
          </p:cNvPr>
          <p:cNvSpPr>
            <a:spLocks noGrp="1"/>
          </p:cNvSpPr>
          <p:nvPr/>
        </p:nvSpPr>
        <p:spPr>
          <a:xfrm>
            <a:off x="762000" y="1905000"/>
            <a:ext cx="4572000" cy="666750"/>
          </a:xfrm>
          <a:prstGeom prst="rect">
            <a:avLst/>
          </a:prstGeom>
          <a:noFill/>
          <a:ln w="0">
            <a:noFill/>
          </a:ln>
        </p:spPr>
        <p:txBody>
          <a:bodyPr>
            <a:noAutofit/>
          </a:bodyPr>
          <a:lstStyle/>
          <a:p>
            <a:pPr>
              <a:defRPr sz="3600" b="1">
                <a:solidFill>
                  <a:srgbClr val="227C9D"/>
                </a:solidFill>
                <a:latin typeface="Helvetica Neue"/>
                <a:ea typeface="Helvetica Neue"/>
                <a:cs typeface="Helvetica Neue"/>
              </a:defRPr>
            </a:pPr>
            <a:r>
              <a:rPr sz="3600" b="1">
                <a:solidFill>
                  <a:srgbClr val="227C9D"/>
                </a:solidFill>
                <a:latin typeface="Helvetica Neue"/>
                <a:ea typeface="Helvetica Neue"/>
                <a:cs typeface="Helvetica Neue"/>
              </a:rPr>
              <a:t>OSMnx</a:t>
            </a:r>
          </a:p>
        </p:txBody>
      </p:sp>
      <p:sp>
        <p:nvSpPr>
          <p:cNvPr id="4" name="Rectangle 3">
            <a:extLst>
              <a:ext uri="{FF2B5EF4-FFF2-40B4-BE49-F238E27FC236}">
                <a16:creationId xmlns:a16="http://schemas.microsoft.com/office/drawing/2014/main" id="{07379659-E97C-4E5E-81A5-DDF5957040B4}"/>
              </a:ext>
            </a:extLst>
          </p:cNvPr>
          <p:cNvSpPr>
            <a:spLocks noGrp="1"/>
          </p:cNvSpPr>
          <p:nvPr/>
        </p:nvSpPr>
        <p:spPr>
          <a:xfrm>
            <a:off x="6667500" y="1905000"/>
            <a:ext cx="4572000" cy="666750"/>
          </a:xfrm>
          <a:prstGeom prst="rect">
            <a:avLst/>
          </a:prstGeom>
          <a:noFill/>
          <a:ln w="0">
            <a:noFill/>
          </a:ln>
        </p:spPr>
        <p:txBody>
          <a:bodyPr>
            <a:noAutofit/>
          </a:bodyPr>
          <a:lstStyle/>
          <a:p>
            <a:pPr>
              <a:defRPr sz="3600" b="1">
                <a:solidFill>
                  <a:srgbClr val="227C9D"/>
                </a:solidFill>
                <a:latin typeface="Helvetica Neue"/>
                <a:ea typeface="Helvetica Neue"/>
                <a:cs typeface="Helvetica Neue"/>
              </a:defRPr>
            </a:pPr>
            <a:r>
              <a:rPr sz="3600" b="1">
                <a:solidFill>
                  <a:srgbClr val="227C9D"/>
                </a:solidFill>
                <a:latin typeface="Helvetica Neue"/>
                <a:ea typeface="Helvetica Neue"/>
                <a:cs typeface="Helvetica Neue"/>
              </a:rPr>
              <a:t>Pandana</a:t>
            </a:r>
          </a:p>
        </p:txBody>
      </p:sp>
      <p:sp>
        <p:nvSpPr>
          <p:cNvPr id="5" name="Straight Connector 4">
            <a:extLst>
              <a:ext uri="{FF2B5EF4-FFF2-40B4-BE49-F238E27FC236}">
                <a16:creationId xmlns:a16="http://schemas.microsoft.com/office/drawing/2014/main" id="{B62D0338-9A3F-4440-A487-A1F0FFDC0CD3}"/>
              </a:ext>
            </a:extLst>
          </p:cNvPr>
          <p:cNvSpPr>
            <a:spLocks noGrp="1"/>
          </p:cNvSpPr>
          <p:nvPr/>
        </p:nvSpPr>
        <p:spPr>
          <a:xfrm>
            <a:off x="762000" y="2667000"/>
            <a:ext cx="10477500" cy="0"/>
          </a:xfrm>
          <a:prstGeom prst="line">
            <a:avLst/>
          </a:prstGeom>
          <a:noFill/>
          <a:ln w="19050">
            <a:solidFill>
              <a:srgbClr val="9CB7BC"/>
            </a:solidFill>
          </a:ln>
        </p:spPr>
        <p:txBody>
          <a:bodyPr/>
          <a:lstStyle/>
          <a:p>
            <a:endParaRPr lang="en-US"/>
          </a:p>
        </p:txBody>
      </p:sp>
      <p:sp>
        <p:nvSpPr>
          <p:cNvPr id="6" name="Rectangle 5">
            <a:extLst>
              <a:ext uri="{FF2B5EF4-FFF2-40B4-BE49-F238E27FC236}">
                <a16:creationId xmlns:a16="http://schemas.microsoft.com/office/drawing/2014/main" id="{E4DE9F7D-020D-4844-9F8B-24AC1C383D46}"/>
              </a:ext>
            </a:extLst>
          </p:cNvPr>
          <p:cNvSpPr>
            <a:spLocks noGrp="1"/>
          </p:cNvSpPr>
          <p:nvPr/>
        </p:nvSpPr>
        <p:spPr>
          <a:xfrm>
            <a:off x="762000" y="3048000"/>
            <a:ext cx="4857750" cy="2000250"/>
          </a:xfrm>
          <a:prstGeom prst="rect">
            <a:avLst/>
          </a:prstGeom>
          <a:noFill/>
          <a:ln w="0">
            <a:noFill/>
          </a:ln>
        </p:spPr>
        <p:txBody>
          <a:bodyPr>
            <a:noAutofit/>
          </a:bodyPr>
          <a:lstStyle/>
          <a:p>
            <a:pPr>
              <a:defRPr sz="2475" b="0">
                <a:solidFill>
                  <a:srgbClr val="243136"/>
                </a:solidFill>
                <a:latin typeface="Helvetica Neue"/>
                <a:ea typeface="Helvetica Neue"/>
                <a:cs typeface="Helvetica Neue"/>
              </a:defRPr>
            </a:pPr>
            <a:r>
              <a:rPr sz="2475" b="0">
                <a:solidFill>
                  <a:srgbClr val="243136"/>
                </a:solidFill>
                <a:latin typeface="Helvetica Neue"/>
                <a:ea typeface="Helvetica Neue"/>
                <a:cs typeface="Helvetica Neue"/>
              </a:rPr>
              <a:t>Retrieve streets</a:t>
            </a:r>
          </a:p>
          <a:p>
            <a:pPr>
              <a:defRPr sz="2475" b="0">
                <a:solidFill>
                  <a:srgbClr val="243136"/>
                </a:solidFill>
                <a:latin typeface="Helvetica Neue"/>
                <a:ea typeface="Helvetica Neue"/>
                <a:cs typeface="Helvetica Neue"/>
              </a:defRPr>
            </a:pPr>
            <a:r>
              <a:rPr sz="2475" b="0">
                <a:solidFill>
                  <a:srgbClr val="243136"/>
                </a:solidFill>
                <a:latin typeface="Helvetica Neue"/>
                <a:ea typeface="Helvetica Neue"/>
                <a:cs typeface="Helvetica Neue"/>
              </a:rPr>
              <a:t>Build and inspect the graph</a:t>
            </a:r>
          </a:p>
          <a:p>
            <a:pPr>
              <a:defRPr sz="2475" b="0">
                <a:solidFill>
                  <a:srgbClr val="243136"/>
                </a:solidFill>
                <a:latin typeface="Helvetica Neue"/>
                <a:ea typeface="Helvetica Neue"/>
                <a:cs typeface="Helvetica Neue"/>
              </a:defRPr>
            </a:pPr>
            <a:r>
              <a:rPr sz="2475" b="0">
                <a:solidFill>
                  <a:srgbClr val="243136"/>
                </a:solidFill>
                <a:latin typeface="Helvetica Neue"/>
                <a:ea typeface="Helvetica Neue"/>
                <a:cs typeface="Helvetica Neue"/>
              </a:rPr>
              <a:t>Route and preserve geometry</a:t>
            </a:r>
          </a:p>
        </p:txBody>
      </p:sp>
      <p:sp>
        <p:nvSpPr>
          <p:cNvPr id="7" name="Rectangle 6">
            <a:extLst>
              <a:ext uri="{FF2B5EF4-FFF2-40B4-BE49-F238E27FC236}">
                <a16:creationId xmlns:a16="http://schemas.microsoft.com/office/drawing/2014/main" id="{23886E9C-5D87-4FEF-AAA4-108F24A3FA9A}"/>
              </a:ext>
            </a:extLst>
          </p:cNvPr>
          <p:cNvSpPr>
            <a:spLocks noGrp="1"/>
          </p:cNvSpPr>
          <p:nvPr/>
        </p:nvSpPr>
        <p:spPr>
          <a:xfrm>
            <a:off x="6667500" y="3048000"/>
            <a:ext cx="4762500" cy="2000250"/>
          </a:xfrm>
          <a:prstGeom prst="rect">
            <a:avLst/>
          </a:prstGeom>
          <a:noFill/>
          <a:ln w="0">
            <a:noFill/>
          </a:ln>
        </p:spPr>
        <p:txBody>
          <a:bodyPr>
            <a:noAutofit/>
          </a:bodyPr>
          <a:lstStyle/>
          <a:p>
            <a:pPr>
              <a:defRPr sz="2475" b="0">
                <a:solidFill>
                  <a:srgbClr val="243136"/>
                </a:solidFill>
                <a:latin typeface="Helvetica Neue"/>
                <a:ea typeface="Helvetica Neue"/>
                <a:cs typeface="Helvetica Neue"/>
              </a:defRPr>
            </a:pPr>
            <a:r>
              <a:rPr sz="2475" b="0">
                <a:solidFill>
                  <a:srgbClr val="243136"/>
                </a:solidFill>
                <a:latin typeface="Helvetica Neue"/>
                <a:ea typeface="Helvetica Neue"/>
                <a:cs typeface="Helvetica Neue"/>
              </a:rPr>
              <a:t>Build a query network</a:t>
            </a:r>
          </a:p>
          <a:p>
            <a:pPr>
              <a:defRPr sz="2475" b="0">
                <a:solidFill>
                  <a:srgbClr val="243136"/>
                </a:solidFill>
                <a:latin typeface="Helvetica Neue"/>
                <a:ea typeface="Helvetica Neue"/>
                <a:cs typeface="Helvetica Neue"/>
              </a:defRPr>
            </a:pPr>
            <a:r>
              <a:rPr sz="2475" b="0">
                <a:solidFill>
                  <a:srgbClr val="243136"/>
                </a:solidFill>
                <a:latin typeface="Helvetica Neue"/>
                <a:ea typeface="Helvetica Neue"/>
                <a:cs typeface="Helvetica Neue"/>
              </a:rPr>
              <a:t>Find nearest opportunities</a:t>
            </a:r>
          </a:p>
          <a:p>
            <a:pPr>
              <a:defRPr sz="2475" b="0">
                <a:solidFill>
                  <a:srgbClr val="243136"/>
                </a:solidFill>
                <a:latin typeface="Helvetica Neue"/>
                <a:ea typeface="Helvetica Neue"/>
                <a:cs typeface="Helvetica Neue"/>
              </a:defRPr>
            </a:pPr>
            <a:r>
              <a:rPr sz="2475" b="0">
                <a:solidFill>
                  <a:srgbClr val="243136"/>
                </a:solidFill>
                <a:latin typeface="Helvetica Neue"/>
                <a:ea typeface="Helvetica Neue"/>
                <a:cs typeface="Helvetica Neue"/>
              </a:rPr>
              <a:t>Aggregate across origins</a:t>
            </a:r>
          </a:p>
        </p:txBody>
      </p:sp>
      <p:sp>
        <p:nvSpPr>
          <p:cNvPr id="8" name="Rectangle 7">
            <a:extLst>
              <a:ext uri="{FF2B5EF4-FFF2-40B4-BE49-F238E27FC236}">
                <a16:creationId xmlns:a16="http://schemas.microsoft.com/office/drawing/2014/main" id="{39A0E58C-BFE1-4078-ADCB-A9F39EC3E2C4}"/>
              </a:ext>
            </a:extLst>
          </p:cNvPr>
          <p:cNvSpPr>
            <a:spLocks noGrp="1"/>
          </p:cNvSpPr>
          <p:nvPr/>
        </p:nvSpPr>
        <p:spPr>
          <a:xfrm>
            <a:off x="666750" y="5953125"/>
            <a:ext cx="10763250" cy="495300"/>
          </a:xfrm>
          <a:prstGeom prst="rect">
            <a:avLst/>
          </a:prstGeom>
          <a:noFill/>
          <a:ln w="0">
            <a:noFill/>
          </a:ln>
        </p:spPr>
        <p:txBody>
          <a:bodyPr>
            <a:noAutofit/>
          </a:bodyPr>
          <a:lstStyle/>
          <a:p>
            <a:pPr>
              <a:defRPr sz="1800" b="0">
                <a:solidFill>
                  <a:srgbClr val="5B676A"/>
                </a:solidFill>
                <a:latin typeface="Helvetica Neue"/>
                <a:ea typeface="Helvetica Neue"/>
                <a:cs typeface="Helvetica Neue"/>
              </a:defRPr>
            </a:pPr>
            <a:r>
              <a:rPr sz="1800" b="0">
                <a:solidFill>
                  <a:srgbClr val="5B676A"/>
                </a:solidFill>
                <a:latin typeface="Helvetica Neue"/>
                <a:ea typeface="Helvetica Neue"/>
                <a:cs typeface="Helvetica Neue"/>
              </a:rPr>
              <a:t>Use OSMnx to prepare the network; use Pandana to ask repeated access questions.</a:t>
            </a:r>
          </a:p>
        </p:txBody>
      </p:sp>
    </p:spTree>
    <p:extLst>
      <p:ext uri="{BB962C8B-B14F-4D97-AF65-F5344CB8AC3E}">
        <p14:creationId xmlns:p14="http://schemas.microsoft.com/office/powerpoint/2010/main" val="4607055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TextBox 1"/>
          <p:cNvSpPr txBox="1"/>
          <p:nvPr/>
        </p:nvSpPr>
        <p:spPr>
          <a:xfrm>
            <a:off x="590702" y="437997"/>
            <a:ext cx="11009376" cy="1047902"/>
          </a:xfrm>
          <a:prstGeom prst="rect">
            <a:avLst/>
          </a:prstGeom>
          <a:noFill/>
        </p:spPr>
        <p:txBody>
          <a:bodyPr wrap="square" anchor="t">
            <a:spAutoFit/>
          </a:bodyPr>
          <a:lstStyle/>
          <a:p>
            <a:pPr algn="l"/>
            <a:r>
              <a:rPr sz="3150" b="1">
                <a:solidFill>
                  <a:srgbClr val="243136"/>
                </a:solidFill>
                <a:latin typeface="Helvetica Neue"/>
              </a:rPr>
              <a:t>From an OSMnx graph to a Pandana network</a:t>
            </a:r>
          </a:p>
        </p:txBody>
      </p:sp>
      <p:cxnSp>
        <p:nvCxnSpPr>
          <p:cNvPr id="3" name="Connector 2"/>
          <p:cNvCxnSpPr/>
          <p:nvPr/>
        </p:nvCxnSpPr>
        <p:spPr>
          <a:xfrm flipV="1">
            <a:off x="960120" y="1691640"/>
            <a:ext cx="914399" cy="182879"/>
          </a:xfrm>
          <a:prstGeom prst="line">
            <a:avLst/>
          </a:prstGeom>
          <a:ln w="25400">
            <a:solidFill>
              <a:srgbClr val="227C9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74519" y="1691640"/>
            <a:ext cx="274321" cy="822960"/>
          </a:xfrm>
          <a:prstGeom prst="line">
            <a:avLst/>
          </a:prstGeom>
          <a:ln w="25400">
            <a:solidFill>
              <a:srgbClr val="227C9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43000" y="2514600"/>
            <a:ext cx="1005840" cy="182880"/>
          </a:xfrm>
          <a:prstGeom prst="line">
            <a:avLst/>
          </a:prstGeom>
          <a:ln w="25400">
            <a:solidFill>
              <a:srgbClr val="227C9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flipV="1">
            <a:off x="960120" y="1874519"/>
            <a:ext cx="182880" cy="822961"/>
          </a:xfrm>
          <a:prstGeom prst="line">
            <a:avLst/>
          </a:prstGeom>
          <a:ln w="25400">
            <a:solidFill>
              <a:srgbClr val="227C9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960120" y="1874519"/>
            <a:ext cx="640080" cy="365761"/>
          </a:xfrm>
          <a:prstGeom prst="line">
            <a:avLst/>
          </a:prstGeom>
          <a:ln w="25400">
            <a:solidFill>
              <a:srgbClr val="227C9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600200" y="2240280"/>
            <a:ext cx="548640" cy="274320"/>
          </a:xfrm>
          <a:prstGeom prst="line">
            <a:avLst/>
          </a:prstGeom>
          <a:ln w="25400">
            <a:solidFill>
              <a:srgbClr val="227C9D"/>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96112" y="1810511"/>
            <a:ext cx="128016" cy="128016"/>
          </a:xfrm>
          <a:prstGeom prst="ellipse">
            <a:avLst/>
          </a:prstGeom>
          <a:solidFill>
            <a:srgbClr val="2431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810511" y="1627632"/>
            <a:ext cx="128016" cy="128016"/>
          </a:xfrm>
          <a:prstGeom prst="ellipse">
            <a:avLst/>
          </a:prstGeom>
          <a:solidFill>
            <a:srgbClr val="2431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2084832" y="2450592"/>
            <a:ext cx="128016" cy="128016"/>
          </a:xfrm>
          <a:prstGeom prst="ellipse">
            <a:avLst/>
          </a:prstGeom>
          <a:solidFill>
            <a:srgbClr val="2431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078992" y="2633472"/>
            <a:ext cx="128016" cy="128016"/>
          </a:xfrm>
          <a:prstGeom prst="ellipse">
            <a:avLst/>
          </a:prstGeom>
          <a:solidFill>
            <a:srgbClr val="2431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536192" y="2176272"/>
            <a:ext cx="128016" cy="128016"/>
          </a:xfrm>
          <a:prstGeom prst="ellipse">
            <a:avLst/>
          </a:prstGeom>
          <a:solidFill>
            <a:srgbClr val="2431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7512" y="2880360"/>
            <a:ext cx="2194560" cy="411480"/>
          </a:xfrm>
          <a:prstGeom prst="rect">
            <a:avLst/>
          </a:prstGeom>
          <a:noFill/>
        </p:spPr>
        <p:txBody>
          <a:bodyPr wrap="square" anchor="t">
            <a:spAutoFit/>
          </a:bodyPr>
          <a:lstStyle/>
          <a:p>
            <a:pPr algn="l"/>
            <a:r>
              <a:rPr sz="2000" b="1">
                <a:solidFill>
                  <a:srgbClr val="227C9D"/>
                </a:solidFill>
                <a:latin typeface="Helvetica Neue"/>
              </a:rPr>
              <a:t>OSMnx graph</a:t>
            </a:r>
          </a:p>
        </p:txBody>
      </p:sp>
      <p:sp>
        <p:nvSpPr>
          <p:cNvPr id="15" name="TextBox 14"/>
          <p:cNvSpPr txBox="1"/>
          <p:nvPr/>
        </p:nvSpPr>
        <p:spPr>
          <a:xfrm>
            <a:off x="2788920" y="1920240"/>
            <a:ext cx="411480" cy="457200"/>
          </a:xfrm>
          <a:prstGeom prst="rect">
            <a:avLst/>
          </a:prstGeom>
          <a:noFill/>
        </p:spPr>
        <p:txBody>
          <a:bodyPr wrap="square" anchor="t">
            <a:spAutoFit/>
          </a:bodyPr>
          <a:lstStyle/>
          <a:p>
            <a:pPr algn="ctr"/>
            <a:r>
              <a:rPr sz="3000" b="0">
                <a:solidFill>
                  <a:srgbClr val="5B676A"/>
                </a:solidFill>
                <a:latin typeface="Helvetica Neue"/>
              </a:rPr>
              <a:t>→</a:t>
            </a:r>
          </a:p>
        </p:txBody>
      </p:sp>
      <p:sp>
        <p:nvSpPr>
          <p:cNvPr id="16" name="TextBox 15"/>
          <p:cNvSpPr txBox="1"/>
          <p:nvPr/>
        </p:nvSpPr>
        <p:spPr>
          <a:xfrm>
            <a:off x="3429000" y="1554480"/>
            <a:ext cx="2194560" cy="1280160"/>
          </a:xfrm>
          <a:prstGeom prst="rect">
            <a:avLst/>
          </a:prstGeom>
          <a:noFill/>
        </p:spPr>
        <p:txBody>
          <a:bodyPr wrap="square" anchor="t">
            <a:spAutoFit/>
          </a:bodyPr>
          <a:lstStyle/>
          <a:p>
            <a:pPr algn="l"/>
            <a:r>
              <a:rPr sz="1600" b="1">
                <a:solidFill>
                  <a:srgbClr val="243136"/>
                </a:solidFill>
                <a:latin typeface="Helvetica Neue"/>
              </a:rPr>
              <a:t>nodes</a:t>
            </a:r>
          </a:p>
          <a:p>
            <a:pPr algn="l"/>
            <a:r>
              <a:rPr sz="1400" b="0">
                <a:solidFill>
                  <a:srgbClr val="5B676A"/>
                </a:solidFill>
                <a:latin typeface="Menlo"/>
              </a:rPr>
              <a:t>id   x    y</a:t>
            </a:r>
          </a:p>
          <a:p>
            <a:pPr algn="l"/>
            <a:r>
              <a:rPr sz="1400" b="0">
                <a:solidFill>
                  <a:srgbClr val="5B676A"/>
                </a:solidFill>
                <a:latin typeface="Menlo"/>
              </a:rPr>
              <a:t>101  ...  ...</a:t>
            </a:r>
          </a:p>
          <a:p>
            <a:pPr algn="l"/>
            <a:r>
              <a:rPr sz="1400" b="0">
                <a:solidFill>
                  <a:srgbClr val="5B676A"/>
                </a:solidFill>
                <a:latin typeface="Menlo"/>
              </a:rPr>
              <a:t>102  ...  ...</a:t>
            </a:r>
          </a:p>
        </p:txBody>
      </p:sp>
      <p:sp>
        <p:nvSpPr>
          <p:cNvPr id="17" name="TextBox 16"/>
          <p:cNvSpPr txBox="1"/>
          <p:nvPr/>
        </p:nvSpPr>
        <p:spPr>
          <a:xfrm>
            <a:off x="5532120" y="1554480"/>
            <a:ext cx="2377440" cy="1280160"/>
          </a:xfrm>
          <a:prstGeom prst="rect">
            <a:avLst/>
          </a:prstGeom>
          <a:noFill/>
        </p:spPr>
        <p:txBody>
          <a:bodyPr wrap="square" anchor="t">
            <a:spAutoFit/>
          </a:bodyPr>
          <a:lstStyle/>
          <a:p>
            <a:pPr algn="l"/>
            <a:r>
              <a:rPr sz="1600" b="1">
                <a:solidFill>
                  <a:srgbClr val="243136"/>
                </a:solidFill>
                <a:latin typeface="Helvetica Neue"/>
              </a:rPr>
              <a:t>edges</a:t>
            </a:r>
          </a:p>
          <a:p>
            <a:pPr algn="l"/>
            <a:r>
              <a:rPr sz="1400" b="0">
                <a:solidFill>
                  <a:srgbClr val="5B676A"/>
                </a:solidFill>
                <a:latin typeface="Menlo"/>
              </a:rPr>
              <a:t>u    v    length</a:t>
            </a:r>
          </a:p>
          <a:p>
            <a:pPr algn="l"/>
            <a:r>
              <a:rPr sz="1400" b="0">
                <a:solidFill>
                  <a:srgbClr val="5B676A"/>
                </a:solidFill>
                <a:latin typeface="Menlo"/>
              </a:rPr>
              <a:t>101  102  84.2</a:t>
            </a:r>
          </a:p>
          <a:p>
            <a:pPr algn="l"/>
            <a:r>
              <a:rPr sz="1400" b="0">
                <a:solidFill>
                  <a:srgbClr val="5B676A"/>
                </a:solidFill>
                <a:latin typeface="Menlo"/>
              </a:rPr>
              <a:t>102  103  61.0</a:t>
            </a:r>
          </a:p>
        </p:txBody>
      </p:sp>
      <p:sp>
        <p:nvSpPr>
          <p:cNvPr id="18" name="TextBox 17"/>
          <p:cNvSpPr txBox="1"/>
          <p:nvPr/>
        </p:nvSpPr>
        <p:spPr>
          <a:xfrm>
            <a:off x="3429000" y="2880360"/>
            <a:ext cx="4206240" cy="411480"/>
          </a:xfrm>
          <a:prstGeom prst="rect">
            <a:avLst/>
          </a:prstGeom>
          <a:noFill/>
        </p:spPr>
        <p:txBody>
          <a:bodyPr wrap="square" anchor="t">
            <a:spAutoFit/>
          </a:bodyPr>
          <a:lstStyle/>
          <a:p>
            <a:pPr algn="l"/>
            <a:r>
              <a:rPr sz="2000" b="1">
                <a:solidFill>
                  <a:srgbClr val="227C9D"/>
                </a:solidFill>
                <a:latin typeface="Helvetica Neue"/>
              </a:rPr>
              <a:t>nodes + edges</a:t>
            </a:r>
          </a:p>
        </p:txBody>
      </p:sp>
      <p:sp>
        <p:nvSpPr>
          <p:cNvPr id="19" name="TextBox 18"/>
          <p:cNvSpPr txBox="1"/>
          <p:nvPr/>
        </p:nvSpPr>
        <p:spPr>
          <a:xfrm>
            <a:off x="7909560" y="1920240"/>
            <a:ext cx="411480" cy="457200"/>
          </a:xfrm>
          <a:prstGeom prst="rect">
            <a:avLst/>
          </a:prstGeom>
          <a:noFill/>
        </p:spPr>
        <p:txBody>
          <a:bodyPr wrap="square" anchor="t">
            <a:spAutoFit/>
          </a:bodyPr>
          <a:lstStyle/>
          <a:p>
            <a:pPr algn="ctr"/>
            <a:r>
              <a:rPr sz="3000" b="0">
                <a:solidFill>
                  <a:srgbClr val="5B676A"/>
                </a:solidFill>
                <a:latin typeface="Helvetica Neue"/>
              </a:rPr>
              <a:t>→</a:t>
            </a:r>
          </a:p>
        </p:txBody>
      </p:sp>
      <p:sp>
        <p:nvSpPr>
          <p:cNvPr id="20" name="Rounded Rectangle 19"/>
          <p:cNvSpPr/>
          <p:nvPr/>
        </p:nvSpPr>
        <p:spPr>
          <a:xfrm>
            <a:off x="8503920" y="1645920"/>
            <a:ext cx="2880360" cy="1097280"/>
          </a:xfrm>
          <a:prstGeom prst="roundRect">
            <a:avLst>
              <a:gd name="adj" fmla="val 12000"/>
            </a:avLst>
          </a:prstGeom>
          <a:solidFill>
            <a:srgbClr val="ECE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503920" y="1645920"/>
            <a:ext cx="2880360" cy="1097280"/>
          </a:xfrm>
          <a:prstGeom prst="rect">
            <a:avLst/>
          </a:prstGeom>
          <a:noFill/>
        </p:spPr>
        <p:txBody>
          <a:bodyPr wrap="square" anchor="ctr">
            <a:spAutoFit/>
          </a:bodyPr>
          <a:lstStyle/>
          <a:p>
            <a:pPr algn="ctr"/>
            <a:r>
              <a:rPr sz="1700" b="0">
                <a:solidFill>
                  <a:srgbClr val="243136"/>
                </a:solidFill>
                <a:latin typeface="Menlo"/>
              </a:rPr>
              <a:t>pdna.Network</a:t>
            </a:r>
          </a:p>
        </p:txBody>
      </p:sp>
      <p:sp>
        <p:nvSpPr>
          <p:cNvPr id="22" name="TextBox 21"/>
          <p:cNvSpPr txBox="1"/>
          <p:nvPr/>
        </p:nvSpPr>
        <p:spPr>
          <a:xfrm>
            <a:off x="8503920" y="2880360"/>
            <a:ext cx="2926080" cy="411480"/>
          </a:xfrm>
          <a:prstGeom prst="rect">
            <a:avLst/>
          </a:prstGeom>
          <a:noFill/>
        </p:spPr>
        <p:txBody>
          <a:bodyPr wrap="square" anchor="t">
            <a:spAutoFit/>
          </a:bodyPr>
          <a:lstStyle/>
          <a:p>
            <a:pPr algn="l"/>
            <a:r>
              <a:rPr sz="2000" b="1">
                <a:solidFill>
                  <a:srgbClr val="227C9D"/>
                </a:solidFill>
                <a:latin typeface="Helvetica Neue"/>
              </a:rPr>
              <a:t>Pandana Network</a:t>
            </a:r>
          </a:p>
        </p:txBody>
      </p:sp>
      <p:sp>
        <p:nvSpPr>
          <p:cNvPr id="23" name="TextBox 22"/>
          <p:cNvSpPr txBox="1"/>
          <p:nvPr/>
        </p:nvSpPr>
        <p:spPr>
          <a:xfrm>
            <a:off x="667512" y="3657600"/>
            <a:ext cx="4937760" cy="1737360"/>
          </a:xfrm>
          <a:prstGeom prst="rect">
            <a:avLst/>
          </a:prstGeom>
          <a:noFill/>
        </p:spPr>
        <p:txBody>
          <a:bodyPr wrap="square" anchor="t">
            <a:spAutoFit/>
          </a:bodyPr>
          <a:lstStyle/>
          <a:p>
            <a:pPr algn="l"/>
            <a:r>
              <a:rPr sz="1700" b="0">
                <a:solidFill>
                  <a:srgbClr val="227C9D"/>
                </a:solidFill>
                <a:latin typeface="Menlo"/>
              </a:rPr>
              <a:t>net = pdna.Network(</a:t>
            </a:r>
          </a:p>
          <a:p>
            <a:pPr algn="l"/>
            <a:r>
              <a:rPr sz="1700" b="0">
                <a:solidFill>
                  <a:srgbClr val="227C9D"/>
                </a:solidFill>
                <a:latin typeface="Menlo"/>
              </a:rPr>
              <a:t>    nodes.x, nodes.y,</a:t>
            </a:r>
          </a:p>
          <a:p>
            <a:pPr algn="l"/>
            <a:r>
              <a:rPr sz="1700" b="0">
                <a:solidFill>
                  <a:srgbClr val="227C9D"/>
                </a:solidFill>
                <a:latin typeface="Menlo"/>
              </a:rPr>
              <a:t>    e.u, e.v,</a:t>
            </a:r>
          </a:p>
          <a:p>
            <a:pPr algn="l"/>
            <a:r>
              <a:rPr sz="1700" b="0">
                <a:solidFill>
                  <a:srgbClr val="227C9D"/>
                </a:solidFill>
                <a:latin typeface="Menlo"/>
              </a:rPr>
              <a:t>    e[["length"]],</a:t>
            </a:r>
          </a:p>
          <a:p>
            <a:pPr algn="l"/>
            <a:r>
              <a:rPr sz="1700" b="0">
                <a:solidFill>
                  <a:srgbClr val="227C9D"/>
                </a:solidFill>
                <a:latin typeface="Menlo"/>
              </a:rPr>
              <a:t>    twoway=False</a:t>
            </a:r>
          </a:p>
          <a:p>
            <a:pPr algn="l"/>
            <a:r>
              <a:rPr sz="1700" b="0">
                <a:solidFill>
                  <a:srgbClr val="227C9D"/>
                </a:solidFill>
                <a:latin typeface="Menlo"/>
              </a:rPr>
              <a:t>)</a:t>
            </a:r>
          </a:p>
        </p:txBody>
      </p:sp>
      <p:sp>
        <p:nvSpPr>
          <p:cNvPr id="24" name="TextBox 23"/>
          <p:cNvSpPr txBox="1"/>
          <p:nvPr/>
        </p:nvSpPr>
        <p:spPr>
          <a:xfrm>
            <a:off x="5212080" y="3703320"/>
            <a:ext cx="2514600" cy="384048"/>
          </a:xfrm>
          <a:prstGeom prst="rect">
            <a:avLst/>
          </a:prstGeom>
          <a:noFill/>
        </p:spPr>
        <p:txBody>
          <a:bodyPr wrap="square" anchor="t">
            <a:spAutoFit/>
          </a:bodyPr>
          <a:lstStyle/>
          <a:p>
            <a:pPr algn="l"/>
            <a:r>
              <a:rPr sz="1500" b="0">
                <a:solidFill>
                  <a:srgbClr val="227C9D"/>
                </a:solidFill>
                <a:latin typeface="Menlo"/>
              </a:rPr>
              <a:t>nodes.x, nodes.y</a:t>
            </a:r>
          </a:p>
        </p:txBody>
      </p:sp>
      <p:sp>
        <p:nvSpPr>
          <p:cNvPr id="25" name="TextBox 24"/>
          <p:cNvSpPr txBox="1"/>
          <p:nvPr/>
        </p:nvSpPr>
        <p:spPr>
          <a:xfrm>
            <a:off x="7726679" y="3703320"/>
            <a:ext cx="3931920" cy="384048"/>
          </a:xfrm>
          <a:prstGeom prst="rect">
            <a:avLst/>
          </a:prstGeom>
          <a:noFill/>
        </p:spPr>
        <p:txBody>
          <a:bodyPr wrap="square" anchor="t">
            <a:spAutoFit/>
          </a:bodyPr>
          <a:lstStyle/>
          <a:p>
            <a:pPr algn="l"/>
            <a:r>
              <a:rPr sz="1600" b="0">
                <a:solidFill>
                  <a:srgbClr val="243136"/>
                </a:solidFill>
                <a:latin typeface="Helvetica Neue"/>
              </a:rPr>
              <a:t>node coordinates</a:t>
            </a:r>
          </a:p>
        </p:txBody>
      </p:sp>
      <p:sp>
        <p:nvSpPr>
          <p:cNvPr id="26" name="TextBox 25"/>
          <p:cNvSpPr txBox="1"/>
          <p:nvPr/>
        </p:nvSpPr>
        <p:spPr>
          <a:xfrm>
            <a:off x="5212080" y="4123944"/>
            <a:ext cx="2514600" cy="384048"/>
          </a:xfrm>
          <a:prstGeom prst="rect">
            <a:avLst/>
          </a:prstGeom>
          <a:noFill/>
        </p:spPr>
        <p:txBody>
          <a:bodyPr wrap="square" anchor="t">
            <a:spAutoFit/>
          </a:bodyPr>
          <a:lstStyle/>
          <a:p>
            <a:pPr algn="l"/>
            <a:r>
              <a:rPr sz="1500" b="0">
                <a:solidFill>
                  <a:srgbClr val="227C9D"/>
                </a:solidFill>
                <a:latin typeface="Menlo"/>
              </a:rPr>
              <a:t>e.u, e.v</a:t>
            </a:r>
          </a:p>
        </p:txBody>
      </p:sp>
      <p:sp>
        <p:nvSpPr>
          <p:cNvPr id="27" name="TextBox 26"/>
          <p:cNvSpPr txBox="1"/>
          <p:nvPr/>
        </p:nvSpPr>
        <p:spPr>
          <a:xfrm>
            <a:off x="7726679" y="4123944"/>
            <a:ext cx="3931920" cy="384048"/>
          </a:xfrm>
          <a:prstGeom prst="rect">
            <a:avLst/>
          </a:prstGeom>
          <a:noFill/>
        </p:spPr>
        <p:txBody>
          <a:bodyPr wrap="square" anchor="t">
            <a:spAutoFit/>
          </a:bodyPr>
          <a:lstStyle/>
          <a:p>
            <a:pPr algn="l"/>
            <a:r>
              <a:rPr sz="1600" b="0">
                <a:solidFill>
                  <a:srgbClr val="243136"/>
                </a:solidFill>
                <a:latin typeface="Helvetica Neue"/>
              </a:rPr>
              <a:t>network connections (from → to)</a:t>
            </a:r>
          </a:p>
        </p:txBody>
      </p:sp>
      <p:sp>
        <p:nvSpPr>
          <p:cNvPr id="28" name="TextBox 27"/>
          <p:cNvSpPr txBox="1"/>
          <p:nvPr/>
        </p:nvSpPr>
        <p:spPr>
          <a:xfrm>
            <a:off x="5212080" y="4544568"/>
            <a:ext cx="2514600" cy="384048"/>
          </a:xfrm>
          <a:prstGeom prst="rect">
            <a:avLst/>
          </a:prstGeom>
          <a:noFill/>
        </p:spPr>
        <p:txBody>
          <a:bodyPr wrap="square" anchor="t">
            <a:spAutoFit/>
          </a:bodyPr>
          <a:lstStyle/>
          <a:p>
            <a:pPr algn="l"/>
            <a:r>
              <a:rPr sz="1500" b="0">
                <a:solidFill>
                  <a:srgbClr val="227C9D"/>
                </a:solidFill>
                <a:latin typeface="Menlo"/>
              </a:rPr>
              <a:t>e[["length"]]</a:t>
            </a:r>
          </a:p>
        </p:txBody>
      </p:sp>
      <p:sp>
        <p:nvSpPr>
          <p:cNvPr id="29" name="TextBox 28"/>
          <p:cNvSpPr txBox="1"/>
          <p:nvPr/>
        </p:nvSpPr>
        <p:spPr>
          <a:xfrm>
            <a:off x="7726679" y="4544568"/>
            <a:ext cx="3931920" cy="384048"/>
          </a:xfrm>
          <a:prstGeom prst="rect">
            <a:avLst/>
          </a:prstGeom>
          <a:noFill/>
        </p:spPr>
        <p:txBody>
          <a:bodyPr wrap="square" anchor="t">
            <a:spAutoFit/>
          </a:bodyPr>
          <a:lstStyle/>
          <a:p>
            <a:pPr algn="l"/>
            <a:r>
              <a:rPr sz="1600" b="0">
                <a:solidFill>
                  <a:srgbClr val="243136"/>
                </a:solidFill>
                <a:latin typeface="Helvetica Neue"/>
              </a:rPr>
              <a:t>impedance: edge cost in meters</a:t>
            </a:r>
          </a:p>
        </p:txBody>
      </p:sp>
      <p:sp>
        <p:nvSpPr>
          <p:cNvPr id="30" name="TextBox 29"/>
          <p:cNvSpPr txBox="1"/>
          <p:nvPr/>
        </p:nvSpPr>
        <p:spPr>
          <a:xfrm>
            <a:off x="5212080" y="4965192"/>
            <a:ext cx="2514600" cy="384048"/>
          </a:xfrm>
          <a:prstGeom prst="rect">
            <a:avLst/>
          </a:prstGeom>
          <a:noFill/>
        </p:spPr>
        <p:txBody>
          <a:bodyPr wrap="square" anchor="t">
            <a:spAutoFit/>
          </a:bodyPr>
          <a:lstStyle/>
          <a:p>
            <a:pPr algn="l"/>
            <a:r>
              <a:rPr sz="1500" b="0">
                <a:solidFill>
                  <a:srgbClr val="227C9D"/>
                </a:solidFill>
                <a:latin typeface="Menlo"/>
              </a:rPr>
              <a:t>twoway=False</a:t>
            </a:r>
          </a:p>
        </p:txBody>
      </p:sp>
      <p:sp>
        <p:nvSpPr>
          <p:cNvPr id="31" name="TextBox 30"/>
          <p:cNvSpPr txBox="1"/>
          <p:nvPr/>
        </p:nvSpPr>
        <p:spPr>
          <a:xfrm>
            <a:off x="7726679" y="4965192"/>
            <a:ext cx="3931920" cy="384048"/>
          </a:xfrm>
          <a:prstGeom prst="rect">
            <a:avLst/>
          </a:prstGeom>
          <a:noFill/>
        </p:spPr>
        <p:txBody>
          <a:bodyPr wrap="square" anchor="t">
            <a:spAutoFit/>
          </a:bodyPr>
          <a:lstStyle/>
          <a:p>
            <a:pPr algn="l"/>
            <a:r>
              <a:rPr sz="1600" b="0">
                <a:solidFill>
                  <a:srgbClr val="243136"/>
                </a:solidFill>
                <a:latin typeface="Helvetica Neue"/>
              </a:rPr>
              <a:t>keep OSMnx's directed edges</a:t>
            </a:r>
          </a:p>
        </p:txBody>
      </p:sp>
      <p:sp>
        <p:nvSpPr>
          <p:cNvPr id="32" name="TextBox 31"/>
          <p:cNvSpPr txBox="1"/>
          <p:nvPr/>
        </p:nvSpPr>
        <p:spPr>
          <a:xfrm>
            <a:off x="666597" y="5715000"/>
            <a:ext cx="10789920" cy="548640"/>
          </a:xfrm>
          <a:prstGeom prst="rect">
            <a:avLst/>
          </a:prstGeom>
          <a:noFill/>
        </p:spPr>
        <p:txBody>
          <a:bodyPr wrap="square" anchor="t">
            <a:spAutoFit/>
          </a:bodyPr>
          <a:lstStyle/>
          <a:p>
            <a:pPr algn="l"/>
            <a:r>
              <a:rPr sz="1900" b="0">
                <a:solidFill>
                  <a:srgbClr val="243136"/>
                </a:solidFill>
                <a:latin typeface="Helvetica Neue"/>
              </a:rPr>
              <a:t>Same street network, different data structure optimized for repeated network queries.</a:t>
            </a:r>
          </a:p>
        </p:txBody>
      </p:sp>
      <p:sp>
        <p:nvSpPr>
          <p:cNvPr id="33" name="TextBox 32"/>
          <p:cNvSpPr txBox="1"/>
          <p:nvPr/>
        </p:nvSpPr>
        <p:spPr>
          <a:xfrm>
            <a:off x="11594592" y="6515100"/>
            <a:ext cx="475488" cy="237744"/>
          </a:xfrm>
          <a:prstGeom prst="rect">
            <a:avLst/>
          </a:prstGeom>
          <a:noFill/>
        </p:spPr>
        <p:txBody>
          <a:bodyPr wrap="square" anchor="t">
            <a:spAutoFit/>
          </a:bodyPr>
          <a:lstStyle/>
          <a:p>
            <a:pPr algn="l"/>
            <a:r>
              <a:rPr sz="1200" b="0">
                <a:solidFill>
                  <a:srgbClr val="5B676A"/>
                </a:solidFill>
                <a:latin typeface="Helvetica Neue"/>
              </a:rPr>
              <a:t>30</a:t>
            </a:r>
          </a:p>
        </p:txBody>
      </p:sp>
    </p:spTree>
    <p:extLst>
      <p:ext uri="{BB962C8B-B14F-4D97-AF65-F5344CB8AC3E}">
        <p14:creationId xmlns:p14="http://schemas.microsoft.com/office/powerpoint/2010/main" val="13420521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TextBox 1"/>
          <p:cNvSpPr txBox="1"/>
          <p:nvPr/>
        </p:nvSpPr>
        <p:spPr>
          <a:xfrm>
            <a:off x="590702" y="437997"/>
            <a:ext cx="11009376" cy="1047902"/>
          </a:xfrm>
          <a:prstGeom prst="rect">
            <a:avLst/>
          </a:prstGeom>
          <a:noFill/>
        </p:spPr>
        <p:txBody>
          <a:bodyPr wrap="square" anchor="t">
            <a:spAutoFit/>
          </a:bodyPr>
          <a:lstStyle/>
          <a:p>
            <a:pPr algn="l"/>
            <a:r>
              <a:rPr sz="3450" b="1">
                <a:solidFill>
                  <a:srgbClr val="243136"/>
                </a:solidFill>
                <a:latin typeface="Helvetica Neue"/>
              </a:rPr>
              <a:t>Put places onto the network</a:t>
            </a:r>
          </a:p>
        </p:txBody>
      </p:sp>
      <p:sp>
        <p:nvSpPr>
          <p:cNvPr id="3" name="TextBox 2"/>
          <p:cNvSpPr txBox="1"/>
          <p:nvPr/>
        </p:nvSpPr>
        <p:spPr>
          <a:xfrm>
            <a:off x="667512" y="1508760"/>
            <a:ext cx="5486400" cy="457200"/>
          </a:xfrm>
          <a:prstGeom prst="rect">
            <a:avLst/>
          </a:prstGeom>
          <a:noFill/>
        </p:spPr>
        <p:txBody>
          <a:bodyPr wrap="square" anchor="t">
            <a:spAutoFit/>
          </a:bodyPr>
          <a:lstStyle/>
          <a:p>
            <a:pPr algn="l"/>
            <a:r>
              <a:rPr sz="2000" b="1">
                <a:solidFill>
                  <a:srgbClr val="DB724C"/>
                </a:solidFill>
                <a:latin typeface="Helvetica Neue"/>
              </a:rPr>
              <a:t>POI coordinate</a:t>
            </a:r>
            <a:r>
              <a:rPr sz="2000" b="1">
                <a:solidFill>
                  <a:srgbClr val="5B676A"/>
                </a:solidFill>
                <a:latin typeface="Helvetica Neue"/>
              </a:rPr>
              <a:t>   →   </a:t>
            </a:r>
            <a:r>
              <a:rPr sz="2000" b="1">
                <a:solidFill>
                  <a:srgbClr val="243136"/>
                </a:solidFill>
                <a:latin typeface="Helvetica Neue"/>
              </a:rPr>
              <a:t>network node</a:t>
            </a:r>
          </a:p>
        </p:txBody>
      </p:sp>
      <p:cxnSp>
        <p:nvCxnSpPr>
          <p:cNvPr id="4" name="Connector 3"/>
          <p:cNvCxnSpPr/>
          <p:nvPr/>
        </p:nvCxnSpPr>
        <p:spPr>
          <a:xfrm>
            <a:off x="914400" y="2240280"/>
            <a:ext cx="0" cy="251460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417320" y="2240280"/>
            <a:ext cx="0" cy="251460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920240" y="2240280"/>
            <a:ext cx="0" cy="251460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423160" y="2240280"/>
            <a:ext cx="0" cy="251460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926080" y="2240280"/>
            <a:ext cx="0" cy="251460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429000" y="2240280"/>
            <a:ext cx="0" cy="251460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931920" y="2240280"/>
            <a:ext cx="0" cy="251460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14400" y="2240280"/>
            <a:ext cx="3017520" cy="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 y="2743200"/>
            <a:ext cx="3017520" cy="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14400" y="3246120"/>
            <a:ext cx="3017520" cy="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14400" y="3749040"/>
            <a:ext cx="3017520" cy="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14400" y="4251960"/>
            <a:ext cx="3017520" cy="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14400" y="4754880"/>
            <a:ext cx="3017520" cy="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77824" y="220370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877824" y="270662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877824" y="320954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77824" y="371246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877824" y="421538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77824" y="471830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380744" y="220370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380744" y="270662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380744" y="320954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380744" y="371246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380744" y="421538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380744" y="471830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1883664" y="220370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1883664" y="270662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883664" y="320954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883664" y="371246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1883664" y="421538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883664" y="471830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2386584" y="220370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2386584" y="270662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2386584" y="320954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2386584" y="371246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2386584" y="421538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2386584" y="471830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2889504" y="220370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2889504" y="270662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2889504" y="320954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2889504" y="371246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2889504" y="421538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2889504" y="471830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3392424" y="220370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3392424" y="270662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3392424" y="320954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3392424" y="371246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3392424" y="421538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3392424" y="471830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3895344" y="220370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3895344" y="270662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3895344" y="320954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3895344" y="371246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3895344" y="421538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3895344" y="471830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9" name="Connector 58"/>
          <p:cNvCxnSpPr/>
          <p:nvPr/>
        </p:nvCxnSpPr>
        <p:spPr>
          <a:xfrm flipH="1">
            <a:off x="3931920" y="3044952"/>
            <a:ext cx="292608" cy="201168"/>
          </a:xfrm>
          <a:prstGeom prst="line">
            <a:avLst/>
          </a:prstGeom>
          <a:ln w="25400">
            <a:solidFill>
              <a:srgbClr val="DB724C"/>
            </a:solidFill>
            <a:prstDash val="dash"/>
          </a:ln>
        </p:spPr>
        <p:style>
          <a:lnRef idx="2">
            <a:schemeClr val="accent1"/>
          </a:lnRef>
          <a:fillRef idx="0">
            <a:schemeClr val="accent1"/>
          </a:fillRef>
          <a:effectRef idx="1">
            <a:schemeClr val="accent1"/>
          </a:effectRef>
          <a:fontRef idx="minor">
            <a:schemeClr val="tx1"/>
          </a:fontRef>
        </p:style>
      </p:cxnSp>
      <p:sp>
        <p:nvSpPr>
          <p:cNvPr id="60" name="Oval 59"/>
          <p:cNvSpPr/>
          <p:nvPr/>
        </p:nvSpPr>
        <p:spPr>
          <a:xfrm>
            <a:off x="3840480" y="3154680"/>
            <a:ext cx="182880" cy="182880"/>
          </a:xfrm>
          <a:prstGeom prst="ellipse">
            <a:avLst/>
          </a:prstGeom>
          <a:solidFill>
            <a:srgbClr val="2431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4123944" y="2944368"/>
            <a:ext cx="201168" cy="201168"/>
          </a:xfrm>
          <a:prstGeom prst="ellipse">
            <a:avLst/>
          </a:prstGeom>
          <a:solidFill>
            <a:srgbClr val="DB7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4361688" y="2660904"/>
            <a:ext cx="1645920" cy="320040"/>
          </a:xfrm>
          <a:prstGeom prst="rect">
            <a:avLst/>
          </a:prstGeom>
          <a:noFill/>
        </p:spPr>
        <p:txBody>
          <a:bodyPr wrap="square" anchor="t">
            <a:spAutoFit/>
          </a:bodyPr>
          <a:lstStyle/>
          <a:p>
            <a:pPr algn="l"/>
            <a:r>
              <a:rPr sz="1500" b="0">
                <a:solidFill>
                  <a:srgbClr val="DB724C"/>
                </a:solidFill>
                <a:latin typeface="Helvetica Neue"/>
              </a:rPr>
              <a:t>café (x, y)</a:t>
            </a:r>
          </a:p>
        </p:txBody>
      </p:sp>
      <p:sp>
        <p:nvSpPr>
          <p:cNvPr id="63" name="TextBox 62"/>
          <p:cNvSpPr txBox="1"/>
          <p:nvPr/>
        </p:nvSpPr>
        <p:spPr>
          <a:xfrm>
            <a:off x="2240280" y="3291840"/>
            <a:ext cx="1554480" cy="320040"/>
          </a:xfrm>
          <a:prstGeom prst="rect">
            <a:avLst/>
          </a:prstGeom>
          <a:noFill/>
        </p:spPr>
        <p:txBody>
          <a:bodyPr wrap="square" anchor="t">
            <a:spAutoFit/>
          </a:bodyPr>
          <a:lstStyle/>
          <a:p>
            <a:pPr algn="r"/>
            <a:r>
              <a:rPr sz="1500" b="0">
                <a:solidFill>
                  <a:srgbClr val="243136"/>
                </a:solidFill>
                <a:latin typeface="Helvetica Neue"/>
              </a:rPr>
              <a:t>node 102</a:t>
            </a:r>
          </a:p>
        </p:txBody>
      </p:sp>
      <p:sp>
        <p:nvSpPr>
          <p:cNvPr id="64" name="TextBox 63"/>
          <p:cNvSpPr txBox="1"/>
          <p:nvPr/>
        </p:nvSpPr>
        <p:spPr>
          <a:xfrm>
            <a:off x="6126480" y="1554480"/>
            <a:ext cx="5394960" cy="1463040"/>
          </a:xfrm>
          <a:prstGeom prst="rect">
            <a:avLst/>
          </a:prstGeom>
          <a:noFill/>
        </p:spPr>
        <p:txBody>
          <a:bodyPr wrap="square" anchor="t">
            <a:spAutoFit/>
          </a:bodyPr>
          <a:lstStyle/>
          <a:p>
            <a:pPr algn="l"/>
            <a:r>
              <a:rPr sz="1800" b="0">
                <a:solidFill>
                  <a:srgbClr val="227C9D"/>
                </a:solidFill>
                <a:latin typeface="Menlo"/>
              </a:rPr>
              <a:t>node_ids = net.get_node_ids(</a:t>
            </a:r>
          </a:p>
          <a:p>
            <a:pPr algn="l"/>
            <a:r>
              <a:rPr sz="1800" b="0">
                <a:solidFill>
                  <a:srgbClr val="227C9D"/>
                </a:solidFill>
                <a:latin typeface="Menlo"/>
              </a:rPr>
              <a:t>    places.geometry.x,</a:t>
            </a:r>
          </a:p>
          <a:p>
            <a:pPr algn="l"/>
            <a:r>
              <a:rPr sz="1800" b="0">
                <a:solidFill>
                  <a:srgbClr val="227C9D"/>
                </a:solidFill>
                <a:latin typeface="Menlo"/>
              </a:rPr>
              <a:t>    places.geometry.y</a:t>
            </a:r>
          </a:p>
          <a:p>
            <a:pPr algn="l"/>
            <a:r>
              <a:rPr sz="1800" b="0">
                <a:solidFill>
                  <a:srgbClr val="227C9D"/>
                </a:solidFill>
                <a:latin typeface="Menlo"/>
              </a:rPr>
              <a:t>)</a:t>
            </a:r>
          </a:p>
        </p:txBody>
      </p:sp>
      <p:sp>
        <p:nvSpPr>
          <p:cNvPr id="65" name="TextBox 64"/>
          <p:cNvSpPr txBox="1"/>
          <p:nvPr/>
        </p:nvSpPr>
        <p:spPr>
          <a:xfrm>
            <a:off x="6126480" y="3246120"/>
            <a:ext cx="457200" cy="457200"/>
          </a:xfrm>
          <a:prstGeom prst="rect">
            <a:avLst/>
          </a:prstGeom>
          <a:noFill/>
        </p:spPr>
        <p:txBody>
          <a:bodyPr wrap="square" anchor="t">
            <a:spAutoFit/>
          </a:bodyPr>
          <a:lstStyle/>
          <a:p>
            <a:pPr algn="l"/>
            <a:r>
              <a:rPr sz="2200" b="1">
                <a:solidFill>
                  <a:srgbClr val="227C9D"/>
                </a:solidFill>
                <a:latin typeface="Helvetica Neue"/>
              </a:rPr>
              <a:t>1</a:t>
            </a:r>
          </a:p>
        </p:txBody>
      </p:sp>
      <p:sp>
        <p:nvSpPr>
          <p:cNvPr id="66" name="TextBox 65"/>
          <p:cNvSpPr txBox="1"/>
          <p:nvPr/>
        </p:nvSpPr>
        <p:spPr>
          <a:xfrm>
            <a:off x="6583680" y="3273551"/>
            <a:ext cx="5029200" cy="457200"/>
          </a:xfrm>
          <a:prstGeom prst="rect">
            <a:avLst/>
          </a:prstGeom>
          <a:noFill/>
        </p:spPr>
        <p:txBody>
          <a:bodyPr wrap="square" anchor="t">
            <a:spAutoFit/>
          </a:bodyPr>
          <a:lstStyle/>
          <a:p>
            <a:pPr algn="l"/>
            <a:r>
              <a:rPr sz="1800" b="0">
                <a:solidFill>
                  <a:srgbClr val="243136"/>
                </a:solidFill>
                <a:latin typeface="Helvetica Neue"/>
              </a:rPr>
              <a:t>A place starts as a geographic coordinate.</a:t>
            </a:r>
          </a:p>
        </p:txBody>
      </p:sp>
      <p:sp>
        <p:nvSpPr>
          <p:cNvPr id="67" name="TextBox 66"/>
          <p:cNvSpPr txBox="1"/>
          <p:nvPr/>
        </p:nvSpPr>
        <p:spPr>
          <a:xfrm>
            <a:off x="6126480" y="3849624"/>
            <a:ext cx="457200" cy="457200"/>
          </a:xfrm>
          <a:prstGeom prst="rect">
            <a:avLst/>
          </a:prstGeom>
          <a:noFill/>
        </p:spPr>
        <p:txBody>
          <a:bodyPr wrap="square" anchor="t">
            <a:spAutoFit/>
          </a:bodyPr>
          <a:lstStyle/>
          <a:p>
            <a:pPr algn="l"/>
            <a:r>
              <a:rPr sz="2200" b="1">
                <a:solidFill>
                  <a:srgbClr val="227C9D"/>
                </a:solidFill>
                <a:latin typeface="Helvetica Neue"/>
              </a:rPr>
              <a:t>2</a:t>
            </a:r>
          </a:p>
        </p:txBody>
      </p:sp>
      <p:sp>
        <p:nvSpPr>
          <p:cNvPr id="68" name="TextBox 67"/>
          <p:cNvSpPr txBox="1"/>
          <p:nvPr/>
        </p:nvSpPr>
        <p:spPr>
          <a:xfrm>
            <a:off x="6583680" y="3877056"/>
            <a:ext cx="5029200" cy="457200"/>
          </a:xfrm>
          <a:prstGeom prst="rect">
            <a:avLst/>
          </a:prstGeom>
          <a:noFill/>
        </p:spPr>
        <p:txBody>
          <a:bodyPr wrap="square" anchor="t">
            <a:spAutoFit/>
          </a:bodyPr>
          <a:lstStyle/>
          <a:p>
            <a:pPr algn="l"/>
            <a:r>
              <a:rPr sz="1800" b="0">
                <a:solidFill>
                  <a:srgbClr val="243136"/>
                </a:solidFill>
                <a:latin typeface="Helvetica Neue"/>
              </a:rPr>
              <a:t>Pandana calculates on the network.</a:t>
            </a:r>
          </a:p>
        </p:txBody>
      </p:sp>
      <p:sp>
        <p:nvSpPr>
          <p:cNvPr id="69" name="TextBox 68"/>
          <p:cNvSpPr txBox="1"/>
          <p:nvPr/>
        </p:nvSpPr>
        <p:spPr>
          <a:xfrm>
            <a:off x="6126480" y="4453128"/>
            <a:ext cx="457200" cy="457200"/>
          </a:xfrm>
          <a:prstGeom prst="rect">
            <a:avLst/>
          </a:prstGeom>
          <a:noFill/>
        </p:spPr>
        <p:txBody>
          <a:bodyPr wrap="square" anchor="t">
            <a:spAutoFit/>
          </a:bodyPr>
          <a:lstStyle/>
          <a:p>
            <a:pPr algn="l"/>
            <a:r>
              <a:rPr sz="2200" b="1">
                <a:solidFill>
                  <a:srgbClr val="227C9D"/>
                </a:solidFill>
                <a:latin typeface="Helvetica Neue"/>
              </a:rPr>
              <a:t>3</a:t>
            </a:r>
          </a:p>
        </p:txBody>
      </p:sp>
      <p:sp>
        <p:nvSpPr>
          <p:cNvPr id="70" name="TextBox 69"/>
          <p:cNvSpPr txBox="1"/>
          <p:nvPr/>
        </p:nvSpPr>
        <p:spPr>
          <a:xfrm>
            <a:off x="6583680" y="4480560"/>
            <a:ext cx="5029200" cy="457200"/>
          </a:xfrm>
          <a:prstGeom prst="rect">
            <a:avLst/>
          </a:prstGeom>
          <a:noFill/>
        </p:spPr>
        <p:txBody>
          <a:bodyPr wrap="square" anchor="t">
            <a:spAutoFit/>
          </a:bodyPr>
          <a:lstStyle/>
          <a:p>
            <a:pPr algn="l"/>
            <a:r>
              <a:rPr sz="1800" b="0">
                <a:solidFill>
                  <a:srgbClr val="243136"/>
                </a:solidFill>
                <a:latin typeface="Helvetica Neue"/>
              </a:rPr>
              <a:t>So each place gets a network node.</a:t>
            </a:r>
          </a:p>
        </p:txBody>
      </p:sp>
      <p:sp>
        <p:nvSpPr>
          <p:cNvPr id="71" name="TextBox 70"/>
          <p:cNvSpPr txBox="1"/>
          <p:nvPr/>
        </p:nvSpPr>
        <p:spPr>
          <a:xfrm>
            <a:off x="666597" y="5715000"/>
            <a:ext cx="10789920" cy="548640"/>
          </a:xfrm>
          <a:prstGeom prst="rect">
            <a:avLst/>
          </a:prstGeom>
          <a:noFill/>
        </p:spPr>
        <p:txBody>
          <a:bodyPr wrap="square" anchor="t">
            <a:spAutoFit/>
          </a:bodyPr>
          <a:lstStyle/>
          <a:p>
            <a:pPr algn="l"/>
            <a:r>
              <a:rPr sz="1900" b="0">
                <a:solidFill>
                  <a:srgbClr val="243136"/>
                </a:solidFill>
                <a:latin typeface="Helvetica Neue"/>
              </a:rPr>
              <a:t>A geographic point has to become a network location before Pandana can use it.</a:t>
            </a:r>
          </a:p>
        </p:txBody>
      </p:sp>
      <p:sp>
        <p:nvSpPr>
          <p:cNvPr id="72" name="TextBox 71"/>
          <p:cNvSpPr txBox="1"/>
          <p:nvPr/>
        </p:nvSpPr>
        <p:spPr>
          <a:xfrm>
            <a:off x="11594592" y="6515100"/>
            <a:ext cx="475488" cy="237744"/>
          </a:xfrm>
          <a:prstGeom prst="rect">
            <a:avLst/>
          </a:prstGeom>
          <a:noFill/>
        </p:spPr>
        <p:txBody>
          <a:bodyPr wrap="square" anchor="t">
            <a:spAutoFit/>
          </a:bodyPr>
          <a:lstStyle/>
          <a:p>
            <a:pPr algn="l"/>
            <a:r>
              <a:rPr sz="1200" b="0">
                <a:solidFill>
                  <a:srgbClr val="5B676A"/>
                </a:solidFill>
                <a:latin typeface="Helvetica Neue"/>
              </a:rPr>
              <a:t>31</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TextBox 1"/>
          <p:cNvSpPr txBox="1"/>
          <p:nvPr/>
        </p:nvSpPr>
        <p:spPr>
          <a:xfrm>
            <a:off x="590702" y="437997"/>
            <a:ext cx="11009376" cy="1047902"/>
          </a:xfrm>
          <a:prstGeom prst="rect">
            <a:avLst/>
          </a:prstGeom>
          <a:noFill/>
        </p:spPr>
        <p:txBody>
          <a:bodyPr wrap="square" anchor="t">
            <a:spAutoFit/>
          </a:bodyPr>
          <a:lstStyle/>
          <a:p>
            <a:pPr algn="l"/>
            <a:r>
              <a:rPr sz="3450" b="1">
                <a:solidFill>
                  <a:srgbClr val="243136"/>
                </a:solidFill>
                <a:latin typeface="Helvetica Neue"/>
              </a:rPr>
              <a:t>Tell the network what you are looking for</a:t>
            </a:r>
          </a:p>
        </p:txBody>
      </p:sp>
      <p:sp>
        <p:nvSpPr>
          <p:cNvPr id="3" name="TextBox 2"/>
          <p:cNvSpPr txBox="1"/>
          <p:nvPr/>
        </p:nvSpPr>
        <p:spPr>
          <a:xfrm>
            <a:off x="667512" y="1554480"/>
            <a:ext cx="5669280" cy="2194560"/>
          </a:xfrm>
          <a:prstGeom prst="rect">
            <a:avLst/>
          </a:prstGeom>
          <a:noFill/>
        </p:spPr>
        <p:txBody>
          <a:bodyPr wrap="square" anchor="t">
            <a:spAutoFit/>
          </a:bodyPr>
          <a:lstStyle/>
          <a:p>
            <a:pPr algn="l"/>
            <a:r>
              <a:rPr sz="1700" b="0">
                <a:solidFill>
                  <a:srgbClr val="227C9D"/>
                </a:solidFill>
                <a:latin typeface="Menlo"/>
              </a:rPr>
              <a:t>net.set_pois(</a:t>
            </a:r>
          </a:p>
          <a:p>
            <a:pPr algn="l"/>
            <a:r>
              <a:rPr sz="1700" b="0">
                <a:solidFill>
                  <a:srgbClr val="227C9D"/>
                </a:solidFill>
                <a:latin typeface="Menlo"/>
              </a:rPr>
              <a:t>    category="cafes",</a:t>
            </a:r>
          </a:p>
          <a:p>
            <a:pPr algn="l"/>
            <a:r>
              <a:rPr sz="1700" b="0">
                <a:solidFill>
                  <a:srgbClr val="227C9D"/>
                </a:solidFill>
                <a:latin typeface="Menlo"/>
              </a:rPr>
              <a:t>    maxdist=1000,</a:t>
            </a:r>
          </a:p>
          <a:p>
            <a:pPr algn="l"/>
            <a:r>
              <a:rPr sz="1700" b="0">
                <a:solidFill>
                  <a:srgbClr val="227C9D"/>
                </a:solidFill>
                <a:latin typeface="Menlo"/>
              </a:rPr>
              <a:t>    maxitems=5,</a:t>
            </a:r>
          </a:p>
          <a:p>
            <a:pPr algn="l"/>
            <a:r>
              <a:rPr sz="1700" b="0">
                <a:solidFill>
                  <a:srgbClr val="227C9D"/>
                </a:solidFill>
                <a:latin typeface="Menlo"/>
              </a:rPr>
              <a:t>    x_col=cafes.geometry.x,</a:t>
            </a:r>
          </a:p>
          <a:p>
            <a:pPr algn="l"/>
            <a:r>
              <a:rPr sz="1700" b="0">
                <a:solidFill>
                  <a:srgbClr val="227C9D"/>
                </a:solidFill>
                <a:latin typeface="Menlo"/>
              </a:rPr>
              <a:t>    y_col=cafes.geometry.y</a:t>
            </a:r>
          </a:p>
          <a:p>
            <a:pPr algn="l"/>
            <a:r>
              <a:rPr sz="1700" b="0">
                <a:solidFill>
                  <a:srgbClr val="227C9D"/>
                </a:solidFill>
                <a:latin typeface="Menlo"/>
              </a:rPr>
              <a:t>)</a:t>
            </a:r>
          </a:p>
        </p:txBody>
      </p:sp>
      <p:sp>
        <p:nvSpPr>
          <p:cNvPr id="4" name="TextBox 3"/>
          <p:cNvSpPr txBox="1"/>
          <p:nvPr/>
        </p:nvSpPr>
        <p:spPr>
          <a:xfrm>
            <a:off x="667512" y="3931920"/>
            <a:ext cx="1371600" cy="411480"/>
          </a:xfrm>
          <a:prstGeom prst="rect">
            <a:avLst/>
          </a:prstGeom>
          <a:noFill/>
        </p:spPr>
        <p:txBody>
          <a:bodyPr wrap="square" anchor="t">
            <a:spAutoFit/>
          </a:bodyPr>
          <a:lstStyle/>
          <a:p>
            <a:pPr algn="l"/>
            <a:r>
              <a:rPr sz="1900" b="1">
                <a:solidFill>
                  <a:srgbClr val="227C9D"/>
                </a:solidFill>
                <a:latin typeface="Helvetica Neue"/>
              </a:rPr>
              <a:t>Register</a:t>
            </a:r>
          </a:p>
        </p:txBody>
      </p:sp>
      <p:sp>
        <p:nvSpPr>
          <p:cNvPr id="5" name="TextBox 4"/>
          <p:cNvSpPr txBox="1"/>
          <p:nvPr/>
        </p:nvSpPr>
        <p:spPr>
          <a:xfrm>
            <a:off x="2011680" y="3931920"/>
            <a:ext cx="5029200" cy="411480"/>
          </a:xfrm>
          <a:prstGeom prst="rect">
            <a:avLst/>
          </a:prstGeom>
          <a:noFill/>
        </p:spPr>
        <p:txBody>
          <a:bodyPr wrap="square" anchor="t">
            <a:spAutoFit/>
          </a:bodyPr>
          <a:lstStyle/>
          <a:p>
            <a:pPr algn="l"/>
            <a:r>
              <a:rPr sz="1800" b="0">
                <a:solidFill>
                  <a:srgbClr val="243136"/>
                </a:solidFill>
                <a:latin typeface="Helvetica Neue"/>
              </a:rPr>
              <a:t>a category of opportunities: "cafes"</a:t>
            </a:r>
          </a:p>
        </p:txBody>
      </p:sp>
      <p:sp>
        <p:nvSpPr>
          <p:cNvPr id="6" name="TextBox 5"/>
          <p:cNvSpPr txBox="1"/>
          <p:nvPr/>
        </p:nvSpPr>
        <p:spPr>
          <a:xfrm>
            <a:off x="667512" y="4407408"/>
            <a:ext cx="1371600" cy="411480"/>
          </a:xfrm>
          <a:prstGeom prst="rect">
            <a:avLst/>
          </a:prstGeom>
          <a:noFill/>
        </p:spPr>
        <p:txBody>
          <a:bodyPr wrap="square" anchor="t">
            <a:spAutoFit/>
          </a:bodyPr>
          <a:lstStyle/>
          <a:p>
            <a:pPr algn="l"/>
            <a:r>
              <a:rPr sz="1900" b="1">
                <a:solidFill>
                  <a:srgbClr val="227C9D"/>
                </a:solidFill>
                <a:latin typeface="Helvetica Neue"/>
              </a:rPr>
              <a:t>Attach</a:t>
            </a:r>
          </a:p>
        </p:txBody>
      </p:sp>
      <p:sp>
        <p:nvSpPr>
          <p:cNvPr id="7" name="TextBox 6"/>
          <p:cNvSpPr txBox="1"/>
          <p:nvPr/>
        </p:nvSpPr>
        <p:spPr>
          <a:xfrm>
            <a:off x="2011680" y="4407408"/>
            <a:ext cx="5029200" cy="411480"/>
          </a:xfrm>
          <a:prstGeom prst="rect">
            <a:avLst/>
          </a:prstGeom>
          <a:noFill/>
        </p:spPr>
        <p:txBody>
          <a:bodyPr wrap="square" anchor="t">
            <a:spAutoFit/>
          </a:bodyPr>
          <a:lstStyle/>
          <a:p>
            <a:pPr algn="l"/>
            <a:r>
              <a:rPr sz="1800" b="0">
                <a:solidFill>
                  <a:srgbClr val="243136"/>
                </a:solidFill>
                <a:latin typeface="Helvetica Neue"/>
              </a:rPr>
              <a:t>each café to its network node</a:t>
            </a:r>
          </a:p>
        </p:txBody>
      </p:sp>
      <p:sp>
        <p:nvSpPr>
          <p:cNvPr id="8" name="TextBox 7"/>
          <p:cNvSpPr txBox="1"/>
          <p:nvPr/>
        </p:nvSpPr>
        <p:spPr>
          <a:xfrm>
            <a:off x="667512" y="4882896"/>
            <a:ext cx="1371600" cy="411480"/>
          </a:xfrm>
          <a:prstGeom prst="rect">
            <a:avLst/>
          </a:prstGeom>
          <a:noFill/>
        </p:spPr>
        <p:txBody>
          <a:bodyPr wrap="square" anchor="t">
            <a:spAutoFit/>
          </a:bodyPr>
          <a:lstStyle/>
          <a:p>
            <a:pPr algn="l"/>
            <a:r>
              <a:rPr sz="1900" b="1">
                <a:solidFill>
                  <a:srgbClr val="227C9D"/>
                </a:solidFill>
                <a:latin typeface="Helvetica Neue"/>
              </a:rPr>
              <a:t>Search</a:t>
            </a:r>
          </a:p>
        </p:txBody>
      </p:sp>
      <p:sp>
        <p:nvSpPr>
          <p:cNvPr id="9" name="TextBox 8"/>
          <p:cNvSpPr txBox="1"/>
          <p:nvPr/>
        </p:nvSpPr>
        <p:spPr>
          <a:xfrm>
            <a:off x="2011680" y="4882896"/>
            <a:ext cx="5029200" cy="411480"/>
          </a:xfrm>
          <a:prstGeom prst="rect">
            <a:avLst/>
          </a:prstGeom>
          <a:noFill/>
        </p:spPr>
        <p:txBody>
          <a:bodyPr wrap="square" anchor="t">
            <a:spAutoFit/>
          </a:bodyPr>
          <a:lstStyle/>
          <a:p>
            <a:pPr algn="l"/>
            <a:r>
              <a:rPr sz="1800" b="0">
                <a:solidFill>
                  <a:srgbClr val="243136"/>
                </a:solidFill>
                <a:latin typeface="Helvetica Neue"/>
              </a:rPr>
              <a:t>from every node: ≤ 1,000 m, ≤ 5 cafés</a:t>
            </a:r>
          </a:p>
        </p:txBody>
      </p:sp>
      <p:cxnSp>
        <p:nvCxnSpPr>
          <p:cNvPr id="10" name="Connector 9"/>
          <p:cNvCxnSpPr/>
          <p:nvPr/>
        </p:nvCxnSpPr>
        <p:spPr>
          <a:xfrm>
            <a:off x="7223760" y="1783080"/>
            <a:ext cx="0" cy="301752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26680" y="1783080"/>
            <a:ext cx="0" cy="301752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229600" y="1783080"/>
            <a:ext cx="0" cy="301752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732520" y="1783080"/>
            <a:ext cx="0" cy="301752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235440" y="1783080"/>
            <a:ext cx="0" cy="301752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738360" y="1783080"/>
            <a:ext cx="0" cy="301752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241280" y="1783080"/>
            <a:ext cx="0" cy="301752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744200" y="1783080"/>
            <a:ext cx="0" cy="301752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223760" y="1783080"/>
            <a:ext cx="3520440" cy="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223760" y="2286000"/>
            <a:ext cx="3520440" cy="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7223760" y="2788920"/>
            <a:ext cx="3520440" cy="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223760" y="3291840"/>
            <a:ext cx="3520440" cy="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223760" y="3794760"/>
            <a:ext cx="3520440" cy="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223760" y="4297680"/>
            <a:ext cx="3520440" cy="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223760" y="4800600"/>
            <a:ext cx="3520440" cy="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7187184" y="174650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187184" y="224942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7187184" y="275234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7187184" y="325526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7187184" y="375818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7187184" y="426110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7187184" y="476402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7690104" y="174650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7690104" y="224942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7690104" y="275234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7690104" y="325526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7690104" y="375818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7690104" y="426110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7690104" y="476402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8193024" y="174650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8193024" y="224942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8193024" y="275234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8193024" y="325526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8193024" y="375818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8193024" y="426110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8193024" y="476402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8695944" y="174650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8695944" y="224942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8695944" y="275234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8695944" y="325526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8695944" y="375818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8695944" y="426110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8695944" y="476402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9198864" y="174650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9198864" y="224942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9198864" y="275234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9198864" y="325526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9198864" y="375818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9198864" y="426110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9198864" y="476402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9701784" y="174650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9701784" y="224942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9701784" y="275234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val 62"/>
          <p:cNvSpPr/>
          <p:nvPr/>
        </p:nvSpPr>
        <p:spPr>
          <a:xfrm>
            <a:off x="9701784" y="325526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val 63"/>
          <p:cNvSpPr/>
          <p:nvPr/>
        </p:nvSpPr>
        <p:spPr>
          <a:xfrm>
            <a:off x="9701784" y="375818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9701784" y="426110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val 65"/>
          <p:cNvSpPr/>
          <p:nvPr/>
        </p:nvSpPr>
        <p:spPr>
          <a:xfrm>
            <a:off x="9701784" y="476402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val 66"/>
          <p:cNvSpPr/>
          <p:nvPr/>
        </p:nvSpPr>
        <p:spPr>
          <a:xfrm>
            <a:off x="10204704" y="174650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p:nvPr/>
        </p:nvSpPr>
        <p:spPr>
          <a:xfrm>
            <a:off x="10204704" y="224942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val 68"/>
          <p:cNvSpPr/>
          <p:nvPr/>
        </p:nvSpPr>
        <p:spPr>
          <a:xfrm>
            <a:off x="10204704" y="275234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val 69"/>
          <p:cNvSpPr/>
          <p:nvPr/>
        </p:nvSpPr>
        <p:spPr>
          <a:xfrm>
            <a:off x="10204704" y="325526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10204704" y="375818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val 71"/>
          <p:cNvSpPr/>
          <p:nvPr/>
        </p:nvSpPr>
        <p:spPr>
          <a:xfrm>
            <a:off x="10204704" y="426110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val 72"/>
          <p:cNvSpPr/>
          <p:nvPr/>
        </p:nvSpPr>
        <p:spPr>
          <a:xfrm>
            <a:off x="10204704" y="476402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val 73"/>
          <p:cNvSpPr/>
          <p:nvPr/>
        </p:nvSpPr>
        <p:spPr>
          <a:xfrm>
            <a:off x="10707624" y="174650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val 74"/>
          <p:cNvSpPr/>
          <p:nvPr/>
        </p:nvSpPr>
        <p:spPr>
          <a:xfrm>
            <a:off x="10707624" y="224942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val 75"/>
          <p:cNvSpPr/>
          <p:nvPr/>
        </p:nvSpPr>
        <p:spPr>
          <a:xfrm>
            <a:off x="10707624" y="275234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val 76"/>
          <p:cNvSpPr/>
          <p:nvPr/>
        </p:nvSpPr>
        <p:spPr>
          <a:xfrm>
            <a:off x="10707624" y="325526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val 77"/>
          <p:cNvSpPr/>
          <p:nvPr/>
        </p:nvSpPr>
        <p:spPr>
          <a:xfrm>
            <a:off x="10707624" y="375818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val 78"/>
          <p:cNvSpPr/>
          <p:nvPr/>
        </p:nvSpPr>
        <p:spPr>
          <a:xfrm>
            <a:off x="10707624" y="426110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val 79"/>
          <p:cNvSpPr/>
          <p:nvPr/>
        </p:nvSpPr>
        <p:spPr>
          <a:xfrm>
            <a:off x="10707624" y="476402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1" name="Connector 80"/>
          <p:cNvCxnSpPr/>
          <p:nvPr/>
        </p:nvCxnSpPr>
        <p:spPr>
          <a:xfrm flipH="1">
            <a:off x="7726680" y="2121408"/>
            <a:ext cx="201168" cy="164592"/>
          </a:xfrm>
          <a:prstGeom prst="line">
            <a:avLst/>
          </a:prstGeom>
          <a:ln w="22225">
            <a:solidFill>
              <a:srgbClr val="DB724C"/>
            </a:solidFill>
            <a:prstDash val="dash"/>
          </a:ln>
        </p:spPr>
        <p:style>
          <a:lnRef idx="2">
            <a:schemeClr val="accent1"/>
          </a:lnRef>
          <a:fillRef idx="0">
            <a:schemeClr val="accent1"/>
          </a:fillRef>
          <a:effectRef idx="1">
            <a:schemeClr val="accent1"/>
          </a:effectRef>
          <a:fontRef idx="minor">
            <a:schemeClr val="tx1"/>
          </a:fontRef>
        </p:style>
      </p:cxnSp>
      <p:sp>
        <p:nvSpPr>
          <p:cNvPr id="82" name="Oval 81"/>
          <p:cNvSpPr/>
          <p:nvPr/>
        </p:nvSpPr>
        <p:spPr>
          <a:xfrm>
            <a:off x="7653528" y="2212848"/>
            <a:ext cx="146304" cy="146304"/>
          </a:xfrm>
          <a:prstGeom prst="ellipse">
            <a:avLst/>
          </a:prstGeom>
          <a:solidFill>
            <a:srgbClr val="2431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Oval 82"/>
          <p:cNvSpPr/>
          <p:nvPr/>
        </p:nvSpPr>
        <p:spPr>
          <a:xfrm>
            <a:off x="7836408" y="2029967"/>
            <a:ext cx="182880" cy="182880"/>
          </a:xfrm>
          <a:prstGeom prst="ellipse">
            <a:avLst/>
          </a:prstGeom>
          <a:solidFill>
            <a:srgbClr val="DB7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4" name="Connector 83"/>
          <p:cNvCxnSpPr/>
          <p:nvPr/>
        </p:nvCxnSpPr>
        <p:spPr>
          <a:xfrm flipV="1">
            <a:off x="9555480" y="2788920"/>
            <a:ext cx="182880" cy="182880"/>
          </a:xfrm>
          <a:prstGeom prst="line">
            <a:avLst/>
          </a:prstGeom>
          <a:ln w="22225">
            <a:solidFill>
              <a:srgbClr val="DB724C"/>
            </a:solidFill>
            <a:prstDash val="dash"/>
          </a:ln>
        </p:spPr>
        <p:style>
          <a:lnRef idx="2">
            <a:schemeClr val="accent1"/>
          </a:lnRef>
          <a:fillRef idx="0">
            <a:schemeClr val="accent1"/>
          </a:fillRef>
          <a:effectRef idx="1">
            <a:schemeClr val="accent1"/>
          </a:effectRef>
          <a:fontRef idx="minor">
            <a:schemeClr val="tx1"/>
          </a:fontRef>
        </p:style>
      </p:cxnSp>
      <p:sp>
        <p:nvSpPr>
          <p:cNvPr id="85" name="Oval 84"/>
          <p:cNvSpPr/>
          <p:nvPr/>
        </p:nvSpPr>
        <p:spPr>
          <a:xfrm>
            <a:off x="9665208" y="2715768"/>
            <a:ext cx="146304" cy="146304"/>
          </a:xfrm>
          <a:prstGeom prst="ellipse">
            <a:avLst/>
          </a:prstGeom>
          <a:solidFill>
            <a:srgbClr val="2431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Oval 85"/>
          <p:cNvSpPr/>
          <p:nvPr/>
        </p:nvSpPr>
        <p:spPr>
          <a:xfrm>
            <a:off x="9464040" y="2880360"/>
            <a:ext cx="182880" cy="182880"/>
          </a:xfrm>
          <a:prstGeom prst="ellipse">
            <a:avLst/>
          </a:prstGeom>
          <a:solidFill>
            <a:srgbClr val="DB7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7" name="Connector 86"/>
          <p:cNvCxnSpPr/>
          <p:nvPr/>
        </p:nvCxnSpPr>
        <p:spPr>
          <a:xfrm flipH="1" flipV="1">
            <a:off x="8229600" y="4297680"/>
            <a:ext cx="228600" cy="137160"/>
          </a:xfrm>
          <a:prstGeom prst="line">
            <a:avLst/>
          </a:prstGeom>
          <a:ln w="22225">
            <a:solidFill>
              <a:srgbClr val="DB724C"/>
            </a:solidFill>
            <a:prstDash val="dash"/>
          </a:ln>
        </p:spPr>
        <p:style>
          <a:lnRef idx="2">
            <a:schemeClr val="accent1"/>
          </a:lnRef>
          <a:fillRef idx="0">
            <a:schemeClr val="accent1"/>
          </a:fillRef>
          <a:effectRef idx="1">
            <a:schemeClr val="accent1"/>
          </a:effectRef>
          <a:fontRef idx="minor">
            <a:schemeClr val="tx1"/>
          </a:fontRef>
        </p:style>
      </p:cxnSp>
      <p:sp>
        <p:nvSpPr>
          <p:cNvPr id="88" name="Oval 87"/>
          <p:cNvSpPr/>
          <p:nvPr/>
        </p:nvSpPr>
        <p:spPr>
          <a:xfrm>
            <a:off x="8156448" y="4224528"/>
            <a:ext cx="146304" cy="146304"/>
          </a:xfrm>
          <a:prstGeom prst="ellipse">
            <a:avLst/>
          </a:prstGeom>
          <a:solidFill>
            <a:srgbClr val="2431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Oval 88"/>
          <p:cNvSpPr/>
          <p:nvPr/>
        </p:nvSpPr>
        <p:spPr>
          <a:xfrm>
            <a:off x="8366760" y="4343400"/>
            <a:ext cx="182880" cy="182880"/>
          </a:xfrm>
          <a:prstGeom prst="ellipse">
            <a:avLst/>
          </a:prstGeom>
          <a:solidFill>
            <a:srgbClr val="DB7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0" name="Connector 89"/>
          <p:cNvCxnSpPr/>
          <p:nvPr/>
        </p:nvCxnSpPr>
        <p:spPr>
          <a:xfrm flipH="1">
            <a:off x="10241280" y="4096512"/>
            <a:ext cx="164592" cy="201168"/>
          </a:xfrm>
          <a:prstGeom prst="line">
            <a:avLst/>
          </a:prstGeom>
          <a:ln w="22225">
            <a:solidFill>
              <a:srgbClr val="DB724C"/>
            </a:solidFill>
            <a:prstDash val="dash"/>
          </a:ln>
        </p:spPr>
        <p:style>
          <a:lnRef idx="2">
            <a:schemeClr val="accent1"/>
          </a:lnRef>
          <a:fillRef idx="0">
            <a:schemeClr val="accent1"/>
          </a:fillRef>
          <a:effectRef idx="1">
            <a:schemeClr val="accent1"/>
          </a:effectRef>
          <a:fontRef idx="minor">
            <a:schemeClr val="tx1"/>
          </a:fontRef>
        </p:style>
      </p:cxnSp>
      <p:sp>
        <p:nvSpPr>
          <p:cNvPr id="91" name="Oval 90"/>
          <p:cNvSpPr/>
          <p:nvPr/>
        </p:nvSpPr>
        <p:spPr>
          <a:xfrm>
            <a:off x="10168128" y="4224528"/>
            <a:ext cx="146304" cy="146304"/>
          </a:xfrm>
          <a:prstGeom prst="ellipse">
            <a:avLst/>
          </a:prstGeom>
          <a:solidFill>
            <a:srgbClr val="2431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val 91"/>
          <p:cNvSpPr/>
          <p:nvPr/>
        </p:nvSpPr>
        <p:spPr>
          <a:xfrm>
            <a:off x="10314432" y="4005072"/>
            <a:ext cx="182880" cy="182880"/>
          </a:xfrm>
          <a:prstGeom prst="ellipse">
            <a:avLst/>
          </a:prstGeom>
          <a:solidFill>
            <a:srgbClr val="DB7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7132320" y="4892040"/>
            <a:ext cx="4389120" cy="365760"/>
          </a:xfrm>
          <a:prstGeom prst="rect">
            <a:avLst/>
          </a:prstGeom>
          <a:noFill/>
        </p:spPr>
        <p:txBody>
          <a:bodyPr wrap="square" anchor="t">
            <a:spAutoFit/>
          </a:bodyPr>
          <a:lstStyle/>
          <a:p>
            <a:pPr algn="l"/>
            <a:r>
              <a:rPr sz="1400" b="0">
                <a:solidFill>
                  <a:srgbClr val="DB724C"/>
                </a:solidFill>
                <a:latin typeface="Helvetica Neue"/>
              </a:rPr>
              <a:t>●</a:t>
            </a:r>
            <a:r>
              <a:rPr sz="1400" b="0">
                <a:solidFill>
                  <a:srgbClr val="5B676A"/>
                </a:solidFill>
                <a:latin typeface="Helvetica Neue"/>
              </a:rPr>
              <a:t>  café    </a:t>
            </a:r>
            <a:r>
              <a:rPr sz="1400" b="0">
                <a:solidFill>
                  <a:srgbClr val="243136"/>
                </a:solidFill>
                <a:latin typeface="Helvetica Neue"/>
              </a:rPr>
              <a:t>●</a:t>
            </a:r>
            <a:r>
              <a:rPr sz="1400" b="0">
                <a:solidFill>
                  <a:srgbClr val="5B676A"/>
                </a:solidFill>
                <a:latin typeface="Helvetica Neue"/>
              </a:rPr>
              <a:t>  node holding a café</a:t>
            </a:r>
          </a:p>
        </p:txBody>
      </p:sp>
      <p:sp>
        <p:nvSpPr>
          <p:cNvPr id="94" name="TextBox 93"/>
          <p:cNvSpPr txBox="1"/>
          <p:nvPr/>
        </p:nvSpPr>
        <p:spPr>
          <a:xfrm>
            <a:off x="666597" y="5715000"/>
            <a:ext cx="10789920" cy="548640"/>
          </a:xfrm>
          <a:prstGeom prst="rect">
            <a:avLst/>
          </a:prstGeom>
          <a:noFill/>
        </p:spPr>
        <p:txBody>
          <a:bodyPr wrap="square" anchor="t">
            <a:spAutoFit/>
          </a:bodyPr>
          <a:lstStyle/>
          <a:p>
            <a:pPr algn="l"/>
            <a:r>
              <a:rPr sz="1900" b="0">
                <a:solidFill>
                  <a:srgbClr val="243136"/>
                </a:solidFill>
                <a:latin typeface="Helvetica Neue"/>
              </a:rPr>
              <a:t>Pandana stores destinations as opportunities on the network.</a:t>
            </a:r>
          </a:p>
        </p:txBody>
      </p:sp>
      <p:sp>
        <p:nvSpPr>
          <p:cNvPr id="95" name="TextBox 94"/>
          <p:cNvSpPr txBox="1"/>
          <p:nvPr/>
        </p:nvSpPr>
        <p:spPr>
          <a:xfrm>
            <a:off x="11594592" y="6515100"/>
            <a:ext cx="475488" cy="237744"/>
          </a:xfrm>
          <a:prstGeom prst="rect">
            <a:avLst/>
          </a:prstGeom>
          <a:noFill/>
        </p:spPr>
        <p:txBody>
          <a:bodyPr wrap="square" anchor="t">
            <a:spAutoFit/>
          </a:bodyPr>
          <a:lstStyle/>
          <a:p>
            <a:pPr algn="l"/>
            <a:r>
              <a:rPr sz="1200" b="0">
                <a:solidFill>
                  <a:srgbClr val="5B676A"/>
                </a:solidFill>
                <a:latin typeface="Helvetica Neue"/>
              </a:rPr>
              <a:t>32</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TextBox 1"/>
          <p:cNvSpPr txBox="1"/>
          <p:nvPr/>
        </p:nvSpPr>
        <p:spPr>
          <a:xfrm>
            <a:off x="590702" y="437997"/>
            <a:ext cx="11009376" cy="1047902"/>
          </a:xfrm>
          <a:prstGeom prst="rect">
            <a:avLst/>
          </a:prstGeom>
          <a:noFill/>
        </p:spPr>
        <p:txBody>
          <a:bodyPr wrap="square" anchor="t">
            <a:spAutoFit/>
          </a:bodyPr>
          <a:lstStyle/>
          <a:p>
            <a:pPr algn="l"/>
            <a:r>
              <a:rPr sz="3450" b="1">
                <a:solidFill>
                  <a:srgbClr val="243136"/>
                </a:solidFill>
                <a:latin typeface="Helvetica Neue"/>
              </a:rPr>
              <a:t>Ask the network a question</a:t>
            </a:r>
          </a:p>
        </p:txBody>
      </p:sp>
      <p:sp>
        <p:nvSpPr>
          <p:cNvPr id="3" name="TextBox 2"/>
          <p:cNvSpPr txBox="1"/>
          <p:nvPr/>
        </p:nvSpPr>
        <p:spPr>
          <a:xfrm>
            <a:off x="667512" y="1554480"/>
            <a:ext cx="5669280" cy="1463040"/>
          </a:xfrm>
          <a:prstGeom prst="rect">
            <a:avLst/>
          </a:prstGeom>
          <a:noFill/>
        </p:spPr>
        <p:txBody>
          <a:bodyPr wrap="square" anchor="t">
            <a:spAutoFit/>
          </a:bodyPr>
          <a:lstStyle/>
          <a:p>
            <a:pPr algn="l"/>
            <a:r>
              <a:rPr sz="1700" b="0">
                <a:solidFill>
                  <a:srgbClr val="227C9D"/>
                </a:solidFill>
                <a:latin typeface="Menlo"/>
              </a:rPr>
              <a:t>nearest = net.nearest_pois(</a:t>
            </a:r>
          </a:p>
          <a:p>
            <a:pPr algn="l"/>
            <a:r>
              <a:rPr sz="1700" b="0">
                <a:solidFill>
                  <a:srgbClr val="227C9D"/>
                </a:solidFill>
                <a:latin typeface="Menlo"/>
              </a:rPr>
              <a:t>    distance=1000,</a:t>
            </a:r>
          </a:p>
          <a:p>
            <a:pPr algn="l"/>
            <a:r>
              <a:rPr sz="1700" b="0">
                <a:solidFill>
                  <a:srgbClr val="227C9D"/>
                </a:solidFill>
                <a:latin typeface="Menlo"/>
              </a:rPr>
              <a:t>    category="cafes",</a:t>
            </a:r>
          </a:p>
          <a:p>
            <a:pPr algn="l"/>
            <a:r>
              <a:rPr sz="1700" b="0">
                <a:solidFill>
                  <a:srgbClr val="227C9D"/>
                </a:solidFill>
                <a:latin typeface="Menlo"/>
              </a:rPr>
              <a:t>    num_pois=3</a:t>
            </a:r>
          </a:p>
          <a:p>
            <a:pPr algn="l"/>
            <a:r>
              <a:rPr sz="1700" b="0">
                <a:solidFill>
                  <a:srgbClr val="227C9D"/>
                </a:solidFill>
                <a:latin typeface="Menlo"/>
              </a:rPr>
              <a:t>)</a:t>
            </a:r>
          </a:p>
        </p:txBody>
      </p:sp>
      <p:sp>
        <p:nvSpPr>
          <p:cNvPr id="4" name="TextBox 3"/>
          <p:cNvSpPr txBox="1"/>
          <p:nvPr/>
        </p:nvSpPr>
        <p:spPr>
          <a:xfrm>
            <a:off x="758952" y="3611880"/>
            <a:ext cx="1234440" cy="420624"/>
          </a:xfrm>
          <a:prstGeom prst="rect">
            <a:avLst/>
          </a:prstGeom>
          <a:noFill/>
        </p:spPr>
        <p:txBody>
          <a:bodyPr wrap="square" anchor="t">
            <a:spAutoFit/>
          </a:bodyPr>
          <a:lstStyle/>
          <a:p>
            <a:pPr algn="l"/>
            <a:r>
              <a:rPr sz="1600" b="1">
                <a:solidFill>
                  <a:srgbClr val="227C9D"/>
                </a:solidFill>
                <a:latin typeface="Helvetica Neue"/>
              </a:rPr>
              <a:t>node</a:t>
            </a:r>
          </a:p>
        </p:txBody>
      </p:sp>
      <p:sp>
        <p:nvSpPr>
          <p:cNvPr id="5" name="TextBox 4"/>
          <p:cNvSpPr txBox="1"/>
          <p:nvPr/>
        </p:nvSpPr>
        <p:spPr>
          <a:xfrm>
            <a:off x="1993392" y="3611880"/>
            <a:ext cx="1234440" cy="420624"/>
          </a:xfrm>
          <a:prstGeom prst="rect">
            <a:avLst/>
          </a:prstGeom>
          <a:noFill/>
        </p:spPr>
        <p:txBody>
          <a:bodyPr wrap="square" anchor="t">
            <a:spAutoFit/>
          </a:bodyPr>
          <a:lstStyle/>
          <a:p>
            <a:pPr algn="l"/>
            <a:r>
              <a:rPr sz="1600" b="1">
                <a:solidFill>
                  <a:srgbClr val="227C9D"/>
                </a:solidFill>
                <a:latin typeface="Helvetica Neue"/>
              </a:rPr>
              <a:t>nearest</a:t>
            </a:r>
          </a:p>
        </p:txBody>
      </p:sp>
      <p:sp>
        <p:nvSpPr>
          <p:cNvPr id="6" name="TextBox 5"/>
          <p:cNvSpPr txBox="1"/>
          <p:nvPr/>
        </p:nvSpPr>
        <p:spPr>
          <a:xfrm>
            <a:off x="3227832" y="3611880"/>
            <a:ext cx="1234440" cy="420624"/>
          </a:xfrm>
          <a:prstGeom prst="rect">
            <a:avLst/>
          </a:prstGeom>
          <a:noFill/>
        </p:spPr>
        <p:txBody>
          <a:bodyPr wrap="square" anchor="t">
            <a:spAutoFit/>
          </a:bodyPr>
          <a:lstStyle/>
          <a:p>
            <a:pPr algn="l"/>
            <a:r>
              <a:rPr sz="1600" b="1">
                <a:solidFill>
                  <a:srgbClr val="227C9D"/>
                </a:solidFill>
                <a:latin typeface="Helvetica Neue"/>
              </a:rPr>
              <a:t>2nd</a:t>
            </a:r>
          </a:p>
        </p:txBody>
      </p:sp>
      <p:sp>
        <p:nvSpPr>
          <p:cNvPr id="7" name="TextBox 6"/>
          <p:cNvSpPr txBox="1"/>
          <p:nvPr/>
        </p:nvSpPr>
        <p:spPr>
          <a:xfrm>
            <a:off x="4462272" y="3611880"/>
            <a:ext cx="1234440" cy="420624"/>
          </a:xfrm>
          <a:prstGeom prst="rect">
            <a:avLst/>
          </a:prstGeom>
          <a:noFill/>
        </p:spPr>
        <p:txBody>
          <a:bodyPr wrap="square" anchor="t">
            <a:spAutoFit/>
          </a:bodyPr>
          <a:lstStyle/>
          <a:p>
            <a:pPr algn="l"/>
            <a:r>
              <a:rPr sz="1600" b="1">
                <a:solidFill>
                  <a:srgbClr val="227C9D"/>
                </a:solidFill>
                <a:latin typeface="Helvetica Neue"/>
              </a:rPr>
              <a:t>3rd</a:t>
            </a:r>
          </a:p>
        </p:txBody>
      </p:sp>
      <p:cxnSp>
        <p:nvCxnSpPr>
          <p:cNvPr id="8" name="Connector 7"/>
          <p:cNvCxnSpPr/>
          <p:nvPr/>
        </p:nvCxnSpPr>
        <p:spPr>
          <a:xfrm>
            <a:off x="804672" y="4032504"/>
            <a:ext cx="4800600" cy="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58952" y="4078224"/>
            <a:ext cx="1234440" cy="420624"/>
          </a:xfrm>
          <a:prstGeom prst="rect">
            <a:avLst/>
          </a:prstGeom>
          <a:noFill/>
        </p:spPr>
        <p:txBody>
          <a:bodyPr wrap="square" anchor="t">
            <a:spAutoFit/>
          </a:bodyPr>
          <a:lstStyle/>
          <a:p>
            <a:pPr algn="l"/>
            <a:r>
              <a:rPr sz="1700" b="1">
                <a:solidFill>
                  <a:srgbClr val="243136"/>
                </a:solidFill>
                <a:latin typeface="Helvetica Neue"/>
              </a:rPr>
              <a:t>A</a:t>
            </a:r>
          </a:p>
        </p:txBody>
      </p:sp>
      <p:sp>
        <p:nvSpPr>
          <p:cNvPr id="10" name="TextBox 9"/>
          <p:cNvSpPr txBox="1"/>
          <p:nvPr/>
        </p:nvSpPr>
        <p:spPr>
          <a:xfrm>
            <a:off x="1993392" y="4078224"/>
            <a:ext cx="1234440" cy="420624"/>
          </a:xfrm>
          <a:prstGeom prst="rect">
            <a:avLst/>
          </a:prstGeom>
          <a:noFill/>
        </p:spPr>
        <p:txBody>
          <a:bodyPr wrap="square" anchor="t">
            <a:spAutoFit/>
          </a:bodyPr>
          <a:lstStyle/>
          <a:p>
            <a:pPr algn="l"/>
            <a:r>
              <a:rPr sz="1700" b="0">
                <a:solidFill>
                  <a:srgbClr val="243136"/>
                </a:solidFill>
                <a:latin typeface="Helvetica Neue"/>
              </a:rPr>
              <a:t>180 m</a:t>
            </a:r>
          </a:p>
        </p:txBody>
      </p:sp>
      <p:sp>
        <p:nvSpPr>
          <p:cNvPr id="11" name="TextBox 10"/>
          <p:cNvSpPr txBox="1"/>
          <p:nvPr/>
        </p:nvSpPr>
        <p:spPr>
          <a:xfrm>
            <a:off x="3227832" y="4078224"/>
            <a:ext cx="1234440" cy="420624"/>
          </a:xfrm>
          <a:prstGeom prst="rect">
            <a:avLst/>
          </a:prstGeom>
          <a:noFill/>
        </p:spPr>
        <p:txBody>
          <a:bodyPr wrap="square" anchor="t">
            <a:spAutoFit/>
          </a:bodyPr>
          <a:lstStyle/>
          <a:p>
            <a:pPr algn="l"/>
            <a:r>
              <a:rPr sz="1700" b="0">
                <a:solidFill>
                  <a:srgbClr val="243136"/>
                </a:solidFill>
                <a:latin typeface="Helvetica Neue"/>
              </a:rPr>
              <a:t>420 m</a:t>
            </a:r>
          </a:p>
        </p:txBody>
      </p:sp>
      <p:sp>
        <p:nvSpPr>
          <p:cNvPr id="12" name="TextBox 11"/>
          <p:cNvSpPr txBox="1"/>
          <p:nvPr/>
        </p:nvSpPr>
        <p:spPr>
          <a:xfrm>
            <a:off x="4462272" y="4078224"/>
            <a:ext cx="1234440" cy="420624"/>
          </a:xfrm>
          <a:prstGeom prst="rect">
            <a:avLst/>
          </a:prstGeom>
          <a:noFill/>
        </p:spPr>
        <p:txBody>
          <a:bodyPr wrap="square" anchor="t">
            <a:spAutoFit/>
          </a:bodyPr>
          <a:lstStyle/>
          <a:p>
            <a:pPr algn="l"/>
            <a:r>
              <a:rPr sz="1700" b="0">
                <a:solidFill>
                  <a:srgbClr val="243136"/>
                </a:solidFill>
                <a:latin typeface="Helvetica Neue"/>
              </a:rPr>
              <a:t>610 m</a:t>
            </a:r>
          </a:p>
        </p:txBody>
      </p:sp>
      <p:cxnSp>
        <p:nvCxnSpPr>
          <p:cNvPr id="13" name="Connector 12"/>
          <p:cNvCxnSpPr/>
          <p:nvPr/>
        </p:nvCxnSpPr>
        <p:spPr>
          <a:xfrm>
            <a:off x="804672" y="4498848"/>
            <a:ext cx="4800600" cy="0"/>
          </a:xfrm>
          <a:prstGeom prst="line">
            <a:avLst/>
          </a:prstGeom>
          <a:ln w="6350">
            <a:solidFill>
              <a:srgbClr val="9CB7BC"/>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58952" y="4498848"/>
            <a:ext cx="1234440" cy="420624"/>
          </a:xfrm>
          <a:prstGeom prst="rect">
            <a:avLst/>
          </a:prstGeom>
          <a:noFill/>
        </p:spPr>
        <p:txBody>
          <a:bodyPr wrap="square" anchor="t">
            <a:spAutoFit/>
          </a:bodyPr>
          <a:lstStyle/>
          <a:p>
            <a:pPr algn="l"/>
            <a:r>
              <a:rPr sz="1700" b="1">
                <a:solidFill>
                  <a:srgbClr val="243136"/>
                </a:solidFill>
                <a:latin typeface="Helvetica Neue"/>
              </a:rPr>
              <a:t>B</a:t>
            </a:r>
          </a:p>
        </p:txBody>
      </p:sp>
      <p:sp>
        <p:nvSpPr>
          <p:cNvPr id="15" name="TextBox 14"/>
          <p:cNvSpPr txBox="1"/>
          <p:nvPr/>
        </p:nvSpPr>
        <p:spPr>
          <a:xfrm>
            <a:off x="1993392" y="4498848"/>
            <a:ext cx="1234440" cy="420624"/>
          </a:xfrm>
          <a:prstGeom prst="rect">
            <a:avLst/>
          </a:prstGeom>
          <a:noFill/>
        </p:spPr>
        <p:txBody>
          <a:bodyPr wrap="square" anchor="t">
            <a:spAutoFit/>
          </a:bodyPr>
          <a:lstStyle/>
          <a:p>
            <a:pPr algn="l"/>
            <a:r>
              <a:rPr sz="1700" b="0">
                <a:solidFill>
                  <a:srgbClr val="243136"/>
                </a:solidFill>
                <a:latin typeface="Helvetica Neue"/>
              </a:rPr>
              <a:t>95 m</a:t>
            </a:r>
          </a:p>
        </p:txBody>
      </p:sp>
      <p:sp>
        <p:nvSpPr>
          <p:cNvPr id="16" name="TextBox 15"/>
          <p:cNvSpPr txBox="1"/>
          <p:nvPr/>
        </p:nvSpPr>
        <p:spPr>
          <a:xfrm>
            <a:off x="3227832" y="4498848"/>
            <a:ext cx="1234440" cy="420624"/>
          </a:xfrm>
          <a:prstGeom prst="rect">
            <a:avLst/>
          </a:prstGeom>
          <a:noFill/>
        </p:spPr>
        <p:txBody>
          <a:bodyPr wrap="square" anchor="t">
            <a:spAutoFit/>
          </a:bodyPr>
          <a:lstStyle/>
          <a:p>
            <a:pPr algn="l"/>
            <a:r>
              <a:rPr sz="1700" b="0">
                <a:solidFill>
                  <a:srgbClr val="243136"/>
                </a:solidFill>
                <a:latin typeface="Helvetica Neue"/>
              </a:rPr>
              <a:t>340 m</a:t>
            </a:r>
          </a:p>
        </p:txBody>
      </p:sp>
      <p:sp>
        <p:nvSpPr>
          <p:cNvPr id="17" name="TextBox 16"/>
          <p:cNvSpPr txBox="1"/>
          <p:nvPr/>
        </p:nvSpPr>
        <p:spPr>
          <a:xfrm>
            <a:off x="4462272" y="4498848"/>
            <a:ext cx="1234440" cy="420624"/>
          </a:xfrm>
          <a:prstGeom prst="rect">
            <a:avLst/>
          </a:prstGeom>
          <a:noFill/>
        </p:spPr>
        <p:txBody>
          <a:bodyPr wrap="square" anchor="t">
            <a:spAutoFit/>
          </a:bodyPr>
          <a:lstStyle/>
          <a:p>
            <a:pPr algn="l"/>
            <a:r>
              <a:rPr sz="1700" b="0">
                <a:solidFill>
                  <a:srgbClr val="243136"/>
                </a:solidFill>
                <a:latin typeface="Helvetica Neue"/>
              </a:rPr>
              <a:t>720 m</a:t>
            </a:r>
          </a:p>
        </p:txBody>
      </p:sp>
      <p:cxnSp>
        <p:nvCxnSpPr>
          <p:cNvPr id="18" name="Connector 17"/>
          <p:cNvCxnSpPr/>
          <p:nvPr/>
        </p:nvCxnSpPr>
        <p:spPr>
          <a:xfrm>
            <a:off x="804672" y="4919472"/>
            <a:ext cx="4800600" cy="0"/>
          </a:xfrm>
          <a:prstGeom prst="line">
            <a:avLst/>
          </a:prstGeom>
          <a:ln w="6350">
            <a:solidFill>
              <a:srgbClr val="9CB7BC"/>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223760" y="1783080"/>
            <a:ext cx="0" cy="251460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7726680" y="1783080"/>
            <a:ext cx="0" cy="251460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229600" y="1783080"/>
            <a:ext cx="0" cy="251460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732520" y="1783080"/>
            <a:ext cx="0" cy="251460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235440" y="1783080"/>
            <a:ext cx="0" cy="251460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9738360" y="1783080"/>
            <a:ext cx="0" cy="251460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0241280" y="1783080"/>
            <a:ext cx="0" cy="251460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0744200" y="1783080"/>
            <a:ext cx="0" cy="251460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23760" y="1783080"/>
            <a:ext cx="3520440" cy="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223760" y="2286000"/>
            <a:ext cx="3520440" cy="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223760" y="2788920"/>
            <a:ext cx="3520440" cy="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7223760" y="3291840"/>
            <a:ext cx="3520440" cy="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7223760" y="3794760"/>
            <a:ext cx="3520440" cy="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7223760" y="4297680"/>
            <a:ext cx="3520440" cy="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7187184" y="174650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7187184" y="224942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7187184" y="275234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7187184" y="325526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7187184" y="375818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7187184" y="426110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7690104" y="174650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7690104" y="224942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7690104" y="275234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7690104" y="325526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7690104" y="375818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7690104" y="426110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8193024" y="174650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8193024" y="224942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8193024" y="275234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8193024" y="325526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8193024" y="375818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8193024" y="426110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8695944" y="174650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8695944" y="224942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8695944" y="275234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8695944" y="325526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8695944" y="375818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8695944" y="426110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9198864" y="174650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9198864" y="224942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9198864" y="275234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9198864" y="325526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9198864" y="375818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9198864" y="426110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val 62"/>
          <p:cNvSpPr/>
          <p:nvPr/>
        </p:nvSpPr>
        <p:spPr>
          <a:xfrm>
            <a:off x="9701784" y="174650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val 63"/>
          <p:cNvSpPr/>
          <p:nvPr/>
        </p:nvSpPr>
        <p:spPr>
          <a:xfrm>
            <a:off x="9701784" y="224942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9701784" y="275234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val 65"/>
          <p:cNvSpPr/>
          <p:nvPr/>
        </p:nvSpPr>
        <p:spPr>
          <a:xfrm>
            <a:off x="9701784" y="325526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val 66"/>
          <p:cNvSpPr/>
          <p:nvPr/>
        </p:nvSpPr>
        <p:spPr>
          <a:xfrm>
            <a:off x="9701784" y="375818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p:nvPr/>
        </p:nvSpPr>
        <p:spPr>
          <a:xfrm>
            <a:off x="9701784" y="426110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val 68"/>
          <p:cNvSpPr/>
          <p:nvPr/>
        </p:nvSpPr>
        <p:spPr>
          <a:xfrm>
            <a:off x="10204704" y="174650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val 69"/>
          <p:cNvSpPr/>
          <p:nvPr/>
        </p:nvSpPr>
        <p:spPr>
          <a:xfrm>
            <a:off x="10204704" y="224942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10204704" y="275234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val 71"/>
          <p:cNvSpPr/>
          <p:nvPr/>
        </p:nvSpPr>
        <p:spPr>
          <a:xfrm>
            <a:off x="10204704" y="325526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val 72"/>
          <p:cNvSpPr/>
          <p:nvPr/>
        </p:nvSpPr>
        <p:spPr>
          <a:xfrm>
            <a:off x="10204704" y="375818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val 73"/>
          <p:cNvSpPr/>
          <p:nvPr/>
        </p:nvSpPr>
        <p:spPr>
          <a:xfrm>
            <a:off x="10204704" y="426110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val 74"/>
          <p:cNvSpPr/>
          <p:nvPr/>
        </p:nvSpPr>
        <p:spPr>
          <a:xfrm>
            <a:off x="10707624" y="174650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val 75"/>
          <p:cNvSpPr/>
          <p:nvPr/>
        </p:nvSpPr>
        <p:spPr>
          <a:xfrm>
            <a:off x="10707624" y="224942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val 76"/>
          <p:cNvSpPr/>
          <p:nvPr/>
        </p:nvSpPr>
        <p:spPr>
          <a:xfrm>
            <a:off x="10707624" y="275234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val 77"/>
          <p:cNvSpPr/>
          <p:nvPr/>
        </p:nvSpPr>
        <p:spPr>
          <a:xfrm>
            <a:off x="10707624" y="325526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val 78"/>
          <p:cNvSpPr/>
          <p:nvPr/>
        </p:nvSpPr>
        <p:spPr>
          <a:xfrm>
            <a:off x="10707624" y="375818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val 79"/>
          <p:cNvSpPr/>
          <p:nvPr/>
        </p:nvSpPr>
        <p:spPr>
          <a:xfrm>
            <a:off x="10707624" y="426110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val 80"/>
          <p:cNvSpPr/>
          <p:nvPr/>
        </p:nvSpPr>
        <p:spPr>
          <a:xfrm>
            <a:off x="10341864" y="2039112"/>
            <a:ext cx="164592" cy="164592"/>
          </a:xfrm>
          <a:prstGeom prst="ellipse">
            <a:avLst/>
          </a:prstGeom>
          <a:solidFill>
            <a:srgbClr val="DB7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Oval 81"/>
          <p:cNvSpPr/>
          <p:nvPr/>
        </p:nvSpPr>
        <p:spPr>
          <a:xfrm>
            <a:off x="7461504" y="3895344"/>
            <a:ext cx="164592" cy="164592"/>
          </a:xfrm>
          <a:prstGeom prst="ellipse">
            <a:avLst/>
          </a:prstGeom>
          <a:solidFill>
            <a:srgbClr val="DB7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Oval 82"/>
          <p:cNvSpPr/>
          <p:nvPr/>
        </p:nvSpPr>
        <p:spPr>
          <a:xfrm>
            <a:off x="9838944" y="3877056"/>
            <a:ext cx="164592" cy="164592"/>
          </a:xfrm>
          <a:prstGeom prst="ellipse">
            <a:avLst/>
          </a:prstGeom>
          <a:solidFill>
            <a:srgbClr val="DB7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Oval 83"/>
          <p:cNvSpPr/>
          <p:nvPr/>
        </p:nvSpPr>
        <p:spPr>
          <a:xfrm>
            <a:off x="8138160" y="2194560"/>
            <a:ext cx="182880" cy="182880"/>
          </a:xfrm>
          <a:prstGeom prst="ellipse">
            <a:avLst/>
          </a:prstGeom>
          <a:solidFill>
            <a:srgbClr val="227C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7818120" y="1847088"/>
            <a:ext cx="411480" cy="365760"/>
          </a:xfrm>
          <a:prstGeom prst="rect">
            <a:avLst/>
          </a:prstGeom>
          <a:noFill/>
        </p:spPr>
        <p:txBody>
          <a:bodyPr wrap="square" anchor="t">
            <a:spAutoFit/>
          </a:bodyPr>
          <a:lstStyle/>
          <a:p>
            <a:pPr algn="r"/>
            <a:r>
              <a:rPr sz="1700" b="1">
                <a:solidFill>
                  <a:srgbClr val="227C9D"/>
                </a:solidFill>
                <a:latin typeface="Helvetica Neue"/>
              </a:rPr>
              <a:t>A</a:t>
            </a:r>
          </a:p>
        </p:txBody>
      </p:sp>
      <p:sp>
        <p:nvSpPr>
          <p:cNvPr id="86" name="Oval 85"/>
          <p:cNvSpPr/>
          <p:nvPr/>
        </p:nvSpPr>
        <p:spPr>
          <a:xfrm>
            <a:off x="9144000" y="3200400"/>
            <a:ext cx="182880" cy="182880"/>
          </a:xfrm>
          <a:prstGeom prst="ellipse">
            <a:avLst/>
          </a:prstGeom>
          <a:solidFill>
            <a:srgbClr val="227C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8823960" y="2852928"/>
            <a:ext cx="411480" cy="365760"/>
          </a:xfrm>
          <a:prstGeom prst="rect">
            <a:avLst/>
          </a:prstGeom>
          <a:noFill/>
        </p:spPr>
        <p:txBody>
          <a:bodyPr wrap="square" anchor="t">
            <a:spAutoFit/>
          </a:bodyPr>
          <a:lstStyle/>
          <a:p>
            <a:pPr algn="r"/>
            <a:r>
              <a:rPr sz="1700" b="1">
                <a:solidFill>
                  <a:srgbClr val="227C9D"/>
                </a:solidFill>
                <a:latin typeface="Helvetica Neue"/>
              </a:rPr>
              <a:t>B</a:t>
            </a:r>
          </a:p>
        </p:txBody>
      </p:sp>
      <p:sp>
        <p:nvSpPr>
          <p:cNvPr id="88" name="TextBox 87"/>
          <p:cNvSpPr txBox="1"/>
          <p:nvPr/>
        </p:nvSpPr>
        <p:spPr>
          <a:xfrm>
            <a:off x="7132320" y="4526280"/>
            <a:ext cx="4572000" cy="365760"/>
          </a:xfrm>
          <a:prstGeom prst="rect">
            <a:avLst/>
          </a:prstGeom>
          <a:noFill/>
        </p:spPr>
        <p:txBody>
          <a:bodyPr wrap="square" anchor="t">
            <a:spAutoFit/>
          </a:bodyPr>
          <a:lstStyle/>
          <a:p>
            <a:pPr algn="l"/>
            <a:r>
              <a:rPr sz="1600" b="0">
                <a:solidFill>
                  <a:srgbClr val="227C9D"/>
                </a:solidFill>
                <a:latin typeface="Helvetica Neue"/>
              </a:rPr>
              <a:t>—  </a:t>
            </a:r>
            <a:r>
              <a:rPr sz="1600" b="0">
                <a:solidFill>
                  <a:srgbClr val="243136"/>
                </a:solidFill>
                <a:latin typeface="Helvetica Neue"/>
              </a:rPr>
              <a:t>Not a route geometry</a:t>
            </a:r>
          </a:p>
        </p:txBody>
      </p:sp>
      <p:sp>
        <p:nvSpPr>
          <p:cNvPr id="89" name="TextBox 88"/>
          <p:cNvSpPr txBox="1"/>
          <p:nvPr/>
        </p:nvSpPr>
        <p:spPr>
          <a:xfrm>
            <a:off x="7132320" y="4892040"/>
            <a:ext cx="4572000" cy="365760"/>
          </a:xfrm>
          <a:prstGeom prst="rect">
            <a:avLst/>
          </a:prstGeom>
          <a:noFill/>
        </p:spPr>
        <p:txBody>
          <a:bodyPr wrap="square" anchor="t">
            <a:spAutoFit/>
          </a:bodyPr>
          <a:lstStyle/>
          <a:p>
            <a:pPr algn="l"/>
            <a:r>
              <a:rPr sz="1600" b="0">
                <a:solidFill>
                  <a:srgbClr val="227C9D"/>
                </a:solidFill>
                <a:latin typeface="Helvetica Neue"/>
              </a:rPr>
              <a:t>—  </a:t>
            </a:r>
            <a:r>
              <a:rPr sz="1600" b="0">
                <a:solidFill>
                  <a:srgbClr val="243136"/>
                </a:solidFill>
                <a:latin typeface="Helvetica Neue"/>
              </a:rPr>
              <a:t>A network-distance query</a:t>
            </a:r>
          </a:p>
        </p:txBody>
      </p:sp>
      <p:sp>
        <p:nvSpPr>
          <p:cNvPr id="90" name="TextBox 89"/>
          <p:cNvSpPr txBox="1"/>
          <p:nvPr/>
        </p:nvSpPr>
        <p:spPr>
          <a:xfrm>
            <a:off x="7132320" y="5257800"/>
            <a:ext cx="4572000" cy="365760"/>
          </a:xfrm>
          <a:prstGeom prst="rect">
            <a:avLst/>
          </a:prstGeom>
          <a:noFill/>
        </p:spPr>
        <p:txBody>
          <a:bodyPr wrap="square" anchor="t">
            <a:spAutoFit/>
          </a:bodyPr>
          <a:lstStyle/>
          <a:p>
            <a:pPr algn="l"/>
            <a:r>
              <a:rPr sz="1600" b="0">
                <a:solidFill>
                  <a:srgbClr val="227C9D"/>
                </a:solidFill>
                <a:latin typeface="Helvetica Neue"/>
              </a:rPr>
              <a:t>—  </a:t>
            </a:r>
            <a:r>
              <a:rPr sz="1600" b="0">
                <a:solidFill>
                  <a:srgbClr val="243136"/>
                </a:solidFill>
                <a:latin typeface="Helvetica Neue"/>
              </a:rPr>
              <a:t>Values attached to every node</a:t>
            </a:r>
          </a:p>
        </p:txBody>
      </p:sp>
      <p:sp>
        <p:nvSpPr>
          <p:cNvPr id="91" name="TextBox 90"/>
          <p:cNvSpPr txBox="1"/>
          <p:nvPr/>
        </p:nvSpPr>
        <p:spPr>
          <a:xfrm>
            <a:off x="666597" y="5715000"/>
            <a:ext cx="10789920" cy="548640"/>
          </a:xfrm>
          <a:prstGeom prst="rect">
            <a:avLst/>
          </a:prstGeom>
          <a:noFill/>
        </p:spPr>
        <p:txBody>
          <a:bodyPr wrap="square" anchor="t">
            <a:spAutoFit/>
          </a:bodyPr>
          <a:lstStyle/>
          <a:p>
            <a:pPr algn="l"/>
            <a:r>
              <a:rPr sz="1900" b="0">
                <a:solidFill>
                  <a:srgbClr val="243136"/>
                </a:solidFill>
                <a:latin typeface="Helvetica Neue"/>
              </a:rPr>
              <a:t>Pandana turns a network into a set of repeated accessibility measurements.</a:t>
            </a:r>
          </a:p>
        </p:txBody>
      </p:sp>
      <p:sp>
        <p:nvSpPr>
          <p:cNvPr id="92" name="TextBox 91"/>
          <p:cNvSpPr txBox="1"/>
          <p:nvPr/>
        </p:nvSpPr>
        <p:spPr>
          <a:xfrm>
            <a:off x="11594592" y="6515100"/>
            <a:ext cx="475488" cy="237744"/>
          </a:xfrm>
          <a:prstGeom prst="rect">
            <a:avLst/>
          </a:prstGeom>
          <a:noFill/>
        </p:spPr>
        <p:txBody>
          <a:bodyPr wrap="square" anchor="t">
            <a:spAutoFit/>
          </a:bodyPr>
          <a:lstStyle/>
          <a:p>
            <a:pPr algn="l"/>
            <a:r>
              <a:rPr sz="1200" b="0">
                <a:solidFill>
                  <a:srgbClr val="5B676A"/>
                </a:solidFill>
                <a:latin typeface="Helvetica Neue"/>
              </a:rPr>
              <a:t>33</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TextBox 1"/>
          <p:cNvSpPr txBox="1"/>
          <p:nvPr/>
        </p:nvSpPr>
        <p:spPr>
          <a:xfrm>
            <a:off x="590702" y="437997"/>
            <a:ext cx="11009376" cy="1047902"/>
          </a:xfrm>
          <a:prstGeom prst="rect">
            <a:avLst/>
          </a:prstGeom>
          <a:noFill/>
        </p:spPr>
        <p:txBody>
          <a:bodyPr wrap="square" anchor="t">
            <a:spAutoFit/>
          </a:bodyPr>
          <a:lstStyle/>
          <a:p>
            <a:pPr algn="l"/>
            <a:r>
              <a:rPr sz="3450" b="1">
                <a:solidFill>
                  <a:srgbClr val="243136"/>
                </a:solidFill>
                <a:latin typeface="Helvetica Neue"/>
              </a:rPr>
              <a:t>From nearest POI to accessibility</a:t>
            </a:r>
          </a:p>
        </p:txBody>
      </p:sp>
      <p:sp>
        <p:nvSpPr>
          <p:cNvPr id="3" name="Rounded Rectangle 2"/>
          <p:cNvSpPr/>
          <p:nvPr/>
        </p:nvSpPr>
        <p:spPr>
          <a:xfrm>
            <a:off x="667512" y="1554480"/>
            <a:ext cx="3474720" cy="1234440"/>
          </a:xfrm>
          <a:prstGeom prst="roundRect">
            <a:avLst>
              <a:gd name="adj" fmla="val 12000"/>
            </a:avLst>
          </a:prstGeom>
          <a:solidFill>
            <a:srgbClr val="ECE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04672" y="1645920"/>
            <a:ext cx="3200400" cy="365760"/>
          </a:xfrm>
          <a:prstGeom prst="rect">
            <a:avLst/>
          </a:prstGeom>
          <a:noFill/>
        </p:spPr>
        <p:txBody>
          <a:bodyPr wrap="square" anchor="t">
            <a:spAutoFit/>
          </a:bodyPr>
          <a:lstStyle/>
          <a:p>
            <a:pPr algn="l"/>
            <a:r>
              <a:rPr sz="1800" b="1">
                <a:solidFill>
                  <a:srgbClr val="227C9D"/>
                </a:solidFill>
                <a:latin typeface="Helvetica Neue"/>
              </a:rPr>
              <a:t>Nearest</a:t>
            </a:r>
          </a:p>
        </p:txBody>
      </p:sp>
      <p:sp>
        <p:nvSpPr>
          <p:cNvPr id="5" name="TextBox 4"/>
          <p:cNvSpPr txBox="1"/>
          <p:nvPr/>
        </p:nvSpPr>
        <p:spPr>
          <a:xfrm>
            <a:off x="804672" y="2011680"/>
            <a:ext cx="3200400" cy="731520"/>
          </a:xfrm>
          <a:prstGeom prst="rect">
            <a:avLst/>
          </a:prstGeom>
          <a:noFill/>
        </p:spPr>
        <p:txBody>
          <a:bodyPr wrap="square" anchor="t">
            <a:spAutoFit/>
          </a:bodyPr>
          <a:lstStyle/>
          <a:p>
            <a:pPr algn="l"/>
            <a:r>
              <a:rPr sz="1700" b="0">
                <a:solidFill>
                  <a:srgbClr val="243136"/>
                </a:solidFill>
                <a:latin typeface="Helvetica Neue"/>
              </a:rPr>
              <a:t>What is the nearest grocery store?</a:t>
            </a:r>
          </a:p>
        </p:txBody>
      </p:sp>
      <p:sp>
        <p:nvSpPr>
          <p:cNvPr id="6" name="Rounded Rectangle 5"/>
          <p:cNvSpPr/>
          <p:nvPr/>
        </p:nvSpPr>
        <p:spPr>
          <a:xfrm>
            <a:off x="4370831" y="1554480"/>
            <a:ext cx="3474720" cy="1234440"/>
          </a:xfrm>
          <a:prstGeom prst="roundRect">
            <a:avLst>
              <a:gd name="adj" fmla="val 12000"/>
            </a:avLst>
          </a:prstGeom>
          <a:solidFill>
            <a:srgbClr val="ECE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07992" y="1645920"/>
            <a:ext cx="3200400" cy="365760"/>
          </a:xfrm>
          <a:prstGeom prst="rect">
            <a:avLst/>
          </a:prstGeom>
          <a:noFill/>
        </p:spPr>
        <p:txBody>
          <a:bodyPr wrap="square" anchor="t">
            <a:spAutoFit/>
          </a:bodyPr>
          <a:lstStyle/>
          <a:p>
            <a:pPr algn="l"/>
            <a:r>
              <a:rPr sz="1800" b="1">
                <a:solidFill>
                  <a:srgbClr val="227C9D"/>
                </a:solidFill>
                <a:latin typeface="Helvetica Neue"/>
              </a:rPr>
              <a:t>Count</a:t>
            </a:r>
          </a:p>
        </p:txBody>
      </p:sp>
      <p:sp>
        <p:nvSpPr>
          <p:cNvPr id="8" name="TextBox 7"/>
          <p:cNvSpPr txBox="1"/>
          <p:nvPr/>
        </p:nvSpPr>
        <p:spPr>
          <a:xfrm>
            <a:off x="4507992" y="2011680"/>
            <a:ext cx="3200400" cy="731520"/>
          </a:xfrm>
          <a:prstGeom prst="rect">
            <a:avLst/>
          </a:prstGeom>
          <a:noFill/>
        </p:spPr>
        <p:txBody>
          <a:bodyPr wrap="square" anchor="t">
            <a:spAutoFit/>
          </a:bodyPr>
          <a:lstStyle/>
          <a:p>
            <a:pPr algn="l"/>
            <a:r>
              <a:rPr sz="1700" b="0">
                <a:solidFill>
                  <a:srgbClr val="243136"/>
                </a:solidFill>
                <a:latin typeface="Helvetica Neue"/>
              </a:rPr>
              <a:t>How many parks are reachable within 800 m?</a:t>
            </a:r>
          </a:p>
        </p:txBody>
      </p:sp>
      <p:sp>
        <p:nvSpPr>
          <p:cNvPr id="9" name="Rounded Rectangle 8"/>
          <p:cNvSpPr/>
          <p:nvPr/>
        </p:nvSpPr>
        <p:spPr>
          <a:xfrm>
            <a:off x="8074152" y="1554480"/>
            <a:ext cx="3474720" cy="1234440"/>
          </a:xfrm>
          <a:prstGeom prst="roundRect">
            <a:avLst>
              <a:gd name="adj" fmla="val 12000"/>
            </a:avLst>
          </a:prstGeom>
          <a:solidFill>
            <a:srgbClr val="ECE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11312" y="1645920"/>
            <a:ext cx="3200400" cy="365760"/>
          </a:xfrm>
          <a:prstGeom prst="rect">
            <a:avLst/>
          </a:prstGeom>
          <a:noFill/>
        </p:spPr>
        <p:txBody>
          <a:bodyPr wrap="square" anchor="t">
            <a:spAutoFit/>
          </a:bodyPr>
          <a:lstStyle/>
          <a:p>
            <a:pPr algn="l"/>
            <a:r>
              <a:rPr sz="1800" b="1">
                <a:solidFill>
                  <a:srgbClr val="227C9D"/>
                </a:solidFill>
                <a:latin typeface="Helvetica Neue"/>
              </a:rPr>
              <a:t>Gaps</a:t>
            </a:r>
          </a:p>
        </p:txBody>
      </p:sp>
      <p:sp>
        <p:nvSpPr>
          <p:cNvPr id="11" name="TextBox 10"/>
          <p:cNvSpPr txBox="1"/>
          <p:nvPr/>
        </p:nvSpPr>
        <p:spPr>
          <a:xfrm>
            <a:off x="8211312" y="2011680"/>
            <a:ext cx="3200400" cy="731520"/>
          </a:xfrm>
          <a:prstGeom prst="rect">
            <a:avLst/>
          </a:prstGeom>
          <a:noFill/>
        </p:spPr>
        <p:txBody>
          <a:bodyPr wrap="square" anchor="t">
            <a:spAutoFit/>
          </a:bodyPr>
          <a:lstStyle/>
          <a:p>
            <a:pPr algn="l"/>
            <a:r>
              <a:rPr sz="1700" b="0">
                <a:solidFill>
                  <a:srgbClr val="243136"/>
                </a:solidFill>
                <a:latin typeface="Helvetica Neue"/>
              </a:rPr>
              <a:t>Which areas have poor access to rapid transit?</a:t>
            </a:r>
          </a:p>
        </p:txBody>
      </p:sp>
      <p:cxnSp>
        <p:nvCxnSpPr>
          <p:cNvPr id="12" name="Connector 11"/>
          <p:cNvCxnSpPr/>
          <p:nvPr/>
        </p:nvCxnSpPr>
        <p:spPr>
          <a:xfrm>
            <a:off x="1188720" y="4069080"/>
            <a:ext cx="9692640" cy="0"/>
          </a:xfrm>
          <a:prstGeom prst="line">
            <a:avLst/>
          </a:prstGeom>
          <a:ln w="19050">
            <a:solidFill>
              <a:srgbClr val="5B676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188720" y="4014216"/>
            <a:ext cx="0" cy="109728"/>
          </a:xfrm>
          <a:prstGeom prst="line">
            <a:avLst/>
          </a:prstGeom>
          <a:ln w="12700">
            <a:solidFill>
              <a:srgbClr val="5B676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31520" y="4160520"/>
            <a:ext cx="914400" cy="274320"/>
          </a:xfrm>
          <a:prstGeom prst="rect">
            <a:avLst/>
          </a:prstGeom>
          <a:noFill/>
        </p:spPr>
        <p:txBody>
          <a:bodyPr wrap="square" anchor="t">
            <a:spAutoFit/>
          </a:bodyPr>
          <a:lstStyle/>
          <a:p>
            <a:pPr algn="ctr"/>
            <a:r>
              <a:rPr sz="1200" b="0">
                <a:solidFill>
                  <a:srgbClr val="5B676A"/>
                </a:solidFill>
                <a:latin typeface="Helvetica Neue"/>
              </a:rPr>
              <a:t>0 m</a:t>
            </a:r>
          </a:p>
        </p:txBody>
      </p:sp>
      <p:cxnSp>
        <p:nvCxnSpPr>
          <p:cNvPr id="15" name="Connector 14"/>
          <p:cNvCxnSpPr/>
          <p:nvPr/>
        </p:nvCxnSpPr>
        <p:spPr>
          <a:xfrm>
            <a:off x="4419600" y="4014216"/>
            <a:ext cx="0" cy="109728"/>
          </a:xfrm>
          <a:prstGeom prst="line">
            <a:avLst/>
          </a:prstGeom>
          <a:ln w="12700">
            <a:solidFill>
              <a:srgbClr val="5B676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962399" y="4160520"/>
            <a:ext cx="914400" cy="274320"/>
          </a:xfrm>
          <a:prstGeom prst="rect">
            <a:avLst/>
          </a:prstGeom>
          <a:noFill/>
        </p:spPr>
        <p:txBody>
          <a:bodyPr wrap="square" anchor="t">
            <a:spAutoFit/>
          </a:bodyPr>
          <a:lstStyle/>
          <a:p>
            <a:pPr algn="ctr"/>
            <a:r>
              <a:rPr sz="1200" b="0">
                <a:solidFill>
                  <a:srgbClr val="5B676A"/>
                </a:solidFill>
                <a:latin typeface="Helvetica Neue"/>
              </a:rPr>
              <a:t>400 m</a:t>
            </a:r>
          </a:p>
        </p:txBody>
      </p:sp>
      <p:cxnSp>
        <p:nvCxnSpPr>
          <p:cNvPr id="17" name="Connector 16"/>
          <p:cNvCxnSpPr/>
          <p:nvPr/>
        </p:nvCxnSpPr>
        <p:spPr>
          <a:xfrm>
            <a:off x="7650480" y="4014216"/>
            <a:ext cx="0" cy="109728"/>
          </a:xfrm>
          <a:prstGeom prst="line">
            <a:avLst/>
          </a:prstGeom>
          <a:ln w="12700">
            <a:solidFill>
              <a:srgbClr val="5B676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193280" y="4160520"/>
            <a:ext cx="914400" cy="274320"/>
          </a:xfrm>
          <a:prstGeom prst="rect">
            <a:avLst/>
          </a:prstGeom>
          <a:noFill/>
        </p:spPr>
        <p:txBody>
          <a:bodyPr wrap="square" anchor="t">
            <a:spAutoFit/>
          </a:bodyPr>
          <a:lstStyle/>
          <a:p>
            <a:pPr algn="ctr"/>
            <a:r>
              <a:rPr sz="1200" b="0">
                <a:solidFill>
                  <a:srgbClr val="5B676A"/>
                </a:solidFill>
                <a:latin typeface="Helvetica Neue"/>
              </a:rPr>
              <a:t>800 m</a:t>
            </a:r>
          </a:p>
        </p:txBody>
      </p:sp>
      <p:cxnSp>
        <p:nvCxnSpPr>
          <p:cNvPr id="19" name="Connector 18"/>
          <p:cNvCxnSpPr/>
          <p:nvPr/>
        </p:nvCxnSpPr>
        <p:spPr>
          <a:xfrm>
            <a:off x="10881360" y="4014216"/>
            <a:ext cx="0" cy="109728"/>
          </a:xfrm>
          <a:prstGeom prst="line">
            <a:avLst/>
          </a:prstGeom>
          <a:ln w="12700">
            <a:solidFill>
              <a:srgbClr val="5B676A"/>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0424160" y="4160520"/>
            <a:ext cx="914400" cy="274320"/>
          </a:xfrm>
          <a:prstGeom prst="rect">
            <a:avLst/>
          </a:prstGeom>
          <a:noFill/>
        </p:spPr>
        <p:txBody>
          <a:bodyPr wrap="square" anchor="t">
            <a:spAutoFit/>
          </a:bodyPr>
          <a:lstStyle/>
          <a:p>
            <a:pPr algn="ctr"/>
            <a:r>
              <a:rPr sz="1200" b="0">
                <a:solidFill>
                  <a:srgbClr val="5B676A"/>
                </a:solidFill>
                <a:latin typeface="Helvetica Neue"/>
              </a:rPr>
              <a:t>1200 m</a:t>
            </a:r>
          </a:p>
        </p:txBody>
      </p:sp>
      <p:sp>
        <p:nvSpPr>
          <p:cNvPr id="21" name="Rectangle 20"/>
          <p:cNvSpPr/>
          <p:nvPr/>
        </p:nvSpPr>
        <p:spPr>
          <a:xfrm>
            <a:off x="1188720" y="3941064"/>
            <a:ext cx="6461760" cy="256032"/>
          </a:xfrm>
          <a:prstGeom prst="rect">
            <a:avLst/>
          </a:prstGeom>
          <a:solidFill>
            <a:srgbClr val="8FD4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2" name="Connector 21"/>
          <p:cNvCxnSpPr/>
          <p:nvPr/>
        </p:nvCxnSpPr>
        <p:spPr>
          <a:xfrm>
            <a:off x="7650480" y="3566160"/>
            <a:ext cx="0" cy="868680"/>
          </a:xfrm>
          <a:prstGeom prst="line">
            <a:avLst/>
          </a:prstGeom>
          <a:ln w="28575">
            <a:solidFill>
              <a:srgbClr val="227C9D"/>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187440" y="3200400"/>
            <a:ext cx="2926080" cy="365760"/>
          </a:xfrm>
          <a:prstGeom prst="rect">
            <a:avLst/>
          </a:prstGeom>
          <a:noFill/>
        </p:spPr>
        <p:txBody>
          <a:bodyPr wrap="square" anchor="t">
            <a:spAutoFit/>
          </a:bodyPr>
          <a:lstStyle/>
          <a:p>
            <a:pPr algn="ctr"/>
            <a:r>
              <a:rPr sz="1500" b="1">
                <a:solidFill>
                  <a:srgbClr val="227C9D"/>
                </a:solidFill>
                <a:latin typeface="Helvetica Neue"/>
              </a:rPr>
              <a:t>budget C = 800 m</a:t>
            </a:r>
          </a:p>
        </p:txBody>
      </p:sp>
      <p:sp>
        <p:nvSpPr>
          <p:cNvPr id="24" name="Oval 23"/>
          <p:cNvSpPr/>
          <p:nvPr/>
        </p:nvSpPr>
        <p:spPr>
          <a:xfrm>
            <a:off x="1864614" y="3977640"/>
            <a:ext cx="182880" cy="182880"/>
          </a:xfrm>
          <a:prstGeom prst="ellipse">
            <a:avLst/>
          </a:prstGeom>
          <a:solidFill>
            <a:srgbClr val="227C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681734" y="3566160"/>
            <a:ext cx="548640" cy="320040"/>
          </a:xfrm>
          <a:prstGeom prst="rect">
            <a:avLst/>
          </a:prstGeom>
          <a:noFill/>
        </p:spPr>
        <p:txBody>
          <a:bodyPr wrap="square" anchor="t">
            <a:spAutoFit/>
          </a:bodyPr>
          <a:lstStyle/>
          <a:p>
            <a:pPr algn="ctr"/>
            <a:r>
              <a:rPr sz="1500" b="1">
                <a:solidFill>
                  <a:srgbClr val="227C9D"/>
                </a:solidFill>
                <a:latin typeface="Helvetica Neue"/>
              </a:rPr>
              <a:t>B</a:t>
            </a:r>
          </a:p>
        </p:txBody>
      </p:sp>
      <p:sp>
        <p:nvSpPr>
          <p:cNvPr id="26" name="Oval 25"/>
          <p:cNvSpPr/>
          <p:nvPr/>
        </p:nvSpPr>
        <p:spPr>
          <a:xfrm>
            <a:off x="2551176" y="3977640"/>
            <a:ext cx="182880" cy="182880"/>
          </a:xfrm>
          <a:prstGeom prst="ellipse">
            <a:avLst/>
          </a:prstGeom>
          <a:solidFill>
            <a:srgbClr val="227C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368296" y="3566160"/>
            <a:ext cx="548640" cy="320040"/>
          </a:xfrm>
          <a:prstGeom prst="rect">
            <a:avLst/>
          </a:prstGeom>
          <a:noFill/>
        </p:spPr>
        <p:txBody>
          <a:bodyPr wrap="square" anchor="t">
            <a:spAutoFit/>
          </a:bodyPr>
          <a:lstStyle/>
          <a:p>
            <a:pPr algn="ctr"/>
            <a:r>
              <a:rPr sz="1500" b="1">
                <a:solidFill>
                  <a:srgbClr val="227C9D"/>
                </a:solidFill>
                <a:latin typeface="Helvetica Neue"/>
              </a:rPr>
              <a:t>A</a:t>
            </a:r>
          </a:p>
        </p:txBody>
      </p:sp>
      <p:sp>
        <p:nvSpPr>
          <p:cNvPr id="28" name="Oval 27"/>
          <p:cNvSpPr/>
          <p:nvPr/>
        </p:nvSpPr>
        <p:spPr>
          <a:xfrm>
            <a:off x="8770620" y="3977640"/>
            <a:ext cx="182880" cy="182880"/>
          </a:xfrm>
          <a:prstGeom prst="ellipse">
            <a:avLst/>
          </a:prstGeom>
          <a:solidFill>
            <a:srgbClr val="5B67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587740" y="3566160"/>
            <a:ext cx="548640" cy="320040"/>
          </a:xfrm>
          <a:prstGeom prst="rect">
            <a:avLst/>
          </a:prstGeom>
          <a:noFill/>
        </p:spPr>
        <p:txBody>
          <a:bodyPr wrap="square" anchor="t">
            <a:spAutoFit/>
          </a:bodyPr>
          <a:lstStyle/>
          <a:p>
            <a:pPr algn="ctr"/>
            <a:r>
              <a:rPr sz="1500" b="1">
                <a:solidFill>
                  <a:srgbClr val="5B676A"/>
                </a:solidFill>
                <a:latin typeface="Helvetica Neue"/>
              </a:rPr>
              <a:t>X</a:t>
            </a:r>
          </a:p>
        </p:txBody>
      </p:sp>
      <p:sp>
        <p:nvSpPr>
          <p:cNvPr id="30" name="TextBox 29"/>
          <p:cNvSpPr txBox="1"/>
          <p:nvPr/>
        </p:nvSpPr>
        <p:spPr>
          <a:xfrm>
            <a:off x="667512" y="4617720"/>
            <a:ext cx="6400800" cy="457200"/>
          </a:xfrm>
          <a:prstGeom prst="rect">
            <a:avLst/>
          </a:prstGeom>
          <a:noFill/>
        </p:spPr>
        <p:txBody>
          <a:bodyPr wrap="square" anchor="t">
            <a:spAutoFit/>
          </a:bodyPr>
          <a:lstStyle/>
          <a:p>
            <a:pPr algn="l"/>
            <a:r>
              <a:rPr sz="2000" b="1">
                <a:solidFill>
                  <a:srgbClr val="227C9D"/>
                </a:solidFill>
                <a:latin typeface="Helvetica Neue"/>
              </a:rPr>
              <a:t>Accessible</a:t>
            </a:r>
            <a:r>
              <a:rPr sz="2000" b="0">
                <a:solidFill>
                  <a:srgbClr val="243136"/>
                </a:solidFill>
                <a:latin typeface="Helvetica Neue"/>
              </a:rPr>
              <a:t> if network distance ≤ budget</a:t>
            </a:r>
          </a:p>
        </p:txBody>
      </p:sp>
      <p:sp>
        <p:nvSpPr>
          <p:cNvPr id="31" name="TextBox 30"/>
          <p:cNvSpPr txBox="1"/>
          <p:nvPr/>
        </p:nvSpPr>
        <p:spPr>
          <a:xfrm>
            <a:off x="7223760" y="4663440"/>
            <a:ext cx="4297680" cy="411480"/>
          </a:xfrm>
          <a:prstGeom prst="rect">
            <a:avLst/>
          </a:prstGeom>
          <a:noFill/>
        </p:spPr>
        <p:txBody>
          <a:bodyPr wrap="square" anchor="t">
            <a:spAutoFit/>
          </a:bodyPr>
          <a:lstStyle/>
          <a:p>
            <a:pPr algn="r"/>
            <a:r>
              <a:rPr sz="1700" b="0">
                <a:solidFill>
                  <a:srgbClr val="5B676A"/>
                </a:solidFill>
                <a:latin typeface="Helvetica Neue"/>
              </a:rPr>
              <a:t>Accessible</a:t>
            </a:r>
            <a:r>
              <a:rPr sz="1700" b="0" baseline="-25000">
                <a:solidFill>
                  <a:srgbClr val="5B676A"/>
                </a:solidFill>
                <a:latin typeface="Helvetica Neue"/>
              </a:rPr>
              <a:t>i</a:t>
            </a:r>
            <a:r>
              <a:rPr sz="1700" b="0">
                <a:solidFill>
                  <a:srgbClr val="5B676A"/>
                </a:solidFill>
                <a:latin typeface="Helvetica Neue"/>
              </a:rPr>
              <a:t> = 1[ d</a:t>
            </a:r>
            <a:r>
              <a:rPr sz="1700" b="0" baseline="-25000">
                <a:solidFill>
                  <a:srgbClr val="5B676A"/>
                </a:solidFill>
                <a:latin typeface="Helvetica Neue"/>
              </a:rPr>
              <a:t>i</a:t>
            </a:r>
            <a:r>
              <a:rPr sz="1700" b="0">
                <a:solidFill>
                  <a:srgbClr val="5B676A"/>
                </a:solidFill>
                <a:latin typeface="Helvetica Neue"/>
              </a:rPr>
              <a:t> ≤ C ]</a:t>
            </a:r>
          </a:p>
        </p:txBody>
      </p:sp>
      <p:sp>
        <p:nvSpPr>
          <p:cNvPr id="32" name="TextBox 31"/>
          <p:cNvSpPr txBox="1"/>
          <p:nvPr/>
        </p:nvSpPr>
        <p:spPr>
          <a:xfrm>
            <a:off x="666597" y="5715000"/>
            <a:ext cx="10789920" cy="548640"/>
          </a:xfrm>
          <a:prstGeom prst="rect">
            <a:avLst/>
          </a:prstGeom>
          <a:noFill/>
        </p:spPr>
        <p:txBody>
          <a:bodyPr wrap="square" anchor="t">
            <a:spAutoFit/>
          </a:bodyPr>
          <a:lstStyle/>
          <a:p>
            <a:pPr algn="l"/>
            <a:r>
              <a:rPr sz="1900" b="0">
                <a:solidFill>
                  <a:srgbClr val="243136"/>
                </a:solidFill>
                <a:latin typeface="Helvetica Neue"/>
              </a:rPr>
              <a:t>The query gives a distance. A threshold turns it into an access answer.</a:t>
            </a:r>
          </a:p>
        </p:txBody>
      </p:sp>
      <p:sp>
        <p:nvSpPr>
          <p:cNvPr id="33" name="TextBox 32"/>
          <p:cNvSpPr txBox="1"/>
          <p:nvPr/>
        </p:nvSpPr>
        <p:spPr>
          <a:xfrm>
            <a:off x="11594592" y="6515100"/>
            <a:ext cx="475488" cy="237744"/>
          </a:xfrm>
          <a:prstGeom prst="rect">
            <a:avLst/>
          </a:prstGeom>
          <a:noFill/>
        </p:spPr>
        <p:txBody>
          <a:bodyPr wrap="square" anchor="t">
            <a:spAutoFit/>
          </a:bodyPr>
          <a:lstStyle/>
          <a:p>
            <a:pPr algn="l"/>
            <a:r>
              <a:rPr sz="1200" b="0">
                <a:solidFill>
                  <a:srgbClr val="5B676A"/>
                </a:solidFill>
                <a:latin typeface="Helvetica Neue"/>
              </a:rPr>
              <a:t>34</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TextBox 1"/>
          <p:cNvSpPr txBox="1"/>
          <p:nvPr/>
        </p:nvSpPr>
        <p:spPr>
          <a:xfrm>
            <a:off x="590702" y="437997"/>
            <a:ext cx="11009376" cy="1047902"/>
          </a:xfrm>
          <a:prstGeom prst="rect">
            <a:avLst/>
          </a:prstGeom>
          <a:noFill/>
        </p:spPr>
        <p:txBody>
          <a:bodyPr wrap="square" anchor="t">
            <a:spAutoFit/>
          </a:bodyPr>
          <a:lstStyle/>
          <a:p>
            <a:pPr algn="l"/>
            <a:r>
              <a:rPr sz="3450" b="1">
                <a:solidFill>
                  <a:srgbClr val="243136"/>
                </a:solidFill>
                <a:latin typeface="Helvetica Neue"/>
              </a:rPr>
              <a:t>Who can reach rapid transit</a:t>
            </a:r>
          </a:p>
          <a:p>
            <a:pPr algn="l"/>
            <a:r>
              <a:rPr sz="3450" b="1">
                <a:solidFill>
                  <a:srgbClr val="243136"/>
                </a:solidFill>
                <a:latin typeface="Helvetica Neue"/>
              </a:rPr>
              <a:t>within a 10-minute walk?</a:t>
            </a:r>
          </a:p>
        </p:txBody>
      </p:sp>
      <p:sp>
        <p:nvSpPr>
          <p:cNvPr id="3" name="TextBox 2"/>
          <p:cNvSpPr txBox="1"/>
          <p:nvPr/>
        </p:nvSpPr>
        <p:spPr>
          <a:xfrm>
            <a:off x="667512" y="1783080"/>
            <a:ext cx="5486400" cy="457200"/>
          </a:xfrm>
          <a:prstGeom prst="rect">
            <a:avLst/>
          </a:prstGeom>
          <a:noFill/>
        </p:spPr>
        <p:txBody>
          <a:bodyPr wrap="square" anchor="t">
            <a:spAutoFit/>
          </a:bodyPr>
          <a:lstStyle/>
          <a:p>
            <a:pPr algn="l"/>
            <a:r>
              <a:rPr sz="2200" b="1">
                <a:solidFill>
                  <a:srgbClr val="227C9D"/>
                </a:solidFill>
                <a:latin typeface="Helvetica Neue"/>
              </a:rPr>
              <a:t>Application · Philadelphia</a:t>
            </a:r>
          </a:p>
        </p:txBody>
      </p:sp>
      <p:sp>
        <p:nvSpPr>
          <p:cNvPr id="4" name="Oval 3"/>
          <p:cNvSpPr/>
          <p:nvPr/>
        </p:nvSpPr>
        <p:spPr>
          <a:xfrm>
            <a:off x="914400" y="2560320"/>
            <a:ext cx="1371600" cy="1371600"/>
          </a:xfrm>
          <a:prstGeom prst="ellipse">
            <a:avLst/>
          </a:prstGeom>
          <a:noFill/>
          <a:ln w="19050">
            <a:solidFill>
              <a:srgbClr val="227C9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600200" y="3246120"/>
            <a:ext cx="685800" cy="0"/>
          </a:xfrm>
          <a:prstGeom prst="line">
            <a:avLst/>
          </a:prstGeom>
          <a:ln w="19050">
            <a:solidFill>
              <a:srgbClr val="227C9D"/>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1527048" y="3172968"/>
            <a:ext cx="146304" cy="146304"/>
          </a:xfrm>
          <a:prstGeom prst="ellipse">
            <a:avLst/>
          </a:prstGeom>
          <a:solidFill>
            <a:srgbClr val="2431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606040" y="2651760"/>
            <a:ext cx="3108960" cy="411480"/>
          </a:xfrm>
          <a:prstGeom prst="rect">
            <a:avLst/>
          </a:prstGeom>
          <a:noFill/>
        </p:spPr>
        <p:txBody>
          <a:bodyPr wrap="square" anchor="t">
            <a:spAutoFit/>
          </a:bodyPr>
          <a:lstStyle/>
          <a:p>
            <a:pPr algn="l"/>
            <a:r>
              <a:rPr sz="2100" b="1">
                <a:solidFill>
                  <a:srgbClr val="227C9D"/>
                </a:solidFill>
                <a:latin typeface="Helvetica Neue"/>
              </a:rPr>
              <a:t>Proximity</a:t>
            </a:r>
          </a:p>
        </p:txBody>
      </p:sp>
      <p:sp>
        <p:nvSpPr>
          <p:cNvPr id="8" name="TextBox 7"/>
          <p:cNvSpPr txBox="1"/>
          <p:nvPr/>
        </p:nvSpPr>
        <p:spPr>
          <a:xfrm>
            <a:off x="2606040" y="3063240"/>
            <a:ext cx="3108960" cy="822960"/>
          </a:xfrm>
          <a:prstGeom prst="rect">
            <a:avLst/>
          </a:prstGeom>
          <a:noFill/>
        </p:spPr>
        <p:txBody>
          <a:bodyPr wrap="square" anchor="t">
            <a:spAutoFit/>
          </a:bodyPr>
          <a:lstStyle/>
          <a:p>
            <a:pPr algn="l"/>
            <a:r>
              <a:rPr sz="1800" b="0">
                <a:solidFill>
                  <a:srgbClr val="243136"/>
                </a:solidFill>
                <a:latin typeface="Helvetica Neue"/>
              </a:rPr>
              <a:t>800 m Euclidean buffer</a:t>
            </a:r>
          </a:p>
        </p:txBody>
      </p:sp>
      <p:cxnSp>
        <p:nvCxnSpPr>
          <p:cNvPr id="9" name="Connector 8"/>
          <p:cNvCxnSpPr/>
          <p:nvPr/>
        </p:nvCxnSpPr>
        <p:spPr>
          <a:xfrm>
            <a:off x="6355080" y="2697480"/>
            <a:ext cx="640080" cy="0"/>
          </a:xfrm>
          <a:prstGeom prst="line">
            <a:avLst/>
          </a:prstGeom>
          <a:ln w="28575">
            <a:solidFill>
              <a:srgbClr val="227C9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995160" y="2697480"/>
            <a:ext cx="0" cy="594360"/>
          </a:xfrm>
          <a:prstGeom prst="line">
            <a:avLst/>
          </a:prstGeom>
          <a:ln w="28575">
            <a:solidFill>
              <a:srgbClr val="227C9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995160" y="3291840"/>
            <a:ext cx="594360" cy="0"/>
          </a:xfrm>
          <a:prstGeom prst="line">
            <a:avLst/>
          </a:prstGeom>
          <a:ln w="28575">
            <a:solidFill>
              <a:srgbClr val="227C9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589520" y="3291840"/>
            <a:ext cx="0" cy="502920"/>
          </a:xfrm>
          <a:prstGeom prst="line">
            <a:avLst/>
          </a:prstGeom>
          <a:ln w="28575">
            <a:solidFill>
              <a:srgbClr val="227C9D"/>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6300216" y="2642616"/>
            <a:ext cx="109728" cy="109728"/>
          </a:xfrm>
          <a:prstGeom prst="ellipse">
            <a:avLst/>
          </a:prstGeom>
          <a:solidFill>
            <a:srgbClr val="227C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516368" y="3721608"/>
            <a:ext cx="146304" cy="146304"/>
          </a:xfrm>
          <a:prstGeom prst="ellipse">
            <a:avLst/>
          </a:prstGeom>
          <a:solidFill>
            <a:srgbClr val="2431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001000" y="2651760"/>
            <a:ext cx="3566160" cy="411480"/>
          </a:xfrm>
          <a:prstGeom prst="rect">
            <a:avLst/>
          </a:prstGeom>
          <a:noFill/>
        </p:spPr>
        <p:txBody>
          <a:bodyPr wrap="square" anchor="t">
            <a:spAutoFit/>
          </a:bodyPr>
          <a:lstStyle/>
          <a:p>
            <a:pPr algn="l"/>
            <a:r>
              <a:rPr sz="2100" b="1">
                <a:solidFill>
                  <a:srgbClr val="227C9D"/>
                </a:solidFill>
                <a:latin typeface="Helvetica Neue"/>
              </a:rPr>
              <a:t>Network access</a:t>
            </a:r>
          </a:p>
        </p:txBody>
      </p:sp>
      <p:sp>
        <p:nvSpPr>
          <p:cNvPr id="16" name="TextBox 15"/>
          <p:cNvSpPr txBox="1"/>
          <p:nvPr/>
        </p:nvSpPr>
        <p:spPr>
          <a:xfrm>
            <a:off x="8001000" y="3063240"/>
            <a:ext cx="3566160" cy="822960"/>
          </a:xfrm>
          <a:prstGeom prst="rect">
            <a:avLst/>
          </a:prstGeom>
          <a:noFill/>
        </p:spPr>
        <p:txBody>
          <a:bodyPr wrap="square" anchor="t">
            <a:spAutoFit/>
          </a:bodyPr>
          <a:lstStyle/>
          <a:p>
            <a:pPr algn="l"/>
            <a:r>
              <a:rPr sz="1800" b="0">
                <a:solidFill>
                  <a:srgbClr val="243136"/>
                </a:solidFill>
                <a:latin typeface="Helvetica Neue"/>
              </a:rPr>
              <a:t>800 m shortest walking-network distance</a:t>
            </a:r>
          </a:p>
        </p:txBody>
      </p:sp>
      <p:sp>
        <p:nvSpPr>
          <p:cNvPr id="17" name="TextBox 16"/>
          <p:cNvSpPr txBox="1"/>
          <p:nvPr/>
        </p:nvSpPr>
        <p:spPr>
          <a:xfrm>
            <a:off x="667512" y="4434840"/>
            <a:ext cx="3566160" cy="365760"/>
          </a:xfrm>
          <a:prstGeom prst="rect">
            <a:avLst/>
          </a:prstGeom>
          <a:noFill/>
        </p:spPr>
        <p:txBody>
          <a:bodyPr wrap="square" anchor="t">
            <a:spAutoFit/>
          </a:bodyPr>
          <a:lstStyle/>
          <a:p>
            <a:pPr algn="l"/>
            <a:r>
              <a:rPr sz="1500" b="1">
                <a:solidFill>
                  <a:srgbClr val="5B676A"/>
                </a:solidFill>
                <a:latin typeface="Helvetica Neue"/>
              </a:rPr>
              <a:t>Origins</a:t>
            </a:r>
          </a:p>
        </p:txBody>
      </p:sp>
      <p:sp>
        <p:nvSpPr>
          <p:cNvPr id="18" name="TextBox 17"/>
          <p:cNvSpPr txBox="1"/>
          <p:nvPr/>
        </p:nvSpPr>
        <p:spPr>
          <a:xfrm>
            <a:off x="667512" y="4754880"/>
            <a:ext cx="3566160" cy="411480"/>
          </a:xfrm>
          <a:prstGeom prst="rect">
            <a:avLst/>
          </a:prstGeom>
          <a:noFill/>
        </p:spPr>
        <p:txBody>
          <a:bodyPr wrap="square" anchor="t">
            <a:spAutoFit/>
          </a:bodyPr>
          <a:lstStyle/>
          <a:p>
            <a:pPr algn="l"/>
            <a:r>
              <a:rPr sz="1800" b="0">
                <a:solidFill>
                  <a:srgbClr val="243136"/>
                </a:solidFill>
                <a:latin typeface="Helvetica Neue"/>
              </a:rPr>
              <a:t>street nodes</a:t>
            </a:r>
          </a:p>
        </p:txBody>
      </p:sp>
      <p:sp>
        <p:nvSpPr>
          <p:cNvPr id="19" name="TextBox 18"/>
          <p:cNvSpPr txBox="1"/>
          <p:nvPr/>
        </p:nvSpPr>
        <p:spPr>
          <a:xfrm>
            <a:off x="4370831" y="4434840"/>
            <a:ext cx="3566160" cy="365760"/>
          </a:xfrm>
          <a:prstGeom prst="rect">
            <a:avLst/>
          </a:prstGeom>
          <a:noFill/>
        </p:spPr>
        <p:txBody>
          <a:bodyPr wrap="square" anchor="t">
            <a:spAutoFit/>
          </a:bodyPr>
          <a:lstStyle/>
          <a:p>
            <a:pPr algn="l"/>
            <a:r>
              <a:rPr sz="1500" b="1">
                <a:solidFill>
                  <a:srgbClr val="5B676A"/>
                </a:solidFill>
                <a:latin typeface="Helvetica Neue"/>
              </a:rPr>
              <a:t>Destination</a:t>
            </a:r>
          </a:p>
        </p:txBody>
      </p:sp>
      <p:sp>
        <p:nvSpPr>
          <p:cNvPr id="20" name="TextBox 19"/>
          <p:cNvSpPr txBox="1"/>
          <p:nvPr/>
        </p:nvSpPr>
        <p:spPr>
          <a:xfrm>
            <a:off x="4370831" y="4754880"/>
            <a:ext cx="3566160" cy="411480"/>
          </a:xfrm>
          <a:prstGeom prst="rect">
            <a:avLst/>
          </a:prstGeom>
          <a:noFill/>
        </p:spPr>
        <p:txBody>
          <a:bodyPr wrap="square" anchor="t">
            <a:spAutoFit/>
          </a:bodyPr>
          <a:lstStyle/>
          <a:p>
            <a:pPr algn="l"/>
            <a:r>
              <a:rPr sz="1800" b="0">
                <a:solidFill>
                  <a:srgbClr val="243136"/>
                </a:solidFill>
                <a:latin typeface="Helvetica Neue"/>
              </a:rPr>
              <a:t>34th Street station</a:t>
            </a:r>
          </a:p>
        </p:txBody>
      </p:sp>
      <p:sp>
        <p:nvSpPr>
          <p:cNvPr id="21" name="TextBox 20"/>
          <p:cNvSpPr txBox="1"/>
          <p:nvPr/>
        </p:nvSpPr>
        <p:spPr>
          <a:xfrm>
            <a:off x="8074152" y="4434840"/>
            <a:ext cx="3566160" cy="365760"/>
          </a:xfrm>
          <a:prstGeom prst="rect">
            <a:avLst/>
          </a:prstGeom>
          <a:noFill/>
        </p:spPr>
        <p:txBody>
          <a:bodyPr wrap="square" anchor="t">
            <a:spAutoFit/>
          </a:bodyPr>
          <a:lstStyle/>
          <a:p>
            <a:pPr algn="l"/>
            <a:r>
              <a:rPr sz="1500" b="1">
                <a:solidFill>
                  <a:srgbClr val="5B676A"/>
                </a:solidFill>
                <a:latin typeface="Helvetica Neue"/>
              </a:rPr>
              <a:t>Budget</a:t>
            </a:r>
          </a:p>
        </p:txBody>
      </p:sp>
      <p:sp>
        <p:nvSpPr>
          <p:cNvPr id="22" name="TextBox 21"/>
          <p:cNvSpPr txBox="1"/>
          <p:nvPr/>
        </p:nvSpPr>
        <p:spPr>
          <a:xfrm>
            <a:off x="8074152" y="4754880"/>
            <a:ext cx="3566160" cy="411480"/>
          </a:xfrm>
          <a:prstGeom prst="rect">
            <a:avLst/>
          </a:prstGeom>
          <a:noFill/>
        </p:spPr>
        <p:txBody>
          <a:bodyPr wrap="square" anchor="t">
            <a:spAutoFit/>
          </a:bodyPr>
          <a:lstStyle/>
          <a:p>
            <a:pPr algn="l"/>
            <a:r>
              <a:rPr sz="1800" b="0">
                <a:solidFill>
                  <a:srgbClr val="243136"/>
                </a:solidFill>
                <a:latin typeface="Helvetica Neue"/>
              </a:rPr>
              <a:t>10 min × 80 m/min</a:t>
            </a:r>
          </a:p>
        </p:txBody>
      </p:sp>
      <p:sp>
        <p:nvSpPr>
          <p:cNvPr id="23" name="TextBox 22"/>
          <p:cNvSpPr txBox="1"/>
          <p:nvPr/>
        </p:nvSpPr>
        <p:spPr>
          <a:xfrm>
            <a:off x="666597" y="5715000"/>
            <a:ext cx="10789920" cy="548640"/>
          </a:xfrm>
          <a:prstGeom prst="rect">
            <a:avLst/>
          </a:prstGeom>
          <a:noFill/>
        </p:spPr>
        <p:txBody>
          <a:bodyPr wrap="square" anchor="t">
            <a:spAutoFit/>
          </a:bodyPr>
          <a:lstStyle/>
          <a:p>
            <a:pPr algn="l"/>
            <a:r>
              <a:rPr sz="1800" b="0">
                <a:solidFill>
                  <a:srgbClr val="5B676A"/>
                </a:solidFill>
                <a:latin typeface="Helvetica Neue"/>
              </a:rPr>
              <a:t>Same origins, same destination, same 800 m. Only the definition of distance changes.</a:t>
            </a:r>
          </a:p>
        </p:txBody>
      </p:sp>
      <p:sp>
        <p:nvSpPr>
          <p:cNvPr id="24" name="TextBox 23"/>
          <p:cNvSpPr txBox="1"/>
          <p:nvPr/>
        </p:nvSpPr>
        <p:spPr>
          <a:xfrm>
            <a:off x="11594592" y="6515100"/>
            <a:ext cx="475488" cy="237744"/>
          </a:xfrm>
          <a:prstGeom prst="rect">
            <a:avLst/>
          </a:prstGeom>
          <a:noFill/>
        </p:spPr>
        <p:txBody>
          <a:bodyPr wrap="square" anchor="t">
            <a:spAutoFit/>
          </a:bodyPr>
          <a:lstStyle/>
          <a:p>
            <a:pPr algn="l"/>
            <a:r>
              <a:rPr sz="1200" b="0">
                <a:solidFill>
                  <a:srgbClr val="5B676A"/>
                </a:solidFill>
                <a:latin typeface="Helvetica Neue"/>
              </a:rPr>
              <a:t>35</a:t>
            </a:r>
          </a:p>
        </p:txBody>
      </p:sp>
    </p:spTree>
    <p:extLst>
      <p:ext uri="{BB962C8B-B14F-4D97-AF65-F5344CB8AC3E}">
        <p14:creationId xmlns:p14="http://schemas.microsoft.com/office/powerpoint/2010/main" val="3818668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TextBox 1"/>
          <p:cNvSpPr txBox="1"/>
          <p:nvPr/>
        </p:nvSpPr>
        <p:spPr>
          <a:xfrm>
            <a:off x="590702" y="437997"/>
            <a:ext cx="11009376" cy="1047902"/>
          </a:xfrm>
          <a:prstGeom prst="rect">
            <a:avLst/>
          </a:prstGeom>
          <a:noFill/>
        </p:spPr>
        <p:txBody>
          <a:bodyPr wrap="square" anchor="t">
            <a:spAutoFit/>
          </a:bodyPr>
          <a:lstStyle/>
          <a:p>
            <a:pPr algn="l"/>
            <a:r>
              <a:rPr sz="3450" b="1">
                <a:solidFill>
                  <a:srgbClr val="243136"/>
                </a:solidFill>
                <a:latin typeface="Helvetica Neue"/>
              </a:rPr>
              <a:t>Where exactly is the station?</a:t>
            </a:r>
          </a:p>
        </p:txBody>
      </p:sp>
      <p:cxnSp>
        <p:nvCxnSpPr>
          <p:cNvPr id="3" name="Connector 2"/>
          <p:cNvCxnSpPr/>
          <p:nvPr/>
        </p:nvCxnSpPr>
        <p:spPr>
          <a:xfrm>
            <a:off x="914400" y="1691640"/>
            <a:ext cx="0" cy="301752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417320" y="1691640"/>
            <a:ext cx="0" cy="301752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920240" y="1691640"/>
            <a:ext cx="0" cy="301752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2423160" y="1691640"/>
            <a:ext cx="0" cy="301752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926080" y="1691640"/>
            <a:ext cx="0" cy="301752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429000" y="1691640"/>
            <a:ext cx="0" cy="301752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931920" y="1691640"/>
            <a:ext cx="0" cy="301752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434840" y="1691640"/>
            <a:ext cx="0" cy="301752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14400" y="1691640"/>
            <a:ext cx="3520440" cy="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 y="2194560"/>
            <a:ext cx="3520440" cy="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14400" y="2697480"/>
            <a:ext cx="3520440" cy="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14400" y="3200400"/>
            <a:ext cx="3520440" cy="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14400" y="3703320"/>
            <a:ext cx="3520440" cy="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14400" y="4206240"/>
            <a:ext cx="3520440" cy="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14400" y="4709160"/>
            <a:ext cx="3520440" cy="0"/>
          </a:xfrm>
          <a:prstGeom prst="line">
            <a:avLst/>
          </a:prstGeom>
          <a:ln w="12700">
            <a:solidFill>
              <a:srgbClr val="9CB7BC"/>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877824" y="165506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877824" y="215798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77824" y="266090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877824" y="316382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77824" y="366674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877824" y="4169663"/>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877824" y="467258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380744" y="165506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380744" y="215798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380744" y="266090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380744" y="316382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1380744" y="366674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1380744" y="4169663"/>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380744" y="467258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883664" y="165506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1883664" y="215798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883664" y="266090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1883664" y="316382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1883664" y="366674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1883664" y="4169663"/>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1883664" y="467258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2386584" y="165506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2386584" y="215798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2386584" y="266090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2386584" y="316382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2386584" y="366674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2386584" y="4169663"/>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2386584" y="467258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2889504" y="165506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2889504" y="215798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2889504" y="266090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2889504" y="316382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2889504" y="366674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2889504" y="4169663"/>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2889504" y="467258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3392424" y="165506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3392424" y="215798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3392424" y="266090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3392424" y="316382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3392424" y="366674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3392424" y="4169663"/>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3392424" y="467258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3895344" y="165506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3895344" y="215798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3895344" y="266090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val 62"/>
          <p:cNvSpPr/>
          <p:nvPr/>
        </p:nvSpPr>
        <p:spPr>
          <a:xfrm>
            <a:off x="3895344" y="316382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val 63"/>
          <p:cNvSpPr/>
          <p:nvPr/>
        </p:nvSpPr>
        <p:spPr>
          <a:xfrm>
            <a:off x="3895344" y="366674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3895344" y="4169663"/>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val 65"/>
          <p:cNvSpPr/>
          <p:nvPr/>
        </p:nvSpPr>
        <p:spPr>
          <a:xfrm>
            <a:off x="3895344" y="467258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val 66"/>
          <p:cNvSpPr/>
          <p:nvPr/>
        </p:nvSpPr>
        <p:spPr>
          <a:xfrm>
            <a:off x="4398264" y="165506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p:nvPr/>
        </p:nvSpPr>
        <p:spPr>
          <a:xfrm>
            <a:off x="4398264" y="215798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val 68"/>
          <p:cNvSpPr/>
          <p:nvPr/>
        </p:nvSpPr>
        <p:spPr>
          <a:xfrm>
            <a:off x="4398264" y="266090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val 69"/>
          <p:cNvSpPr/>
          <p:nvPr/>
        </p:nvSpPr>
        <p:spPr>
          <a:xfrm>
            <a:off x="4398264" y="316382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4398264" y="366674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val 71"/>
          <p:cNvSpPr/>
          <p:nvPr/>
        </p:nvSpPr>
        <p:spPr>
          <a:xfrm>
            <a:off x="4398264" y="4169663"/>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val 72"/>
          <p:cNvSpPr/>
          <p:nvPr/>
        </p:nvSpPr>
        <p:spPr>
          <a:xfrm>
            <a:off x="4398264" y="4672584"/>
            <a:ext cx="73152" cy="73152"/>
          </a:xfrm>
          <a:prstGeom prst="ellipse">
            <a:avLst/>
          </a:prstGeom>
          <a:solidFill>
            <a:srgbClr val="9CB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2029968" y="2807208"/>
            <a:ext cx="1289304" cy="786384"/>
          </a:xfrm>
          <a:prstGeom prst="rect">
            <a:avLst/>
          </a:prstGeom>
          <a:solidFill>
            <a:srgbClr val="8FD4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val 74"/>
          <p:cNvSpPr/>
          <p:nvPr/>
        </p:nvSpPr>
        <p:spPr>
          <a:xfrm>
            <a:off x="2583180" y="3108960"/>
            <a:ext cx="182880" cy="182880"/>
          </a:xfrm>
          <a:prstGeom prst="ellipse">
            <a:avLst/>
          </a:prstGeom>
          <a:solidFill>
            <a:srgbClr val="2431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1851660" y="3291840"/>
            <a:ext cx="1645920" cy="320040"/>
          </a:xfrm>
          <a:prstGeom prst="rect">
            <a:avLst/>
          </a:prstGeom>
          <a:noFill/>
        </p:spPr>
        <p:txBody>
          <a:bodyPr wrap="square" anchor="t">
            <a:spAutoFit/>
          </a:bodyPr>
          <a:lstStyle/>
          <a:p>
            <a:pPr algn="ctr"/>
            <a:r>
              <a:rPr sz="1300" b="0">
                <a:solidFill>
                  <a:srgbClr val="243136"/>
                </a:solidFill>
                <a:latin typeface="Helvetica Neue"/>
              </a:rPr>
              <a:t>centroid</a:t>
            </a:r>
          </a:p>
        </p:txBody>
      </p:sp>
      <p:cxnSp>
        <p:nvCxnSpPr>
          <p:cNvPr id="77" name="Connector 76"/>
          <p:cNvCxnSpPr/>
          <p:nvPr/>
        </p:nvCxnSpPr>
        <p:spPr>
          <a:xfrm flipH="1">
            <a:off x="1920240" y="3502152"/>
            <a:ext cx="109728" cy="201168"/>
          </a:xfrm>
          <a:prstGeom prst="line">
            <a:avLst/>
          </a:prstGeom>
          <a:ln w="22225">
            <a:solidFill>
              <a:srgbClr val="DB724C"/>
            </a:solidFill>
            <a:prstDash val="dash"/>
          </a:ln>
        </p:spPr>
        <p:style>
          <a:lnRef idx="2">
            <a:schemeClr val="accent1"/>
          </a:lnRef>
          <a:fillRef idx="0">
            <a:schemeClr val="accent1"/>
          </a:fillRef>
          <a:effectRef idx="1">
            <a:schemeClr val="accent1"/>
          </a:effectRef>
          <a:fontRef idx="minor">
            <a:schemeClr val="tx1"/>
          </a:fontRef>
        </p:style>
      </p:cxnSp>
      <p:sp>
        <p:nvSpPr>
          <p:cNvPr id="78" name="Oval 77"/>
          <p:cNvSpPr/>
          <p:nvPr/>
        </p:nvSpPr>
        <p:spPr>
          <a:xfrm>
            <a:off x="1847088" y="3630168"/>
            <a:ext cx="146304" cy="146304"/>
          </a:xfrm>
          <a:prstGeom prst="ellipse">
            <a:avLst/>
          </a:prstGeom>
          <a:solidFill>
            <a:srgbClr val="2431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val 78"/>
          <p:cNvSpPr/>
          <p:nvPr/>
        </p:nvSpPr>
        <p:spPr>
          <a:xfrm>
            <a:off x="1938528" y="3410712"/>
            <a:ext cx="182880" cy="182880"/>
          </a:xfrm>
          <a:prstGeom prst="ellipse">
            <a:avLst/>
          </a:prstGeom>
          <a:solidFill>
            <a:srgbClr val="DB7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0" name="Connector 79"/>
          <p:cNvCxnSpPr/>
          <p:nvPr/>
        </p:nvCxnSpPr>
        <p:spPr>
          <a:xfrm flipV="1">
            <a:off x="3319272" y="2697480"/>
            <a:ext cx="109728" cy="201168"/>
          </a:xfrm>
          <a:prstGeom prst="line">
            <a:avLst/>
          </a:prstGeom>
          <a:ln w="22225">
            <a:solidFill>
              <a:srgbClr val="DB724C"/>
            </a:solidFill>
            <a:prstDash val="dash"/>
          </a:ln>
        </p:spPr>
        <p:style>
          <a:lnRef idx="2">
            <a:schemeClr val="accent1"/>
          </a:lnRef>
          <a:fillRef idx="0">
            <a:schemeClr val="accent1"/>
          </a:fillRef>
          <a:effectRef idx="1">
            <a:schemeClr val="accent1"/>
          </a:effectRef>
          <a:fontRef idx="minor">
            <a:schemeClr val="tx1"/>
          </a:fontRef>
        </p:style>
      </p:cxnSp>
      <p:sp>
        <p:nvSpPr>
          <p:cNvPr id="81" name="Oval 80"/>
          <p:cNvSpPr/>
          <p:nvPr/>
        </p:nvSpPr>
        <p:spPr>
          <a:xfrm>
            <a:off x="3355848" y="2624328"/>
            <a:ext cx="146304" cy="146304"/>
          </a:xfrm>
          <a:prstGeom prst="ellipse">
            <a:avLst/>
          </a:prstGeom>
          <a:solidFill>
            <a:srgbClr val="2431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Oval 81"/>
          <p:cNvSpPr/>
          <p:nvPr/>
        </p:nvSpPr>
        <p:spPr>
          <a:xfrm>
            <a:off x="3227832" y="2807208"/>
            <a:ext cx="182880" cy="182880"/>
          </a:xfrm>
          <a:prstGeom prst="ellipse">
            <a:avLst/>
          </a:prstGeom>
          <a:solidFill>
            <a:srgbClr val="DB7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3593592" y="2395728"/>
            <a:ext cx="1463040" cy="320040"/>
          </a:xfrm>
          <a:prstGeom prst="rect">
            <a:avLst/>
          </a:prstGeom>
          <a:noFill/>
        </p:spPr>
        <p:txBody>
          <a:bodyPr wrap="square" anchor="t">
            <a:spAutoFit/>
          </a:bodyPr>
          <a:lstStyle/>
          <a:p>
            <a:pPr algn="l"/>
            <a:r>
              <a:rPr sz="1300" b="0">
                <a:solidFill>
                  <a:srgbClr val="DB724C"/>
                </a:solidFill>
                <a:latin typeface="Helvetica Neue"/>
              </a:rPr>
              <a:t>entrance</a:t>
            </a:r>
          </a:p>
        </p:txBody>
      </p:sp>
      <p:sp>
        <p:nvSpPr>
          <p:cNvPr id="84" name="TextBox 83"/>
          <p:cNvSpPr txBox="1"/>
          <p:nvPr/>
        </p:nvSpPr>
        <p:spPr>
          <a:xfrm>
            <a:off x="5943600" y="1920240"/>
            <a:ext cx="5486400" cy="457200"/>
          </a:xfrm>
          <a:prstGeom prst="rect">
            <a:avLst/>
          </a:prstGeom>
          <a:noFill/>
        </p:spPr>
        <p:txBody>
          <a:bodyPr wrap="square" anchor="t">
            <a:spAutoFit/>
          </a:bodyPr>
          <a:lstStyle/>
          <a:p>
            <a:pPr algn="l"/>
            <a:r>
              <a:rPr sz="2100" b="1">
                <a:solidFill>
                  <a:srgbClr val="243136"/>
                </a:solidFill>
                <a:latin typeface="Helvetica Neue"/>
              </a:rPr>
              <a:t>Centroid</a:t>
            </a:r>
          </a:p>
        </p:txBody>
      </p:sp>
      <p:sp>
        <p:nvSpPr>
          <p:cNvPr id="85" name="TextBox 84"/>
          <p:cNvSpPr txBox="1"/>
          <p:nvPr/>
        </p:nvSpPr>
        <p:spPr>
          <a:xfrm>
            <a:off x="5943600" y="2331720"/>
            <a:ext cx="5486400" cy="731520"/>
          </a:xfrm>
          <a:prstGeom prst="rect">
            <a:avLst/>
          </a:prstGeom>
          <a:noFill/>
        </p:spPr>
        <p:txBody>
          <a:bodyPr wrap="square" anchor="t">
            <a:spAutoFit/>
          </a:bodyPr>
          <a:lstStyle/>
          <a:p>
            <a:pPr algn="l"/>
            <a:r>
              <a:rPr sz="1800" b="0">
                <a:solidFill>
                  <a:srgbClr val="243136"/>
                </a:solidFill>
                <a:latin typeface="Helvetica Neue"/>
              </a:rPr>
              <a:t>One point in the middle of the station, snapped to one node.</a:t>
            </a:r>
          </a:p>
        </p:txBody>
      </p:sp>
      <p:sp>
        <p:nvSpPr>
          <p:cNvPr id="86" name="TextBox 85"/>
          <p:cNvSpPr txBox="1"/>
          <p:nvPr/>
        </p:nvSpPr>
        <p:spPr>
          <a:xfrm>
            <a:off x="5943600" y="3246120"/>
            <a:ext cx="5486400" cy="457200"/>
          </a:xfrm>
          <a:prstGeom prst="rect">
            <a:avLst/>
          </a:prstGeom>
          <a:noFill/>
        </p:spPr>
        <p:txBody>
          <a:bodyPr wrap="square" anchor="t">
            <a:spAutoFit/>
          </a:bodyPr>
          <a:lstStyle/>
          <a:p>
            <a:pPr algn="l"/>
            <a:r>
              <a:rPr sz="2100" b="1">
                <a:solidFill>
                  <a:srgbClr val="DB724C"/>
                </a:solidFill>
                <a:latin typeface="Helvetica Neue"/>
              </a:rPr>
              <a:t>Entrances</a:t>
            </a:r>
          </a:p>
        </p:txBody>
      </p:sp>
      <p:sp>
        <p:nvSpPr>
          <p:cNvPr id="87" name="TextBox 86"/>
          <p:cNvSpPr txBox="1"/>
          <p:nvPr/>
        </p:nvSpPr>
        <p:spPr>
          <a:xfrm>
            <a:off x="5943600" y="3657600"/>
            <a:ext cx="5486400" cy="731520"/>
          </a:xfrm>
          <a:prstGeom prst="rect">
            <a:avLst/>
          </a:prstGeom>
          <a:noFill/>
        </p:spPr>
        <p:txBody>
          <a:bodyPr wrap="square" anchor="t">
            <a:spAutoFit/>
          </a:bodyPr>
          <a:lstStyle/>
          <a:p>
            <a:pPr algn="l"/>
            <a:r>
              <a:rPr sz="1800" b="0">
                <a:solidFill>
                  <a:srgbClr val="243136"/>
                </a:solidFill>
                <a:latin typeface="Helvetica Neue"/>
              </a:rPr>
              <a:t>Several points where people actually enter, each snapped to its own node.</a:t>
            </a:r>
          </a:p>
        </p:txBody>
      </p:sp>
      <p:sp>
        <p:nvSpPr>
          <p:cNvPr id="88" name="TextBox 87"/>
          <p:cNvSpPr txBox="1"/>
          <p:nvPr/>
        </p:nvSpPr>
        <p:spPr>
          <a:xfrm>
            <a:off x="666597" y="5715000"/>
            <a:ext cx="10789920" cy="548640"/>
          </a:xfrm>
          <a:prstGeom prst="rect">
            <a:avLst/>
          </a:prstGeom>
          <a:noFill/>
        </p:spPr>
        <p:txBody>
          <a:bodyPr wrap="square" anchor="t">
            <a:spAutoFit/>
          </a:bodyPr>
          <a:lstStyle/>
          <a:p>
            <a:pPr algn="l"/>
            <a:r>
              <a:rPr sz="1800" b="0">
                <a:solidFill>
                  <a:srgbClr val="5B676A"/>
                </a:solidFill>
                <a:latin typeface="Helvetica Neue"/>
              </a:rPr>
              <a:t>The destination point you choose can change who counts as accessible. Inspect the snap.</a:t>
            </a:r>
          </a:p>
        </p:txBody>
      </p:sp>
      <p:sp>
        <p:nvSpPr>
          <p:cNvPr id="89" name="TextBox 88"/>
          <p:cNvSpPr txBox="1"/>
          <p:nvPr/>
        </p:nvSpPr>
        <p:spPr>
          <a:xfrm>
            <a:off x="11594592" y="6515100"/>
            <a:ext cx="475488" cy="237744"/>
          </a:xfrm>
          <a:prstGeom prst="rect">
            <a:avLst/>
          </a:prstGeom>
          <a:noFill/>
        </p:spPr>
        <p:txBody>
          <a:bodyPr wrap="square" anchor="t">
            <a:spAutoFit/>
          </a:bodyPr>
          <a:lstStyle/>
          <a:p>
            <a:pPr algn="l"/>
            <a:r>
              <a:rPr sz="1200" b="0">
                <a:solidFill>
                  <a:srgbClr val="5B676A"/>
                </a:solidFill>
                <a:latin typeface="Helvetica Neue"/>
              </a:rPr>
              <a:t>36</a:t>
            </a:r>
          </a:p>
        </p:txBody>
      </p:sp>
    </p:spTree>
    <p:extLst>
      <p:ext uri="{BB962C8B-B14F-4D97-AF65-F5344CB8AC3E}">
        <p14:creationId xmlns:p14="http://schemas.microsoft.com/office/powerpoint/2010/main" val="1773897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rgbClr val="F6F3EC"/>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69888AD-F24D-4D00-B319-3DBA64806D5E}"/>
              </a:ext>
            </a:extLst>
          </p:cNvPr>
          <p:cNvSpPr>
            <a:spLocks noGrp="1"/>
          </p:cNvSpPr>
          <p:nvPr/>
        </p:nvSpPr>
        <p:spPr>
          <a:xfrm>
            <a:off x="590550" y="438150"/>
            <a:ext cx="11010900" cy="1047750"/>
          </a:xfrm>
          <a:prstGeom prst="rect">
            <a:avLst/>
          </a:prstGeom>
          <a:noFill/>
          <a:ln w="0">
            <a:noFill/>
          </a:ln>
        </p:spPr>
        <p:txBody>
          <a:bodyPr>
            <a:noAutofit/>
          </a:bodyPr>
          <a:lstStyle/>
          <a:p>
            <a:pPr>
              <a:defRPr sz="3450" b="1">
                <a:solidFill>
                  <a:srgbClr val="243136"/>
                </a:solidFill>
                <a:latin typeface="Helvetica Neue"/>
                <a:ea typeface="Helvetica Neue"/>
                <a:cs typeface="Helvetica Neue"/>
              </a:defRPr>
            </a:pPr>
            <a:r>
              <a:rPr sz="3450" b="1">
                <a:solidFill>
                  <a:srgbClr val="243136"/>
                </a:solidFill>
                <a:latin typeface="Helvetica Neue"/>
                <a:ea typeface="Helvetica Neue"/>
                <a:cs typeface="Helvetica Neue"/>
              </a:rPr>
              <a:t>Compare the two catchments</a:t>
            </a:r>
          </a:p>
        </p:txBody>
      </p:sp>
      <p:sp>
        <p:nvSpPr>
          <p:cNvPr id="2" name="Rectangle 1">
            <a:extLst>
              <a:ext uri="{FF2B5EF4-FFF2-40B4-BE49-F238E27FC236}">
                <a16:creationId xmlns:a16="http://schemas.microsoft.com/office/drawing/2014/main" id="{870124FC-E8B6-4CA4-9881-F62EABF48AB6}"/>
              </a:ext>
            </a:extLst>
          </p:cNvPr>
          <p:cNvSpPr>
            <a:spLocks noGrp="1"/>
          </p:cNvSpPr>
          <p:nvPr/>
        </p:nvSpPr>
        <p:spPr>
          <a:xfrm>
            <a:off x="11525250" y="6524625"/>
            <a:ext cx="476250" cy="238125"/>
          </a:xfrm>
          <a:prstGeom prst="rect">
            <a:avLst/>
          </a:prstGeom>
          <a:noFill/>
          <a:ln w="0">
            <a:noFill/>
          </a:ln>
        </p:spPr>
        <p:txBody>
          <a:bodyPr>
            <a:noAutofit/>
          </a:bodyPr>
          <a:lstStyle/>
          <a:p>
            <a:pPr>
              <a:defRPr sz="1200" b="0">
                <a:solidFill>
                  <a:srgbClr val="5B676A"/>
                </a:solidFill>
                <a:latin typeface="Helvetica Neue"/>
                <a:ea typeface="Helvetica Neue"/>
                <a:cs typeface="Helvetica Neue"/>
              </a:defRPr>
            </a:pPr>
            <a:r>
              <a:rPr sz="1200" b="0">
                <a:solidFill>
                  <a:srgbClr val="5B676A"/>
                </a:solidFill>
                <a:latin typeface="Helvetica Neue"/>
                <a:ea typeface="Helvetica Neue"/>
                <a:cs typeface="Helvetica Neue"/>
              </a:rPr>
              <a:t>37</a:t>
            </a:r>
          </a:p>
        </p:txBody>
      </p:sp>
      <p:sp>
        <p:nvSpPr>
          <p:cNvPr id="3" name="Rectangle 2">
            <a:extLst>
              <a:ext uri="{FF2B5EF4-FFF2-40B4-BE49-F238E27FC236}">
                <a16:creationId xmlns:a16="http://schemas.microsoft.com/office/drawing/2014/main" id="{D5FA97BB-54EF-42D6-AEA8-18061FA4ECCF}"/>
              </a:ext>
            </a:extLst>
          </p:cNvPr>
          <p:cNvSpPr>
            <a:spLocks noGrp="1"/>
          </p:cNvSpPr>
          <p:nvPr/>
        </p:nvSpPr>
        <p:spPr>
          <a:xfrm>
            <a:off x="762000" y="2000250"/>
            <a:ext cx="4286250" cy="523875"/>
          </a:xfrm>
          <a:prstGeom prst="rect">
            <a:avLst/>
          </a:prstGeom>
          <a:noFill/>
          <a:ln w="0">
            <a:noFill/>
          </a:ln>
        </p:spPr>
        <p:txBody>
          <a:bodyPr>
            <a:noAutofit/>
          </a:bodyPr>
          <a:lstStyle/>
          <a:p>
            <a:pPr>
              <a:defRPr sz="2850" b="1">
                <a:solidFill>
                  <a:srgbClr val="227C9D"/>
                </a:solidFill>
                <a:latin typeface="Helvetica Neue"/>
                <a:ea typeface="Helvetica Neue"/>
                <a:cs typeface="Helvetica Neue"/>
              </a:defRPr>
            </a:pPr>
            <a:r>
              <a:rPr sz="2850" b="1">
                <a:solidFill>
                  <a:srgbClr val="227C9D"/>
                </a:solidFill>
                <a:latin typeface="Helvetica Neue"/>
                <a:ea typeface="Helvetica Neue"/>
                <a:cs typeface="Helvetica Neue"/>
              </a:rPr>
              <a:t>Circle</a:t>
            </a:r>
          </a:p>
        </p:txBody>
      </p:sp>
      <p:sp>
        <p:nvSpPr>
          <p:cNvPr id="4" name="Rectangle 3">
            <a:extLst>
              <a:ext uri="{FF2B5EF4-FFF2-40B4-BE49-F238E27FC236}">
                <a16:creationId xmlns:a16="http://schemas.microsoft.com/office/drawing/2014/main" id="{DF083C9E-00A8-40BF-9750-F7B26AC215C7}"/>
              </a:ext>
            </a:extLst>
          </p:cNvPr>
          <p:cNvSpPr>
            <a:spLocks noGrp="1"/>
          </p:cNvSpPr>
          <p:nvPr/>
        </p:nvSpPr>
        <p:spPr>
          <a:xfrm>
            <a:off x="762000" y="2667000"/>
            <a:ext cx="5238750" cy="762000"/>
          </a:xfrm>
          <a:prstGeom prst="rect">
            <a:avLst/>
          </a:prstGeom>
          <a:noFill/>
          <a:ln w="0">
            <a:noFill/>
          </a:ln>
        </p:spPr>
        <p:txBody>
          <a:bodyPr>
            <a:noAutofit/>
          </a:bodyPr>
          <a:lstStyle/>
          <a:p>
            <a:pPr>
              <a:defRPr sz="2250" b="0">
                <a:solidFill>
                  <a:srgbClr val="243136"/>
                </a:solidFill>
                <a:latin typeface="Helvetica Neue"/>
                <a:ea typeface="Helvetica Neue"/>
                <a:cs typeface="Helvetica Neue"/>
              </a:defRPr>
            </a:pPr>
            <a:r>
              <a:rPr sz="2250" b="0">
                <a:solidFill>
                  <a:srgbClr val="243136"/>
                </a:solidFill>
                <a:latin typeface="Helvetica Neue"/>
                <a:ea typeface="Helvetica Neue"/>
                <a:cs typeface="Helvetica Neue"/>
              </a:rPr>
              <a:t>Straight-line distance ≤ 800 m</a:t>
            </a:r>
          </a:p>
        </p:txBody>
      </p:sp>
      <p:sp>
        <p:nvSpPr>
          <p:cNvPr id="5" name="Rectangle 4">
            <a:extLst>
              <a:ext uri="{FF2B5EF4-FFF2-40B4-BE49-F238E27FC236}">
                <a16:creationId xmlns:a16="http://schemas.microsoft.com/office/drawing/2014/main" id="{52A4D1BB-1277-441D-B3E8-59C69BF13EB1}"/>
              </a:ext>
            </a:extLst>
          </p:cNvPr>
          <p:cNvSpPr>
            <a:spLocks noGrp="1"/>
          </p:cNvSpPr>
          <p:nvPr/>
        </p:nvSpPr>
        <p:spPr>
          <a:xfrm>
            <a:off x="762000" y="3857625"/>
            <a:ext cx="5334000" cy="523875"/>
          </a:xfrm>
          <a:prstGeom prst="rect">
            <a:avLst/>
          </a:prstGeom>
          <a:noFill/>
          <a:ln w="0">
            <a:noFill/>
          </a:ln>
        </p:spPr>
        <p:txBody>
          <a:bodyPr>
            <a:noAutofit/>
          </a:bodyPr>
          <a:lstStyle/>
          <a:p>
            <a:pPr>
              <a:defRPr sz="2850" b="1">
                <a:solidFill>
                  <a:srgbClr val="227C9D"/>
                </a:solidFill>
                <a:latin typeface="Helvetica Neue"/>
                <a:ea typeface="Helvetica Neue"/>
                <a:cs typeface="Helvetica Neue"/>
              </a:defRPr>
            </a:pPr>
            <a:r>
              <a:rPr sz="2850" b="1">
                <a:solidFill>
                  <a:srgbClr val="227C9D"/>
                </a:solidFill>
                <a:latin typeface="Helvetica Neue"/>
                <a:ea typeface="Helvetica Neue"/>
                <a:cs typeface="Helvetica Neue"/>
              </a:rPr>
              <a:t>Network catchment</a:t>
            </a:r>
          </a:p>
        </p:txBody>
      </p:sp>
      <p:sp>
        <p:nvSpPr>
          <p:cNvPr id="6" name="Rectangle 5">
            <a:extLst>
              <a:ext uri="{FF2B5EF4-FFF2-40B4-BE49-F238E27FC236}">
                <a16:creationId xmlns:a16="http://schemas.microsoft.com/office/drawing/2014/main" id="{5BF141AD-FE39-46B7-BA2B-06D423D81388}"/>
              </a:ext>
            </a:extLst>
          </p:cNvPr>
          <p:cNvSpPr>
            <a:spLocks noGrp="1"/>
          </p:cNvSpPr>
          <p:nvPr/>
        </p:nvSpPr>
        <p:spPr>
          <a:xfrm>
            <a:off x="762000" y="4524375"/>
            <a:ext cx="5334000" cy="857250"/>
          </a:xfrm>
          <a:prstGeom prst="rect">
            <a:avLst/>
          </a:prstGeom>
          <a:noFill/>
          <a:ln w="0">
            <a:noFill/>
          </a:ln>
        </p:spPr>
        <p:txBody>
          <a:bodyPr>
            <a:noAutofit/>
          </a:bodyPr>
          <a:lstStyle/>
          <a:p>
            <a:pPr>
              <a:defRPr sz="2250" b="0">
                <a:solidFill>
                  <a:srgbClr val="243136"/>
                </a:solidFill>
                <a:latin typeface="Helvetica Neue"/>
                <a:ea typeface="Helvetica Neue"/>
                <a:cs typeface="Helvetica Neue"/>
              </a:defRPr>
            </a:pPr>
            <a:r>
              <a:rPr sz="2250" b="0">
                <a:solidFill>
                  <a:srgbClr val="243136"/>
                </a:solidFill>
                <a:latin typeface="Helvetica Neue"/>
                <a:ea typeface="Helvetica Neue"/>
                <a:cs typeface="Helvetica Neue"/>
              </a:rPr>
              <a:t>Shortest walking distance ≤ 800 m</a:t>
            </a:r>
          </a:p>
        </p:txBody>
      </p:sp>
      <p:pic>
        <p:nvPicPr>
          <p:cNvPr id="15" name="Picture 14"/>
          <p:cNvPicPr>
            <a:picLocks noChangeAspect="1"/>
          </p:cNvPicPr>
          <p:nvPr/>
        </p:nvPicPr>
        <p:blipFill>
          <a:blip r:embed="rId3"/>
          <a:stretch/>
        </p:blipFill>
        <p:spPr>
          <a:xfrm>
            <a:off x="6905625" y="1666875"/>
            <a:ext cx="3952875" cy="3952875"/>
          </a:xfrm>
          <a:prstGeom prst="rect">
            <a:avLst/>
          </a:prstGeom>
        </p:spPr>
      </p:pic>
      <p:sp>
        <p:nvSpPr>
          <p:cNvPr id="8" name="Rectangle 7">
            <a:extLst>
              <a:ext uri="{FF2B5EF4-FFF2-40B4-BE49-F238E27FC236}">
                <a16:creationId xmlns:a16="http://schemas.microsoft.com/office/drawing/2014/main" id="{EA57DFD8-517B-490E-A405-23C7584D4DB0}"/>
              </a:ext>
            </a:extLst>
          </p:cNvPr>
          <p:cNvSpPr>
            <a:spLocks noGrp="1"/>
          </p:cNvSpPr>
          <p:nvPr/>
        </p:nvSpPr>
        <p:spPr>
          <a:xfrm>
            <a:off x="666750" y="5953125"/>
            <a:ext cx="10763250" cy="495300"/>
          </a:xfrm>
          <a:prstGeom prst="rect">
            <a:avLst/>
          </a:prstGeom>
          <a:noFill/>
          <a:ln w="0">
            <a:noFill/>
          </a:ln>
        </p:spPr>
        <p:txBody>
          <a:bodyPr>
            <a:noAutofit/>
          </a:bodyPr>
          <a:lstStyle/>
          <a:p>
            <a:pPr>
              <a:defRPr sz="1800" b="0">
                <a:solidFill>
                  <a:srgbClr val="5B676A"/>
                </a:solidFill>
                <a:latin typeface="Helvetica Neue"/>
                <a:ea typeface="Helvetica Neue"/>
                <a:cs typeface="Helvetica Neue"/>
              </a:defRPr>
            </a:pPr>
            <a:r>
              <a:rPr sz="1800" b="0">
                <a:solidFill>
                  <a:srgbClr val="5B676A"/>
                </a:solidFill>
                <a:latin typeface="Helvetica Neue"/>
                <a:ea typeface="Helvetica Neue"/>
                <a:cs typeface="Helvetica Neue"/>
              </a:rPr>
              <a:t>34th Street reference example from the original deck • © OpenStreetMap contributors</a:t>
            </a:r>
          </a:p>
        </p:txBody>
      </p:sp>
    </p:spTree>
    <p:extLst>
      <p:ext uri="{BB962C8B-B14F-4D97-AF65-F5344CB8AC3E}">
        <p14:creationId xmlns:p14="http://schemas.microsoft.com/office/powerpoint/2010/main" val="15918750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rgbClr val="F6F3EC"/>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CB42B5FF-8E91-4DAC-A3BD-D9C5E36AE5FA}"/>
              </a:ext>
            </a:extLst>
          </p:cNvPr>
          <p:cNvSpPr>
            <a:spLocks noGrp="1"/>
          </p:cNvSpPr>
          <p:nvPr/>
        </p:nvSpPr>
        <p:spPr>
          <a:xfrm>
            <a:off x="590550" y="438150"/>
            <a:ext cx="11010900" cy="1047750"/>
          </a:xfrm>
          <a:prstGeom prst="rect">
            <a:avLst/>
          </a:prstGeom>
          <a:noFill/>
          <a:ln w="0">
            <a:noFill/>
          </a:ln>
        </p:spPr>
        <p:txBody>
          <a:bodyPr>
            <a:noAutofit/>
          </a:bodyPr>
          <a:lstStyle/>
          <a:p>
            <a:pPr>
              <a:defRPr sz="3450" b="1">
                <a:solidFill>
                  <a:srgbClr val="243136"/>
                </a:solidFill>
                <a:latin typeface="Helvetica Neue"/>
                <a:ea typeface="Helvetica Neue"/>
                <a:cs typeface="Helvetica Neue"/>
              </a:defRPr>
            </a:pPr>
            <a:r>
              <a:rPr sz="3450" b="1">
                <a:solidFill>
                  <a:srgbClr val="243136"/>
                </a:solidFill>
                <a:latin typeface="Helvetica Neue"/>
                <a:ea typeface="Helvetica Neue"/>
                <a:cs typeface="Helvetica Neue"/>
              </a:rPr>
              <a:t>Where do the answers disagree?</a:t>
            </a:r>
          </a:p>
        </p:txBody>
      </p:sp>
      <p:sp>
        <p:nvSpPr>
          <p:cNvPr id="2" name="Rectangle 1">
            <a:extLst>
              <a:ext uri="{FF2B5EF4-FFF2-40B4-BE49-F238E27FC236}">
                <a16:creationId xmlns:a16="http://schemas.microsoft.com/office/drawing/2014/main" id="{DA3BA429-E835-442B-92CF-B3E58432F890}"/>
              </a:ext>
            </a:extLst>
          </p:cNvPr>
          <p:cNvSpPr>
            <a:spLocks noGrp="1"/>
          </p:cNvSpPr>
          <p:nvPr/>
        </p:nvSpPr>
        <p:spPr>
          <a:xfrm>
            <a:off x="11525250" y="6524625"/>
            <a:ext cx="476250" cy="238125"/>
          </a:xfrm>
          <a:prstGeom prst="rect">
            <a:avLst/>
          </a:prstGeom>
          <a:noFill/>
          <a:ln w="0">
            <a:noFill/>
          </a:ln>
        </p:spPr>
        <p:txBody>
          <a:bodyPr>
            <a:noAutofit/>
          </a:bodyPr>
          <a:lstStyle/>
          <a:p>
            <a:pPr>
              <a:defRPr sz="1200" b="0">
                <a:solidFill>
                  <a:srgbClr val="5B676A"/>
                </a:solidFill>
                <a:latin typeface="Helvetica Neue"/>
                <a:ea typeface="Helvetica Neue"/>
                <a:cs typeface="Helvetica Neue"/>
              </a:defRPr>
            </a:pPr>
            <a:r>
              <a:rPr sz="1200" b="0">
                <a:solidFill>
                  <a:srgbClr val="5B676A"/>
                </a:solidFill>
                <a:latin typeface="Helvetica Neue"/>
                <a:ea typeface="Helvetica Neue"/>
                <a:cs typeface="Helvetica Neue"/>
              </a:rPr>
              <a:t>38</a:t>
            </a:r>
          </a:p>
        </p:txBody>
      </p:sp>
      <p:sp>
        <p:nvSpPr>
          <p:cNvPr id="3" name="Oval 2">
            <a:extLst>
              <a:ext uri="{FF2B5EF4-FFF2-40B4-BE49-F238E27FC236}">
                <a16:creationId xmlns:a16="http://schemas.microsoft.com/office/drawing/2014/main" id="{59F08D36-8C83-4F5B-BDE6-D5BD212B2F5D}"/>
              </a:ext>
            </a:extLst>
          </p:cNvPr>
          <p:cNvSpPr>
            <a:spLocks noGrp="1"/>
          </p:cNvSpPr>
          <p:nvPr/>
        </p:nvSpPr>
        <p:spPr>
          <a:xfrm>
            <a:off x="742950" y="2124075"/>
            <a:ext cx="228600" cy="228600"/>
          </a:xfrm>
          <a:prstGeom prst="ellipse">
            <a:avLst/>
          </a:prstGeom>
          <a:solidFill>
            <a:srgbClr val="227C9D"/>
          </a:solidFill>
          <a:ln w="0">
            <a:noFill/>
          </a:ln>
        </p:spPr>
        <p:txBody>
          <a:bodyPr/>
          <a:lstStyle/>
          <a:p>
            <a:endParaRPr lang="en-US"/>
          </a:p>
        </p:txBody>
      </p:sp>
      <p:sp>
        <p:nvSpPr>
          <p:cNvPr id="4" name="Rectangle 3">
            <a:extLst>
              <a:ext uri="{FF2B5EF4-FFF2-40B4-BE49-F238E27FC236}">
                <a16:creationId xmlns:a16="http://schemas.microsoft.com/office/drawing/2014/main" id="{18C41135-262F-4E8E-9C6E-46A061425D30}"/>
              </a:ext>
            </a:extLst>
          </p:cNvPr>
          <p:cNvSpPr>
            <a:spLocks noGrp="1"/>
          </p:cNvSpPr>
          <p:nvPr/>
        </p:nvSpPr>
        <p:spPr>
          <a:xfrm>
            <a:off x="1238250" y="1905000"/>
            <a:ext cx="9715500" cy="523875"/>
          </a:xfrm>
          <a:prstGeom prst="rect">
            <a:avLst/>
          </a:prstGeom>
          <a:noFill/>
          <a:ln w="0">
            <a:noFill/>
          </a:ln>
        </p:spPr>
        <p:txBody>
          <a:bodyPr>
            <a:noAutofit/>
          </a:bodyPr>
          <a:lstStyle/>
          <a:p>
            <a:pPr>
              <a:defRPr sz="2625" b="1">
                <a:solidFill>
                  <a:srgbClr val="227C9D"/>
                </a:solidFill>
                <a:latin typeface="Helvetica Neue"/>
                <a:ea typeface="Helvetica Neue"/>
                <a:cs typeface="Helvetica Neue"/>
              </a:defRPr>
            </a:pPr>
            <a:r>
              <a:rPr sz="2625" b="1">
                <a:solidFill>
                  <a:srgbClr val="227C9D"/>
                </a:solidFill>
                <a:latin typeface="Helvetica Neue"/>
                <a:ea typeface="Helvetica Neue"/>
                <a:cs typeface="Helvetica Neue"/>
              </a:rPr>
              <a:t>Both accessible</a:t>
            </a:r>
          </a:p>
        </p:txBody>
      </p:sp>
      <p:sp>
        <p:nvSpPr>
          <p:cNvPr id="5" name="Rectangle 4">
            <a:extLst>
              <a:ext uri="{FF2B5EF4-FFF2-40B4-BE49-F238E27FC236}">
                <a16:creationId xmlns:a16="http://schemas.microsoft.com/office/drawing/2014/main" id="{3A8BC57C-AF25-45B2-80B5-64A8B35EC4E8}"/>
              </a:ext>
            </a:extLst>
          </p:cNvPr>
          <p:cNvSpPr>
            <a:spLocks noGrp="1"/>
          </p:cNvSpPr>
          <p:nvPr/>
        </p:nvSpPr>
        <p:spPr>
          <a:xfrm>
            <a:off x="1238250" y="2428875"/>
            <a:ext cx="9715500" cy="476250"/>
          </a:xfrm>
          <a:prstGeom prst="rect">
            <a:avLst/>
          </a:prstGeom>
          <a:noFill/>
          <a:ln w="0">
            <a:noFill/>
          </a:ln>
        </p:spPr>
        <p:txBody>
          <a:bodyPr>
            <a:noAutofit/>
          </a:bodyPr>
          <a:lstStyle/>
          <a:p>
            <a:pPr>
              <a:defRPr sz="2100" b="0">
                <a:solidFill>
                  <a:srgbClr val="243136"/>
                </a:solidFill>
                <a:latin typeface="Helvetica Neue"/>
                <a:ea typeface="Helvetica Neue"/>
                <a:cs typeface="Helvetica Neue"/>
              </a:defRPr>
            </a:pPr>
            <a:r>
              <a:rPr sz="2100" b="0">
                <a:solidFill>
                  <a:srgbClr val="243136"/>
                </a:solidFill>
                <a:latin typeface="Helvetica Neue"/>
                <a:ea typeface="Helvetica Neue"/>
                <a:cs typeface="Helvetica Neue"/>
              </a:rPr>
              <a:t>Within the circle and the walking budget</a:t>
            </a:r>
          </a:p>
        </p:txBody>
      </p:sp>
      <p:sp>
        <p:nvSpPr>
          <p:cNvPr id="6" name="Oval 5">
            <a:extLst>
              <a:ext uri="{FF2B5EF4-FFF2-40B4-BE49-F238E27FC236}">
                <a16:creationId xmlns:a16="http://schemas.microsoft.com/office/drawing/2014/main" id="{00356286-92B9-45A0-932D-37988DDF8FC7}"/>
              </a:ext>
            </a:extLst>
          </p:cNvPr>
          <p:cNvSpPr>
            <a:spLocks noGrp="1"/>
          </p:cNvSpPr>
          <p:nvPr/>
        </p:nvSpPr>
        <p:spPr>
          <a:xfrm>
            <a:off x="742950" y="3314700"/>
            <a:ext cx="228600" cy="228600"/>
          </a:xfrm>
          <a:prstGeom prst="ellipse">
            <a:avLst/>
          </a:prstGeom>
          <a:solidFill>
            <a:srgbClr val="9CB7BC"/>
          </a:solidFill>
          <a:ln w="0">
            <a:noFill/>
          </a:ln>
        </p:spPr>
        <p:txBody>
          <a:bodyPr/>
          <a:lstStyle/>
          <a:p>
            <a:endParaRPr lang="en-US"/>
          </a:p>
        </p:txBody>
      </p:sp>
      <p:sp>
        <p:nvSpPr>
          <p:cNvPr id="7" name="Rectangle 6">
            <a:extLst>
              <a:ext uri="{FF2B5EF4-FFF2-40B4-BE49-F238E27FC236}">
                <a16:creationId xmlns:a16="http://schemas.microsoft.com/office/drawing/2014/main" id="{BAF86F40-7E31-4DE3-9190-3BA85ADB9CEF}"/>
              </a:ext>
            </a:extLst>
          </p:cNvPr>
          <p:cNvSpPr>
            <a:spLocks noGrp="1"/>
          </p:cNvSpPr>
          <p:nvPr/>
        </p:nvSpPr>
        <p:spPr>
          <a:xfrm>
            <a:off x="1238250" y="3095625"/>
            <a:ext cx="9715500" cy="523875"/>
          </a:xfrm>
          <a:prstGeom prst="rect">
            <a:avLst/>
          </a:prstGeom>
          <a:noFill/>
          <a:ln w="0">
            <a:noFill/>
          </a:ln>
        </p:spPr>
        <p:txBody>
          <a:bodyPr>
            <a:noAutofit/>
          </a:bodyPr>
          <a:lstStyle/>
          <a:p>
            <a:pPr>
              <a:defRPr sz="2625" b="1">
                <a:solidFill>
                  <a:srgbClr val="9CB7BC"/>
                </a:solidFill>
                <a:latin typeface="Helvetica Neue"/>
                <a:ea typeface="Helvetica Neue"/>
                <a:cs typeface="Helvetica Neue"/>
              </a:defRPr>
            </a:pPr>
            <a:r>
              <a:rPr sz="2625" b="1">
                <a:solidFill>
                  <a:srgbClr val="9CB7BC"/>
                </a:solidFill>
                <a:latin typeface="Helvetica Neue"/>
                <a:ea typeface="Helvetica Neue"/>
                <a:cs typeface="Helvetica Neue"/>
              </a:rPr>
              <a:t>Neither</a:t>
            </a:r>
          </a:p>
        </p:txBody>
      </p:sp>
      <p:sp>
        <p:nvSpPr>
          <p:cNvPr id="8" name="Rectangle 7">
            <a:extLst>
              <a:ext uri="{FF2B5EF4-FFF2-40B4-BE49-F238E27FC236}">
                <a16:creationId xmlns:a16="http://schemas.microsoft.com/office/drawing/2014/main" id="{78033DB4-97F6-4656-8795-84A1BFD36F75}"/>
              </a:ext>
            </a:extLst>
          </p:cNvPr>
          <p:cNvSpPr>
            <a:spLocks noGrp="1"/>
          </p:cNvSpPr>
          <p:nvPr/>
        </p:nvSpPr>
        <p:spPr>
          <a:xfrm>
            <a:off x="1238250" y="3619500"/>
            <a:ext cx="9715500" cy="476250"/>
          </a:xfrm>
          <a:prstGeom prst="rect">
            <a:avLst/>
          </a:prstGeom>
          <a:noFill/>
          <a:ln w="0">
            <a:noFill/>
          </a:ln>
        </p:spPr>
        <p:txBody>
          <a:bodyPr>
            <a:noAutofit/>
          </a:bodyPr>
          <a:lstStyle/>
          <a:p>
            <a:pPr>
              <a:defRPr sz="2100" b="0">
                <a:solidFill>
                  <a:srgbClr val="243136"/>
                </a:solidFill>
                <a:latin typeface="Helvetica Neue"/>
                <a:ea typeface="Helvetica Neue"/>
                <a:cs typeface="Helvetica Neue"/>
              </a:defRPr>
            </a:pPr>
            <a:r>
              <a:rPr sz="2100" b="0">
                <a:solidFill>
                  <a:srgbClr val="243136"/>
                </a:solidFill>
                <a:latin typeface="Helvetica Neue"/>
                <a:ea typeface="Helvetica Neue"/>
                <a:cs typeface="Helvetica Neue"/>
              </a:rPr>
              <a:t>Outside both budgets</a:t>
            </a:r>
          </a:p>
        </p:txBody>
      </p:sp>
      <p:sp>
        <p:nvSpPr>
          <p:cNvPr id="9" name="Oval 8">
            <a:extLst>
              <a:ext uri="{FF2B5EF4-FFF2-40B4-BE49-F238E27FC236}">
                <a16:creationId xmlns:a16="http://schemas.microsoft.com/office/drawing/2014/main" id="{15EE18E3-0F8F-4C83-B95E-65A8FB420B3E}"/>
              </a:ext>
            </a:extLst>
          </p:cNvPr>
          <p:cNvSpPr>
            <a:spLocks noGrp="1"/>
          </p:cNvSpPr>
          <p:nvPr/>
        </p:nvSpPr>
        <p:spPr>
          <a:xfrm>
            <a:off x="742950" y="4505325"/>
            <a:ext cx="228600" cy="228600"/>
          </a:xfrm>
          <a:prstGeom prst="ellipse">
            <a:avLst/>
          </a:prstGeom>
          <a:solidFill>
            <a:srgbClr val="DB724C"/>
          </a:solidFill>
          <a:ln w="0">
            <a:noFill/>
          </a:ln>
        </p:spPr>
        <p:txBody>
          <a:bodyPr/>
          <a:lstStyle/>
          <a:p>
            <a:endParaRPr lang="en-US"/>
          </a:p>
        </p:txBody>
      </p:sp>
      <p:sp>
        <p:nvSpPr>
          <p:cNvPr id="10" name="Rectangle 9">
            <a:extLst>
              <a:ext uri="{FF2B5EF4-FFF2-40B4-BE49-F238E27FC236}">
                <a16:creationId xmlns:a16="http://schemas.microsoft.com/office/drawing/2014/main" id="{F8019AF7-06E8-414F-990E-651FF0A94820}"/>
              </a:ext>
            </a:extLst>
          </p:cNvPr>
          <p:cNvSpPr>
            <a:spLocks noGrp="1"/>
          </p:cNvSpPr>
          <p:nvPr/>
        </p:nvSpPr>
        <p:spPr>
          <a:xfrm>
            <a:off x="1238250" y="4286250"/>
            <a:ext cx="9715500" cy="523875"/>
          </a:xfrm>
          <a:prstGeom prst="rect">
            <a:avLst/>
          </a:prstGeom>
          <a:noFill/>
          <a:ln w="0">
            <a:noFill/>
          </a:ln>
        </p:spPr>
        <p:txBody>
          <a:bodyPr>
            <a:noAutofit/>
          </a:bodyPr>
          <a:lstStyle/>
          <a:p>
            <a:pPr>
              <a:defRPr sz="2625" b="1">
                <a:solidFill>
                  <a:srgbClr val="DB724C"/>
                </a:solidFill>
                <a:latin typeface="Helvetica Neue"/>
                <a:ea typeface="Helvetica Neue"/>
                <a:cs typeface="Helvetica Neue"/>
              </a:defRPr>
            </a:pPr>
            <a:r>
              <a:rPr sz="2625" b="1">
                <a:solidFill>
                  <a:srgbClr val="DB724C"/>
                </a:solidFill>
                <a:latin typeface="Helvetica Neue"/>
                <a:ea typeface="Helvetica Neue"/>
                <a:cs typeface="Helvetica Neue"/>
              </a:rPr>
              <a:t>Euclidean yes / network no</a:t>
            </a:r>
          </a:p>
        </p:txBody>
      </p:sp>
      <p:sp>
        <p:nvSpPr>
          <p:cNvPr id="11" name="Rectangle 10">
            <a:extLst>
              <a:ext uri="{FF2B5EF4-FFF2-40B4-BE49-F238E27FC236}">
                <a16:creationId xmlns:a16="http://schemas.microsoft.com/office/drawing/2014/main" id="{FC7FA238-12F8-4DFE-8C38-0B1AE6FC959B}"/>
              </a:ext>
            </a:extLst>
          </p:cNvPr>
          <p:cNvSpPr>
            <a:spLocks noGrp="1"/>
          </p:cNvSpPr>
          <p:nvPr/>
        </p:nvSpPr>
        <p:spPr>
          <a:xfrm>
            <a:off x="1238250" y="4810125"/>
            <a:ext cx="9715500" cy="476250"/>
          </a:xfrm>
          <a:prstGeom prst="rect">
            <a:avLst/>
          </a:prstGeom>
          <a:noFill/>
          <a:ln w="0">
            <a:noFill/>
          </a:ln>
        </p:spPr>
        <p:txBody>
          <a:bodyPr>
            <a:noAutofit/>
          </a:bodyPr>
          <a:lstStyle/>
          <a:p>
            <a:pPr>
              <a:defRPr sz="2100" b="0">
                <a:solidFill>
                  <a:srgbClr val="243136"/>
                </a:solidFill>
                <a:latin typeface="Helvetica Neue"/>
                <a:ea typeface="Helvetica Neue"/>
                <a:cs typeface="Helvetica Neue"/>
              </a:defRPr>
            </a:pPr>
            <a:r>
              <a:rPr sz="2100" b="0">
                <a:solidFill>
                  <a:srgbClr val="243136"/>
                </a:solidFill>
                <a:latin typeface="Helvetica Neue"/>
                <a:ea typeface="Helvetica Neue"/>
                <a:cs typeface="Helvetica Neue"/>
              </a:rPr>
              <a:t>Near the station, but the walking route is longer</a:t>
            </a:r>
          </a:p>
        </p:txBody>
      </p:sp>
      <p:sp>
        <p:nvSpPr>
          <p:cNvPr id="12" name="Rectangle 11">
            <a:extLst>
              <a:ext uri="{FF2B5EF4-FFF2-40B4-BE49-F238E27FC236}">
                <a16:creationId xmlns:a16="http://schemas.microsoft.com/office/drawing/2014/main" id="{AF108496-31E3-4636-82F7-1DC45F9771C3}"/>
              </a:ext>
            </a:extLst>
          </p:cNvPr>
          <p:cNvSpPr>
            <a:spLocks noGrp="1"/>
          </p:cNvSpPr>
          <p:nvPr/>
        </p:nvSpPr>
        <p:spPr>
          <a:xfrm>
            <a:off x="666750" y="5953125"/>
            <a:ext cx="10763250" cy="495300"/>
          </a:xfrm>
          <a:prstGeom prst="rect">
            <a:avLst/>
          </a:prstGeom>
          <a:noFill/>
          <a:ln w="0">
            <a:noFill/>
          </a:ln>
        </p:spPr>
        <p:txBody>
          <a:bodyPr>
            <a:noAutofit/>
          </a:bodyPr>
          <a:lstStyle/>
          <a:p>
            <a:pPr>
              <a:defRPr sz="1800" b="0">
                <a:solidFill>
                  <a:srgbClr val="5B676A"/>
                </a:solidFill>
                <a:latin typeface="Helvetica Neue"/>
                <a:ea typeface="Helvetica Neue"/>
                <a:cs typeface="Helvetica Neue"/>
              </a:defRPr>
            </a:pPr>
            <a:r>
              <a:rPr sz="1800" b="0">
                <a:solidFill>
                  <a:srgbClr val="5B676A"/>
                </a:solidFill>
                <a:latin typeface="Helvetica Neue"/>
                <a:ea typeface="Helvetica Neue"/>
                <a:cs typeface="Helvetica Neue"/>
              </a:rPr>
              <a:t>Network yes / Euclidean no? Check that endpoints and distance units really match.</a:t>
            </a:r>
          </a:p>
        </p:txBody>
      </p:sp>
    </p:spTree>
    <p:extLst>
      <p:ext uri="{BB962C8B-B14F-4D97-AF65-F5344CB8AC3E}">
        <p14:creationId xmlns:p14="http://schemas.microsoft.com/office/powerpoint/2010/main" val="10210973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TextBox 1"/>
          <p:cNvSpPr txBox="1"/>
          <p:nvPr/>
        </p:nvSpPr>
        <p:spPr>
          <a:xfrm>
            <a:off x="590702" y="437997"/>
            <a:ext cx="11009376" cy="1047902"/>
          </a:xfrm>
          <a:prstGeom prst="rect">
            <a:avLst/>
          </a:prstGeom>
          <a:noFill/>
        </p:spPr>
        <p:txBody>
          <a:bodyPr wrap="square" anchor="t">
            <a:spAutoFit/>
          </a:bodyPr>
          <a:lstStyle/>
          <a:p>
            <a:pPr algn="l"/>
            <a:r>
              <a:rPr sz="3450" b="1">
                <a:solidFill>
                  <a:srgbClr val="243136"/>
                </a:solidFill>
                <a:latin typeface="Helvetica Neue"/>
              </a:rPr>
              <a:t>Change the destination, keep the logic</a:t>
            </a:r>
          </a:p>
        </p:txBody>
      </p:sp>
      <p:sp>
        <p:nvSpPr>
          <p:cNvPr id="3" name="Rounded Rectangle 2"/>
          <p:cNvSpPr/>
          <p:nvPr/>
        </p:nvSpPr>
        <p:spPr>
          <a:xfrm>
            <a:off x="667512" y="1554480"/>
            <a:ext cx="2377440" cy="1417320"/>
          </a:xfrm>
          <a:prstGeom prst="roundRect">
            <a:avLst>
              <a:gd name="adj" fmla="val 12000"/>
            </a:avLst>
          </a:prstGeom>
          <a:solidFill>
            <a:srgbClr val="ECE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58952" y="1627632"/>
            <a:ext cx="2194560" cy="731520"/>
          </a:xfrm>
          <a:prstGeom prst="rect">
            <a:avLst/>
          </a:prstGeom>
          <a:noFill/>
        </p:spPr>
        <p:txBody>
          <a:bodyPr wrap="square" anchor="t">
            <a:spAutoFit/>
          </a:bodyPr>
          <a:lstStyle/>
          <a:p>
            <a:pPr algn="ctr"/>
            <a:r>
              <a:rPr sz="1700" b="1">
                <a:solidFill>
                  <a:srgbClr val="227C9D"/>
                </a:solidFill>
                <a:latin typeface="Helvetica Neue"/>
              </a:rPr>
              <a:t>Network</a:t>
            </a:r>
          </a:p>
        </p:txBody>
      </p:sp>
      <p:sp>
        <p:nvSpPr>
          <p:cNvPr id="5" name="TextBox 4"/>
          <p:cNvSpPr txBox="1"/>
          <p:nvPr/>
        </p:nvSpPr>
        <p:spPr>
          <a:xfrm>
            <a:off x="758952" y="2487168"/>
            <a:ext cx="2194560" cy="365760"/>
          </a:xfrm>
          <a:prstGeom prst="rect">
            <a:avLst/>
          </a:prstGeom>
          <a:noFill/>
        </p:spPr>
        <p:txBody>
          <a:bodyPr wrap="square" anchor="t">
            <a:spAutoFit/>
          </a:bodyPr>
          <a:lstStyle/>
          <a:p>
            <a:pPr algn="ctr"/>
            <a:r>
              <a:rPr sz="1400" b="0">
                <a:solidFill>
                  <a:srgbClr val="5B676A"/>
                </a:solidFill>
                <a:latin typeface="Menlo"/>
              </a:rPr>
              <a:t>pdna.Network()</a:t>
            </a:r>
          </a:p>
        </p:txBody>
      </p:sp>
      <p:sp>
        <p:nvSpPr>
          <p:cNvPr id="6" name="TextBox 5"/>
          <p:cNvSpPr txBox="1"/>
          <p:nvPr/>
        </p:nvSpPr>
        <p:spPr>
          <a:xfrm>
            <a:off x="3026664" y="2011680"/>
            <a:ext cx="411480" cy="457200"/>
          </a:xfrm>
          <a:prstGeom prst="rect">
            <a:avLst/>
          </a:prstGeom>
          <a:noFill/>
        </p:spPr>
        <p:txBody>
          <a:bodyPr wrap="square" anchor="t">
            <a:spAutoFit/>
          </a:bodyPr>
          <a:lstStyle/>
          <a:p>
            <a:pPr algn="ctr"/>
            <a:r>
              <a:rPr sz="2200" b="0">
                <a:solidFill>
                  <a:srgbClr val="5B676A"/>
                </a:solidFill>
                <a:latin typeface="Helvetica Neue"/>
              </a:rPr>
              <a:t>→</a:t>
            </a:r>
          </a:p>
        </p:txBody>
      </p:sp>
      <p:sp>
        <p:nvSpPr>
          <p:cNvPr id="7" name="Rounded Rectangle 6"/>
          <p:cNvSpPr/>
          <p:nvPr/>
        </p:nvSpPr>
        <p:spPr>
          <a:xfrm>
            <a:off x="3438144" y="1554480"/>
            <a:ext cx="2377440" cy="1417320"/>
          </a:xfrm>
          <a:prstGeom prst="roundRect">
            <a:avLst>
              <a:gd name="adj" fmla="val 12000"/>
            </a:avLst>
          </a:prstGeom>
          <a:solidFill>
            <a:srgbClr val="ECE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529584" y="1627632"/>
            <a:ext cx="2194560" cy="731520"/>
          </a:xfrm>
          <a:prstGeom prst="rect">
            <a:avLst/>
          </a:prstGeom>
          <a:noFill/>
        </p:spPr>
        <p:txBody>
          <a:bodyPr wrap="square" anchor="t">
            <a:spAutoFit/>
          </a:bodyPr>
          <a:lstStyle/>
          <a:p>
            <a:pPr algn="ctr"/>
            <a:r>
              <a:rPr sz="1700" b="1">
                <a:solidFill>
                  <a:srgbClr val="227C9D"/>
                </a:solidFill>
                <a:latin typeface="Helvetica Neue"/>
              </a:rPr>
              <a:t>Attach</a:t>
            </a:r>
          </a:p>
          <a:p>
            <a:pPr algn="ctr"/>
            <a:r>
              <a:rPr sz="1700" b="1">
                <a:solidFill>
                  <a:srgbClr val="227C9D"/>
                </a:solidFill>
                <a:latin typeface="Helvetica Neue"/>
              </a:rPr>
              <a:t>destinations</a:t>
            </a:r>
          </a:p>
        </p:txBody>
      </p:sp>
      <p:sp>
        <p:nvSpPr>
          <p:cNvPr id="9" name="TextBox 8"/>
          <p:cNvSpPr txBox="1"/>
          <p:nvPr/>
        </p:nvSpPr>
        <p:spPr>
          <a:xfrm>
            <a:off x="3529584" y="2487168"/>
            <a:ext cx="2194560" cy="365760"/>
          </a:xfrm>
          <a:prstGeom prst="rect">
            <a:avLst/>
          </a:prstGeom>
          <a:noFill/>
        </p:spPr>
        <p:txBody>
          <a:bodyPr wrap="square" anchor="t">
            <a:spAutoFit/>
          </a:bodyPr>
          <a:lstStyle/>
          <a:p>
            <a:pPr algn="ctr"/>
            <a:r>
              <a:rPr sz="1400" b="0">
                <a:solidFill>
                  <a:srgbClr val="5B676A"/>
                </a:solidFill>
                <a:latin typeface="Menlo"/>
              </a:rPr>
              <a:t>set_pois()</a:t>
            </a:r>
          </a:p>
        </p:txBody>
      </p:sp>
      <p:sp>
        <p:nvSpPr>
          <p:cNvPr id="10" name="TextBox 9"/>
          <p:cNvSpPr txBox="1"/>
          <p:nvPr/>
        </p:nvSpPr>
        <p:spPr>
          <a:xfrm>
            <a:off x="5797296" y="2011680"/>
            <a:ext cx="411480" cy="457200"/>
          </a:xfrm>
          <a:prstGeom prst="rect">
            <a:avLst/>
          </a:prstGeom>
          <a:noFill/>
        </p:spPr>
        <p:txBody>
          <a:bodyPr wrap="square" anchor="t">
            <a:spAutoFit/>
          </a:bodyPr>
          <a:lstStyle/>
          <a:p>
            <a:pPr algn="ctr"/>
            <a:r>
              <a:rPr sz="2200" b="0">
                <a:solidFill>
                  <a:srgbClr val="5B676A"/>
                </a:solidFill>
                <a:latin typeface="Helvetica Neue"/>
              </a:rPr>
              <a:t>→</a:t>
            </a:r>
          </a:p>
        </p:txBody>
      </p:sp>
      <p:sp>
        <p:nvSpPr>
          <p:cNvPr id="11" name="Rounded Rectangle 10"/>
          <p:cNvSpPr/>
          <p:nvPr/>
        </p:nvSpPr>
        <p:spPr>
          <a:xfrm>
            <a:off x="6208776" y="1554480"/>
            <a:ext cx="2377440" cy="1417320"/>
          </a:xfrm>
          <a:prstGeom prst="roundRect">
            <a:avLst>
              <a:gd name="adj" fmla="val 12000"/>
            </a:avLst>
          </a:prstGeom>
          <a:solidFill>
            <a:srgbClr val="ECE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00216" y="1627632"/>
            <a:ext cx="2194560" cy="731520"/>
          </a:xfrm>
          <a:prstGeom prst="rect">
            <a:avLst/>
          </a:prstGeom>
          <a:noFill/>
        </p:spPr>
        <p:txBody>
          <a:bodyPr wrap="square" anchor="t">
            <a:spAutoFit/>
          </a:bodyPr>
          <a:lstStyle/>
          <a:p>
            <a:pPr algn="ctr"/>
            <a:r>
              <a:rPr sz="1700" b="1">
                <a:solidFill>
                  <a:srgbClr val="227C9D"/>
                </a:solidFill>
                <a:latin typeface="Helvetica Neue"/>
              </a:rPr>
              <a:t>Query</a:t>
            </a:r>
          </a:p>
          <a:p>
            <a:pPr algn="ctr"/>
            <a:r>
              <a:rPr sz="1700" b="1">
                <a:solidFill>
                  <a:srgbClr val="227C9D"/>
                </a:solidFill>
                <a:latin typeface="Helvetica Neue"/>
              </a:rPr>
              <a:t>network cost</a:t>
            </a:r>
          </a:p>
        </p:txBody>
      </p:sp>
      <p:sp>
        <p:nvSpPr>
          <p:cNvPr id="13" name="TextBox 12"/>
          <p:cNvSpPr txBox="1"/>
          <p:nvPr/>
        </p:nvSpPr>
        <p:spPr>
          <a:xfrm>
            <a:off x="6300216" y="2487168"/>
            <a:ext cx="2194560" cy="365760"/>
          </a:xfrm>
          <a:prstGeom prst="rect">
            <a:avLst/>
          </a:prstGeom>
          <a:noFill/>
        </p:spPr>
        <p:txBody>
          <a:bodyPr wrap="square" anchor="t">
            <a:spAutoFit/>
          </a:bodyPr>
          <a:lstStyle/>
          <a:p>
            <a:pPr algn="ctr"/>
            <a:r>
              <a:rPr sz="1400" b="0">
                <a:solidFill>
                  <a:srgbClr val="5B676A"/>
                </a:solidFill>
                <a:latin typeface="Menlo"/>
              </a:rPr>
              <a:t>nearest_pois()</a:t>
            </a:r>
          </a:p>
        </p:txBody>
      </p:sp>
      <p:sp>
        <p:nvSpPr>
          <p:cNvPr id="14" name="TextBox 13"/>
          <p:cNvSpPr txBox="1"/>
          <p:nvPr/>
        </p:nvSpPr>
        <p:spPr>
          <a:xfrm>
            <a:off x="8567928" y="2011680"/>
            <a:ext cx="411480" cy="457200"/>
          </a:xfrm>
          <a:prstGeom prst="rect">
            <a:avLst/>
          </a:prstGeom>
          <a:noFill/>
        </p:spPr>
        <p:txBody>
          <a:bodyPr wrap="square" anchor="t">
            <a:spAutoFit/>
          </a:bodyPr>
          <a:lstStyle/>
          <a:p>
            <a:pPr algn="ctr"/>
            <a:r>
              <a:rPr sz="2200" b="0">
                <a:solidFill>
                  <a:srgbClr val="5B676A"/>
                </a:solidFill>
                <a:latin typeface="Helvetica Neue"/>
              </a:rPr>
              <a:t>→</a:t>
            </a:r>
          </a:p>
        </p:txBody>
      </p:sp>
      <p:sp>
        <p:nvSpPr>
          <p:cNvPr id="15" name="Rounded Rectangle 14"/>
          <p:cNvSpPr/>
          <p:nvPr/>
        </p:nvSpPr>
        <p:spPr>
          <a:xfrm>
            <a:off x="8979408" y="1554480"/>
            <a:ext cx="2377440" cy="1417320"/>
          </a:xfrm>
          <a:prstGeom prst="roundRect">
            <a:avLst>
              <a:gd name="adj" fmla="val 12000"/>
            </a:avLst>
          </a:prstGeom>
          <a:solidFill>
            <a:srgbClr val="ECE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070848" y="1627632"/>
            <a:ext cx="2194560" cy="731520"/>
          </a:xfrm>
          <a:prstGeom prst="rect">
            <a:avLst/>
          </a:prstGeom>
          <a:noFill/>
        </p:spPr>
        <p:txBody>
          <a:bodyPr wrap="square" anchor="t">
            <a:spAutoFit/>
          </a:bodyPr>
          <a:lstStyle/>
          <a:p>
            <a:pPr algn="ctr"/>
            <a:r>
              <a:rPr sz="1700" b="1">
                <a:solidFill>
                  <a:srgbClr val="227C9D"/>
                </a:solidFill>
                <a:latin typeface="Helvetica Neue"/>
              </a:rPr>
              <a:t>Summarize</a:t>
            </a:r>
          </a:p>
          <a:p>
            <a:pPr algn="ctr"/>
            <a:r>
              <a:rPr sz="1700" b="1">
                <a:solidFill>
                  <a:srgbClr val="227C9D"/>
                </a:solidFill>
                <a:latin typeface="Helvetica Neue"/>
              </a:rPr>
              <a:t>accessibility</a:t>
            </a:r>
          </a:p>
        </p:txBody>
      </p:sp>
      <p:sp>
        <p:nvSpPr>
          <p:cNvPr id="17" name="TextBox 16"/>
          <p:cNvSpPr txBox="1"/>
          <p:nvPr/>
        </p:nvSpPr>
        <p:spPr>
          <a:xfrm>
            <a:off x="9070848" y="2487168"/>
            <a:ext cx="2194560" cy="365760"/>
          </a:xfrm>
          <a:prstGeom prst="rect">
            <a:avLst/>
          </a:prstGeom>
          <a:noFill/>
        </p:spPr>
        <p:txBody>
          <a:bodyPr wrap="square" anchor="t">
            <a:spAutoFit/>
          </a:bodyPr>
          <a:lstStyle/>
          <a:p>
            <a:pPr algn="ctr"/>
            <a:r>
              <a:rPr sz="1400" b="0">
                <a:solidFill>
                  <a:srgbClr val="5B676A"/>
                </a:solidFill>
                <a:latin typeface="Menlo"/>
              </a:rPr>
              <a:t>d &lt;= C</a:t>
            </a:r>
          </a:p>
        </p:txBody>
      </p:sp>
      <p:sp>
        <p:nvSpPr>
          <p:cNvPr id="18" name="TextBox 17"/>
          <p:cNvSpPr txBox="1"/>
          <p:nvPr/>
        </p:nvSpPr>
        <p:spPr>
          <a:xfrm>
            <a:off x="667512" y="3337560"/>
            <a:ext cx="2075688" cy="411480"/>
          </a:xfrm>
          <a:prstGeom prst="rect">
            <a:avLst/>
          </a:prstGeom>
          <a:noFill/>
        </p:spPr>
        <p:txBody>
          <a:bodyPr wrap="square" anchor="t">
            <a:spAutoFit/>
          </a:bodyPr>
          <a:lstStyle/>
          <a:p>
            <a:pPr algn="l"/>
            <a:r>
              <a:rPr sz="1900" b="1">
                <a:solidFill>
                  <a:srgbClr val="243136"/>
                </a:solidFill>
                <a:latin typeface="Helvetica Neue"/>
              </a:rPr>
              <a:t>Grocery</a:t>
            </a:r>
          </a:p>
        </p:txBody>
      </p:sp>
      <p:sp>
        <p:nvSpPr>
          <p:cNvPr id="19" name="TextBox 18"/>
          <p:cNvSpPr txBox="1"/>
          <p:nvPr/>
        </p:nvSpPr>
        <p:spPr>
          <a:xfrm>
            <a:off x="667512" y="3767328"/>
            <a:ext cx="2029967" cy="822960"/>
          </a:xfrm>
          <a:prstGeom prst="rect">
            <a:avLst/>
          </a:prstGeom>
          <a:noFill/>
        </p:spPr>
        <p:txBody>
          <a:bodyPr wrap="square" anchor="t">
            <a:spAutoFit/>
          </a:bodyPr>
          <a:lstStyle/>
          <a:p>
            <a:pPr algn="l"/>
            <a:r>
              <a:rPr sz="1500" b="0">
                <a:solidFill>
                  <a:srgbClr val="5B676A"/>
                </a:solidFill>
                <a:latin typeface="Helvetica Neue"/>
              </a:rPr>
              <a:t>Which stores count?</a:t>
            </a:r>
          </a:p>
        </p:txBody>
      </p:sp>
      <p:sp>
        <p:nvSpPr>
          <p:cNvPr id="20" name="TextBox 19"/>
          <p:cNvSpPr txBox="1"/>
          <p:nvPr/>
        </p:nvSpPr>
        <p:spPr>
          <a:xfrm>
            <a:off x="2880360" y="3337560"/>
            <a:ext cx="2075688" cy="411480"/>
          </a:xfrm>
          <a:prstGeom prst="rect">
            <a:avLst/>
          </a:prstGeom>
          <a:noFill/>
        </p:spPr>
        <p:txBody>
          <a:bodyPr wrap="square" anchor="t">
            <a:spAutoFit/>
          </a:bodyPr>
          <a:lstStyle/>
          <a:p>
            <a:pPr algn="l"/>
            <a:r>
              <a:rPr sz="1900" b="1">
                <a:solidFill>
                  <a:srgbClr val="243136"/>
                </a:solidFill>
                <a:latin typeface="Helvetica Neue"/>
              </a:rPr>
              <a:t>Parks</a:t>
            </a:r>
          </a:p>
        </p:txBody>
      </p:sp>
      <p:sp>
        <p:nvSpPr>
          <p:cNvPr id="21" name="TextBox 20"/>
          <p:cNvSpPr txBox="1"/>
          <p:nvPr/>
        </p:nvSpPr>
        <p:spPr>
          <a:xfrm>
            <a:off x="2880360" y="3767328"/>
            <a:ext cx="2029967" cy="822960"/>
          </a:xfrm>
          <a:prstGeom prst="rect">
            <a:avLst/>
          </a:prstGeom>
          <a:noFill/>
        </p:spPr>
        <p:txBody>
          <a:bodyPr wrap="square" anchor="t">
            <a:spAutoFit/>
          </a:bodyPr>
          <a:lstStyle/>
          <a:p>
            <a:pPr algn="l"/>
            <a:r>
              <a:rPr sz="1500" b="0">
                <a:solidFill>
                  <a:srgbClr val="5B676A"/>
                </a:solidFill>
                <a:latin typeface="Helvetica Neue"/>
              </a:rPr>
              <a:t>Public entrances, not centroids</a:t>
            </a:r>
          </a:p>
        </p:txBody>
      </p:sp>
      <p:sp>
        <p:nvSpPr>
          <p:cNvPr id="22" name="TextBox 21"/>
          <p:cNvSpPr txBox="1"/>
          <p:nvPr/>
        </p:nvSpPr>
        <p:spPr>
          <a:xfrm>
            <a:off x="5093208" y="3337560"/>
            <a:ext cx="2075688" cy="411480"/>
          </a:xfrm>
          <a:prstGeom prst="rect">
            <a:avLst/>
          </a:prstGeom>
          <a:noFill/>
        </p:spPr>
        <p:txBody>
          <a:bodyPr wrap="square" anchor="t">
            <a:spAutoFit/>
          </a:bodyPr>
          <a:lstStyle/>
          <a:p>
            <a:pPr algn="l"/>
            <a:r>
              <a:rPr sz="1900" b="1">
                <a:solidFill>
                  <a:srgbClr val="243136"/>
                </a:solidFill>
                <a:latin typeface="Helvetica Neue"/>
              </a:rPr>
              <a:t>Jobs</a:t>
            </a:r>
          </a:p>
        </p:txBody>
      </p:sp>
      <p:sp>
        <p:nvSpPr>
          <p:cNvPr id="23" name="TextBox 22"/>
          <p:cNvSpPr txBox="1"/>
          <p:nvPr/>
        </p:nvSpPr>
        <p:spPr>
          <a:xfrm>
            <a:off x="5093208" y="3767328"/>
            <a:ext cx="2029967" cy="822960"/>
          </a:xfrm>
          <a:prstGeom prst="rect">
            <a:avLst/>
          </a:prstGeom>
          <a:noFill/>
        </p:spPr>
        <p:txBody>
          <a:bodyPr wrap="square" anchor="t">
            <a:spAutoFit/>
          </a:bodyPr>
          <a:lstStyle/>
          <a:p>
            <a:pPr algn="l"/>
            <a:r>
              <a:rPr sz="1500" b="0">
                <a:solidFill>
                  <a:srgbClr val="5B676A"/>
                </a:solidFill>
                <a:latin typeface="Helvetica Neue"/>
              </a:rPr>
              <a:t>Weight by number of jobs</a:t>
            </a:r>
          </a:p>
        </p:txBody>
      </p:sp>
      <p:sp>
        <p:nvSpPr>
          <p:cNvPr id="24" name="TextBox 23"/>
          <p:cNvSpPr txBox="1"/>
          <p:nvPr/>
        </p:nvSpPr>
        <p:spPr>
          <a:xfrm>
            <a:off x="7306056" y="3337560"/>
            <a:ext cx="2075688" cy="411480"/>
          </a:xfrm>
          <a:prstGeom prst="rect">
            <a:avLst/>
          </a:prstGeom>
          <a:noFill/>
        </p:spPr>
        <p:txBody>
          <a:bodyPr wrap="square" anchor="t">
            <a:spAutoFit/>
          </a:bodyPr>
          <a:lstStyle/>
          <a:p>
            <a:pPr algn="l"/>
            <a:r>
              <a:rPr sz="1900" b="1">
                <a:solidFill>
                  <a:srgbClr val="243136"/>
                </a:solidFill>
                <a:latin typeface="Helvetica Neue"/>
              </a:rPr>
              <a:t>Healthcare</a:t>
            </a:r>
          </a:p>
        </p:txBody>
      </p:sp>
      <p:sp>
        <p:nvSpPr>
          <p:cNvPr id="25" name="TextBox 24"/>
          <p:cNvSpPr txBox="1"/>
          <p:nvPr/>
        </p:nvSpPr>
        <p:spPr>
          <a:xfrm>
            <a:off x="7306056" y="3767328"/>
            <a:ext cx="2029967" cy="822960"/>
          </a:xfrm>
          <a:prstGeom prst="rect">
            <a:avLst/>
          </a:prstGeom>
          <a:noFill/>
        </p:spPr>
        <p:txBody>
          <a:bodyPr wrap="square" anchor="t">
            <a:spAutoFit/>
          </a:bodyPr>
          <a:lstStyle/>
          <a:p>
            <a:pPr algn="l"/>
            <a:r>
              <a:rPr sz="1500" b="0">
                <a:solidFill>
                  <a:srgbClr val="5B676A"/>
                </a:solidFill>
                <a:latin typeface="Helvetica Neue"/>
              </a:rPr>
              <a:t>Relevant services and capacity</a:t>
            </a:r>
          </a:p>
        </p:txBody>
      </p:sp>
      <p:sp>
        <p:nvSpPr>
          <p:cNvPr id="26" name="TextBox 25"/>
          <p:cNvSpPr txBox="1"/>
          <p:nvPr/>
        </p:nvSpPr>
        <p:spPr>
          <a:xfrm>
            <a:off x="9518904" y="3337560"/>
            <a:ext cx="2075688" cy="411480"/>
          </a:xfrm>
          <a:prstGeom prst="rect">
            <a:avLst/>
          </a:prstGeom>
          <a:noFill/>
        </p:spPr>
        <p:txBody>
          <a:bodyPr wrap="square" anchor="t">
            <a:spAutoFit/>
          </a:bodyPr>
          <a:lstStyle/>
          <a:p>
            <a:pPr algn="l"/>
            <a:r>
              <a:rPr sz="1900" b="1">
                <a:solidFill>
                  <a:srgbClr val="227C9D"/>
                </a:solidFill>
                <a:latin typeface="Helvetica Neue"/>
              </a:rPr>
              <a:t>Transit</a:t>
            </a:r>
          </a:p>
        </p:txBody>
      </p:sp>
      <p:sp>
        <p:nvSpPr>
          <p:cNvPr id="27" name="TextBox 26"/>
          <p:cNvSpPr txBox="1"/>
          <p:nvPr/>
        </p:nvSpPr>
        <p:spPr>
          <a:xfrm>
            <a:off x="9518904" y="3767328"/>
            <a:ext cx="2029967" cy="822960"/>
          </a:xfrm>
          <a:prstGeom prst="rect">
            <a:avLst/>
          </a:prstGeom>
          <a:noFill/>
        </p:spPr>
        <p:txBody>
          <a:bodyPr wrap="square" anchor="t">
            <a:spAutoFit/>
          </a:bodyPr>
          <a:lstStyle/>
          <a:p>
            <a:pPr algn="l"/>
            <a:r>
              <a:rPr sz="1500" b="0">
                <a:solidFill>
                  <a:srgbClr val="5B676A"/>
                </a:solidFill>
                <a:latin typeface="Helvetica Neue"/>
              </a:rPr>
              <a:t>Entrances; frequency is separate</a:t>
            </a:r>
          </a:p>
        </p:txBody>
      </p:sp>
      <p:sp>
        <p:nvSpPr>
          <p:cNvPr id="28" name="TextBox 27"/>
          <p:cNvSpPr txBox="1"/>
          <p:nvPr/>
        </p:nvSpPr>
        <p:spPr>
          <a:xfrm>
            <a:off x="667512" y="4892040"/>
            <a:ext cx="10789920" cy="457200"/>
          </a:xfrm>
          <a:prstGeom prst="rect">
            <a:avLst/>
          </a:prstGeom>
          <a:noFill/>
        </p:spPr>
        <p:txBody>
          <a:bodyPr wrap="square" anchor="t">
            <a:spAutoFit/>
          </a:bodyPr>
          <a:lstStyle/>
          <a:p>
            <a:pPr algn="l"/>
            <a:r>
              <a:rPr sz="1800" b="0">
                <a:solidFill>
                  <a:srgbClr val="243136"/>
                </a:solidFill>
                <a:latin typeface="Helvetica Neue"/>
              </a:rPr>
              <a:t>Same four steps for every row. Only the opportunity, the cost and the threshold change.</a:t>
            </a:r>
          </a:p>
        </p:txBody>
      </p:sp>
      <p:sp>
        <p:nvSpPr>
          <p:cNvPr id="29" name="TextBox 28"/>
          <p:cNvSpPr txBox="1"/>
          <p:nvPr/>
        </p:nvSpPr>
        <p:spPr>
          <a:xfrm>
            <a:off x="666597" y="5715000"/>
            <a:ext cx="10789920" cy="548640"/>
          </a:xfrm>
          <a:prstGeom prst="rect">
            <a:avLst/>
          </a:prstGeom>
          <a:noFill/>
        </p:spPr>
        <p:txBody>
          <a:bodyPr wrap="square" anchor="t">
            <a:spAutoFit/>
          </a:bodyPr>
          <a:lstStyle/>
          <a:p>
            <a:pPr algn="l"/>
            <a:r>
              <a:rPr sz="1900" b="0">
                <a:solidFill>
                  <a:srgbClr val="227C9D"/>
                </a:solidFill>
                <a:latin typeface="Helvetica Neue"/>
              </a:rPr>
              <a:t>Pandana is not a transit package. It is a general network-accessibility tool.</a:t>
            </a:r>
          </a:p>
        </p:txBody>
      </p:sp>
      <p:sp>
        <p:nvSpPr>
          <p:cNvPr id="30" name="TextBox 29"/>
          <p:cNvSpPr txBox="1"/>
          <p:nvPr/>
        </p:nvSpPr>
        <p:spPr>
          <a:xfrm>
            <a:off x="11594592" y="6515100"/>
            <a:ext cx="475488" cy="237744"/>
          </a:xfrm>
          <a:prstGeom prst="rect">
            <a:avLst/>
          </a:prstGeom>
          <a:noFill/>
        </p:spPr>
        <p:txBody>
          <a:bodyPr wrap="square" anchor="t">
            <a:spAutoFit/>
          </a:bodyPr>
          <a:lstStyle/>
          <a:p>
            <a:pPr algn="l"/>
            <a:r>
              <a:rPr sz="1200" b="0">
                <a:solidFill>
                  <a:srgbClr val="5B676A"/>
                </a:solidFill>
                <a:latin typeface="Helvetica Neue"/>
              </a:rPr>
              <a:t>39</a:t>
            </a:r>
          </a:p>
        </p:txBody>
      </p:sp>
    </p:spTree>
    <p:extLst>
      <p:ext uri="{BB962C8B-B14F-4D97-AF65-F5344CB8AC3E}">
        <p14:creationId xmlns:p14="http://schemas.microsoft.com/office/powerpoint/2010/main" val="13306453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bg>
      <p:bgPr>
        <a:solidFill>
          <a:srgbClr val="F6F3EC"/>
        </a:solidFill>
        <a:effectLst/>
      </p:bgPr>
    </p:bg>
    <p:spTree>
      <p:nvGrpSpPr>
        <p:cNvPr id="1" name=""/>
        <p:cNvGrpSpPr/>
        <p:nvPr/>
      </p:nvGrpSpPr>
      <p:grpSpPr>
        <a:xfrm>
          <a:off x="0" y="0"/>
          <a:ext cx="0" cy="0"/>
          <a:chOff x="0" y="0"/>
          <a:chExt cx="0" cy="0"/>
        </a:xfrm>
      </p:grpSpPr>
      <p:sp>
        <p:nvSpPr>
          <p:cNvPr id="2" name="TextBox 1"/>
          <p:cNvSpPr txBox="1"/>
          <p:nvPr/>
        </p:nvSpPr>
        <p:spPr>
          <a:xfrm>
            <a:off x="590702" y="437997"/>
            <a:ext cx="11009376" cy="1047902"/>
          </a:xfrm>
          <a:prstGeom prst="rect">
            <a:avLst/>
          </a:prstGeom>
          <a:noFill/>
        </p:spPr>
        <p:txBody>
          <a:bodyPr wrap="square" anchor="t">
            <a:spAutoFit/>
          </a:bodyPr>
          <a:lstStyle/>
          <a:p>
            <a:pPr algn="l"/>
            <a:r>
              <a:rPr sz="3450" b="1">
                <a:solidFill>
                  <a:srgbClr val="243136"/>
                </a:solidFill>
                <a:latin typeface="Helvetica Neue"/>
              </a:rPr>
              <a:t>OSMnx represents movement;</a:t>
            </a:r>
          </a:p>
          <a:p>
            <a:pPr algn="l"/>
            <a:r>
              <a:rPr sz="3450" b="1">
                <a:solidFill>
                  <a:srgbClr val="243136"/>
                </a:solidFill>
                <a:latin typeface="Helvetica Neue"/>
              </a:rPr>
              <a:t>Pandana measures access</a:t>
            </a:r>
          </a:p>
        </p:txBody>
      </p:sp>
      <p:sp>
        <p:nvSpPr>
          <p:cNvPr id="3" name="TextBox 2"/>
          <p:cNvSpPr txBox="1"/>
          <p:nvPr/>
        </p:nvSpPr>
        <p:spPr>
          <a:xfrm>
            <a:off x="667512" y="2148840"/>
            <a:ext cx="10881360" cy="548640"/>
          </a:xfrm>
          <a:prstGeom prst="rect">
            <a:avLst/>
          </a:prstGeom>
          <a:noFill/>
        </p:spPr>
        <p:txBody>
          <a:bodyPr wrap="square" anchor="t">
            <a:spAutoFit/>
          </a:bodyPr>
          <a:lstStyle/>
          <a:p>
            <a:pPr algn="l"/>
            <a:r>
              <a:rPr sz="2000" b="1">
                <a:solidFill>
                  <a:srgbClr val="227C9D"/>
                </a:solidFill>
                <a:latin typeface="Helvetica Neue"/>
              </a:rPr>
              <a:t>OSM</a:t>
            </a:r>
            <a:r>
              <a:rPr sz="2000" b="0">
                <a:solidFill>
                  <a:srgbClr val="5B676A"/>
                </a:solidFill>
                <a:latin typeface="Helvetica Neue"/>
              </a:rPr>
              <a:t> → </a:t>
            </a:r>
            <a:r>
              <a:rPr sz="2000" b="1">
                <a:solidFill>
                  <a:srgbClr val="227C9D"/>
                </a:solidFill>
                <a:latin typeface="Helvetica Neue"/>
              </a:rPr>
              <a:t>OSMnx graph</a:t>
            </a:r>
            <a:r>
              <a:rPr sz="2000" b="0">
                <a:solidFill>
                  <a:srgbClr val="5B676A"/>
                </a:solidFill>
                <a:latin typeface="Helvetica Neue"/>
              </a:rPr>
              <a:t> → </a:t>
            </a:r>
            <a:r>
              <a:rPr sz="2000" b="1">
                <a:solidFill>
                  <a:srgbClr val="227C9D"/>
                </a:solidFill>
                <a:latin typeface="Helvetica Neue"/>
              </a:rPr>
              <a:t>Pandana network</a:t>
            </a:r>
            <a:r>
              <a:rPr sz="2000" b="0">
                <a:solidFill>
                  <a:srgbClr val="5B676A"/>
                </a:solidFill>
                <a:latin typeface="Helvetica Neue"/>
              </a:rPr>
              <a:t> → </a:t>
            </a:r>
            <a:r>
              <a:rPr sz="2000" b="1">
                <a:solidFill>
                  <a:srgbClr val="227C9D"/>
                </a:solidFill>
                <a:latin typeface="Helvetica Neue"/>
              </a:rPr>
              <a:t>opportunities</a:t>
            </a:r>
            <a:r>
              <a:rPr sz="2000" b="0">
                <a:solidFill>
                  <a:srgbClr val="5B676A"/>
                </a:solidFill>
                <a:latin typeface="Helvetica Neue"/>
              </a:rPr>
              <a:t> → </a:t>
            </a:r>
            <a:r>
              <a:rPr sz="2000" b="1">
                <a:solidFill>
                  <a:srgbClr val="227C9D"/>
                </a:solidFill>
                <a:latin typeface="Helvetica Neue"/>
              </a:rPr>
              <a:t>accessibility</a:t>
            </a:r>
          </a:p>
        </p:txBody>
      </p:sp>
      <p:sp>
        <p:nvSpPr>
          <p:cNvPr id="4" name="TextBox 3"/>
          <p:cNvSpPr txBox="1"/>
          <p:nvPr/>
        </p:nvSpPr>
        <p:spPr>
          <a:xfrm>
            <a:off x="667512" y="3246120"/>
            <a:ext cx="10607040" cy="1371600"/>
          </a:xfrm>
          <a:prstGeom prst="rect">
            <a:avLst/>
          </a:prstGeom>
          <a:noFill/>
        </p:spPr>
        <p:txBody>
          <a:bodyPr wrap="square" anchor="t">
            <a:spAutoFit/>
          </a:bodyPr>
          <a:lstStyle/>
          <a:p>
            <a:pPr algn="l">
              <a:spcAft>
                <a:spcPts val="800"/>
              </a:spcAft>
            </a:pPr>
            <a:r>
              <a:rPr sz="2300" b="0">
                <a:solidFill>
                  <a:srgbClr val="243136"/>
                </a:solidFill>
                <a:latin typeface="Helvetica Neue"/>
              </a:rPr>
              <a:t>The software answers the network query.</a:t>
            </a:r>
          </a:p>
          <a:p>
            <a:pPr algn="l">
              <a:spcAft>
                <a:spcPts val="800"/>
              </a:spcAft>
            </a:pPr>
            <a:r>
              <a:rPr sz="2300" b="0">
                <a:solidFill>
                  <a:srgbClr val="243136"/>
                </a:solidFill>
                <a:latin typeface="Helvetica Neue"/>
              </a:rPr>
              <a:t>The analyst defines what counts as an </a:t>
            </a:r>
            <a:r>
              <a:rPr sz="2300" b="1">
                <a:solidFill>
                  <a:srgbClr val="227C9D"/>
                </a:solidFill>
                <a:latin typeface="Helvetica Neue"/>
              </a:rPr>
              <a:t>opportunity</a:t>
            </a:r>
            <a:r>
              <a:rPr sz="2300" b="0">
                <a:solidFill>
                  <a:srgbClr val="243136"/>
                </a:solidFill>
                <a:latin typeface="Helvetica Neue"/>
              </a:rPr>
              <a:t>, a </a:t>
            </a:r>
            <a:r>
              <a:rPr sz="2300" b="1">
                <a:solidFill>
                  <a:srgbClr val="227C9D"/>
                </a:solidFill>
                <a:latin typeface="Helvetica Neue"/>
              </a:rPr>
              <a:t>cost</a:t>
            </a:r>
            <a:r>
              <a:rPr sz="2300" b="0">
                <a:solidFill>
                  <a:srgbClr val="243136"/>
                </a:solidFill>
                <a:latin typeface="Helvetica Neue"/>
              </a:rPr>
              <a:t>, and an acceptable </a:t>
            </a:r>
            <a:r>
              <a:rPr sz="2300" b="1">
                <a:solidFill>
                  <a:srgbClr val="227C9D"/>
                </a:solidFill>
                <a:latin typeface="Helvetica Neue"/>
              </a:rPr>
              <a:t>threshold</a:t>
            </a:r>
            <a:r>
              <a:rPr sz="2300" b="0">
                <a:solidFill>
                  <a:srgbClr val="243136"/>
                </a:solidFill>
                <a:latin typeface="Helvetica Neue"/>
              </a:rPr>
              <a:t>.</a:t>
            </a:r>
          </a:p>
        </p:txBody>
      </p:sp>
      <p:sp>
        <p:nvSpPr>
          <p:cNvPr id="5" name="TextBox 4"/>
          <p:cNvSpPr txBox="1"/>
          <p:nvPr/>
        </p:nvSpPr>
        <p:spPr>
          <a:xfrm>
            <a:off x="666597" y="5715000"/>
            <a:ext cx="10789920" cy="548640"/>
          </a:xfrm>
          <a:prstGeom prst="rect">
            <a:avLst/>
          </a:prstGeom>
          <a:noFill/>
        </p:spPr>
        <p:txBody>
          <a:bodyPr wrap="square" anchor="t">
            <a:spAutoFit/>
          </a:bodyPr>
          <a:lstStyle/>
          <a:p>
            <a:pPr algn="l"/>
            <a:r>
              <a:rPr sz="1800" b="0">
                <a:solidFill>
                  <a:srgbClr val="5B676A"/>
                </a:solidFill>
                <a:latin typeface="Helvetica Neue"/>
              </a:rPr>
              <a:t>Exit ticket: one finding · one assumption · one thing to check next</a:t>
            </a:r>
          </a:p>
        </p:txBody>
      </p:sp>
      <p:sp>
        <p:nvSpPr>
          <p:cNvPr id="6" name="TextBox 5"/>
          <p:cNvSpPr txBox="1"/>
          <p:nvPr/>
        </p:nvSpPr>
        <p:spPr>
          <a:xfrm>
            <a:off x="11594592" y="6515100"/>
            <a:ext cx="475488" cy="237744"/>
          </a:xfrm>
          <a:prstGeom prst="rect">
            <a:avLst/>
          </a:prstGeom>
          <a:noFill/>
        </p:spPr>
        <p:txBody>
          <a:bodyPr wrap="square" anchor="t">
            <a:spAutoFit/>
          </a:bodyPr>
          <a:lstStyle/>
          <a:p>
            <a:pPr algn="l"/>
            <a:r>
              <a:rPr sz="1200" b="0">
                <a:solidFill>
                  <a:srgbClr val="5B676A"/>
                </a:solidFill>
                <a:latin typeface="Helvetica Neue"/>
              </a:rPr>
              <a:t>40</a:t>
            </a:r>
          </a:p>
        </p:txBody>
      </p:sp>
    </p:spTree>
    <p:extLst>
      <p:ext uri="{BB962C8B-B14F-4D97-AF65-F5344CB8AC3E}">
        <p14:creationId xmlns:p14="http://schemas.microsoft.com/office/powerpoint/2010/main" val="96355419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6.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TotalTime>
  <Words>5339</Words>
  <Application>Microsoft Macintosh PowerPoint</Application>
  <DocSecurity>0</DocSecurity>
  <PresentationFormat>Widescreen</PresentationFormat>
  <Paragraphs>535</Paragraphs>
  <Slides>39</Slides>
  <Notes>39</Notes>
  <HiddenSlides>3</HiddenSlides>
  <MMClips>0</MMClips>
  <ScaleCrop>false</ScaleCrop>
  <HeadingPairs>
    <vt:vector size="6" baseType="variant">
      <vt:variant>
        <vt:lpstr>Fonts Used</vt:lpstr>
      </vt:variant>
      <vt:variant>
        <vt:i4>4</vt:i4>
      </vt:variant>
      <vt:variant>
        <vt:lpstr>Theme</vt:lpstr>
      </vt:variant>
      <vt:variant>
        <vt:i4>15</vt:i4>
      </vt:variant>
      <vt:variant>
        <vt:lpstr>Slide Titles</vt:lpstr>
      </vt:variant>
      <vt:variant>
        <vt:i4>39</vt:i4>
      </vt:variant>
    </vt:vector>
  </HeadingPairs>
  <TitlesOfParts>
    <vt:vector size="58" baseType="lpstr">
      <vt:lpstr>Arial</vt:lpstr>
      <vt:lpstr>Calibri</vt:lpstr>
      <vt:lpstr>Helvetica Neue</vt:lpstr>
      <vt:lpstr>Menlo</vt:lpstr>
      <vt:lpstr>ChatGPT</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Yang, Zhanchao</cp:lastModifiedBy>
  <cp:revision>8</cp:revision>
  <dcterms:created xsi:type="dcterms:W3CDTF">2026-09-27T01:31:48Z</dcterms:created>
  <dcterms:modified xsi:type="dcterms:W3CDTF">2026-10-08T00:36:29Z</dcterms:modified>
</cp:coreProperties>
</file>