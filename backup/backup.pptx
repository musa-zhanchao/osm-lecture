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1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6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Sampled street nodes</c:v>
          </c:tx>
          <c:spPr>
            <a:solidFill>
              <a:srgbClr val="227C9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25" b="1">
                    <a:solidFill>
                      <a:srgbClr val="243136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Inside the circle</c:v>
                </c:pt>
                <c:pt idx="1">
                  <c:v>Within the walk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1857</c:v>
                </c:pt>
                <c:pt idx="1">
                  <c:v>1445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4A0-F941-AF9E-297793B793F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00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  <c:majorUnit val="500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5325A-1D14-B246-8768-D0080FB2D672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FAAC-CC45-124D-9177-4D7B100B8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784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时间：100–103</a:t>
            </a:r>
          </a:p>
          <a:p>
            <a:endParaRPr/>
          </a:p>
          <a:p>
            <a:r>
              <a:t>这个分析问题建立在学生已经算过一条路径的基础上。先关注34th Street一个站，避免同时讲多个origin、destination、connector的复杂模型。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时间：103–106</a:t>
            </a:r>
          </a:p>
          <a:p>
            <a:endParaRPr/>
          </a:p>
          <a:p>
            <a:r>
              <a:t>只分析34th Street。这里展示附近三个站作为背景，后面再扩展。主模型用最近图节点作站点代理，两个距离方法共用同一节点，避免在课堂加connector框架。真实入口是之后讨论的局限。地图数据：© OpenStreetMap contributors，ODbL 1.0。https://www.openstreetmap.org/copyright 。新版 notebook 同一份数据，2026-09-27 UTC 下载。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时间：106–110</a:t>
            </a:r>
          </a:p>
          <a:p>
            <a:endParaRPr/>
          </a:p>
          <a:p>
            <a:r>
              <a:t>Notebook §7运行 minutes、budget。速度不是本数据估计得来，是教学假设。问60m/min会发生什么，为后面灵敏度练习准备。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时间：110–116</a:t>
            </a:r>
          </a:p>
          <a:p>
            <a:endParaRPr/>
          </a:p>
          <a:p>
            <a:r>
              <a:t>一步先取点，再包装成GeoSeries，再buffer。不要把3件事写成链式一行。课堂样本是站点1200m内的图节点，notebook下一格筛选。地图数据：© OpenStreetMap contributors，ODbL 1.0。https://www.openstreetmap.org/copyright 。新版 notebook 同一份数据，2026-09-27 UTC 下载。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时间：116–119</a:t>
            </a:r>
          </a:p>
          <a:p>
            <a:endParaRPr/>
          </a:p>
          <a:p>
            <a:r>
              <a:t>回到地图，请学生指出可能绕行的方向。先说预测，再写算法；不把每个橙点预先解释为真实障碍。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时间：119–124</a:t>
            </a:r>
          </a:p>
          <a:p>
            <a:endParaRPr/>
          </a:p>
          <a:p>
            <a:r>
              <a:t>只解释输入输出：图、终点、length，得到 nodeID:distance 字典。reverse表示到站的距离，walk通常双向。无需教授 Dijkstra 实现。上方括号仅为幻灯片排版，notebook为3行。地图数据：© OpenStreetMap contributors，ODbL 1.0。https://www.openstreetmap.org/copyright 。新版 notebook 同一份数据，2026-09-27 UTC 下载。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时间：124–129</a:t>
            </a:r>
          </a:p>
          <a:p>
            <a:endParaRPr/>
          </a:p>
          <a:p>
            <a:r>
              <a:t>Notebook §8分两格：先map距离，再填缺失为infinity，再比较。幻灯片摘录两条主要语句，完整notebook保留一行fillna以免无路线被误读。让学生读一行输出，比较straight_m和walk_m。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时间：129–134</a:t>
            </a:r>
          </a:p>
          <a:p>
            <a:endParaRPr/>
          </a:p>
          <a:p>
            <a:r>
              <a:t>Notebook §9。四步plot，灰色样本、蓝色可走、橙色差异、黑色星号站。这个catchment是可达节点集合，不是整片土地的可达性。地图数据：© OpenStreetMap contributors，ODbL 1.0。https://www.openstreetmap.org/copyright 。新版 notebook 同一份数据，2026-09-27 UTC 下载。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时间：134–138</a:t>
            </a:r>
          </a:p>
          <a:p>
            <a:endParaRPr/>
          </a:p>
          <a:p>
            <a:r>
              <a:t>A点是同一样本中一个真实计算的差异点。蓝虚线为直线，橙线为最短网络路径。让学生沿线描述为什么变长，再提醒检查OSM连接与站点代理是否真实有效。不要自动断言这是实际用户的最佳路线。地图数据：© OpenStreetMap contributors，ODbL 1.0。https://www.openstreetmap.org/copyright 。新版 notebook 同一份数据，2026-09-27 UTC 下载。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时间：138–141</a:t>
            </a:r>
          </a:p>
          <a:p>
            <a:endParaRPr/>
          </a:p>
          <a:p>
            <a:r>
              <a:t>3分钟，两人讨论。挑一个解释并说验证方法，例如OSM对象、卫星图、入口资料或现场。不用所有人掌握数据审计。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时间：141–146</a:t>
            </a:r>
          </a:p>
          <a:p>
            <a:endParaRPr/>
          </a:p>
          <a:p>
            <a:r>
              <a:t>60m/min的10分钟对应600m。深色是600m可达，浅色是800m可达。871 versus 1445 节点。让学生自己试5分钟或15分钟；上限1200m。地图数据：© OpenStreetMap contributors，ODbL 1.0。https://www.openstreetmap.org/copyright 。新版 notebook 同一份数据，2026-09-27 UTC 下载。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时间：146–153</a:t>
            </a:r>
          </a:p>
          <a:p>
            <a:endParaRPr/>
          </a:p>
          <a:p>
            <a:r>
              <a:t>先加载3站点表，吸附，再算任一站点的距离。主方法没变，只有一个source变多个sources。nearby样本保持不变，因此比较有意义。2448/3472节点在任一站点800m内。局限：这三个站不代表整个系统。地图数据：© OpenStreetMap contributors，ODbL 1.0。https://www.openstreetmap.org/copyright 。新版 notebook 同一份数据，2026-09-27 UTC 下载。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时间：153–161</a:t>
            </a:r>
          </a:p>
          <a:p>
            <a:endParaRPr/>
          </a:p>
          <a:p>
            <a:r>
              <a:t>用02_Pandana_Optional，7个短代码格。不把建图重复下载。net和x/y在完整notebook里由nodes和station_points定义，这里是概念摘录。先解释最近站点，再问第三近意味着choice。若安装问题，讲概念并跳过执行。来源：https://udst.github.io/pandana/network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时间：161–168</a:t>
            </a:r>
          </a:p>
          <a:p>
            <a:endParaRPr/>
          </a:p>
          <a:p>
            <a:r>
              <a:t>课堂回到 §9 的counts输出和bar。1857条图节点在圈内，1445在网络阈值内，共3472个样本节点，差412。强调不是居民数量、不是面积比例。让学生写一条不夸大的结论。地图数据：© OpenStreetMap contributors，ODbL 1.0。https://www.openstreetmap.org/copyright 。新版 notebook 同一份数据，2026-09-27 UTC 下载。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时间：168–173</a:t>
            </a:r>
          </a:p>
          <a:p>
            <a:endParaRPr/>
          </a:p>
          <a:p>
            <a:r>
              <a:t>第二个讨论5分钟。可达性模型可以描述潜在连接，但真实体验还需要个人行走需求、入口、运营频次与目的地机会。让学生自己指出证据缺口，不将最后10分钟变成技术限制清单。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时间：173–180</a:t>
            </a:r>
          </a:p>
          <a:p>
            <a:endParaRPr/>
          </a:p>
          <a:p>
            <a:r>
              <a:t>收尾7分钟，包括退出小练习和问答。建议答案：在同一3472节点样本中，直线阈值多包含412个地点。下一步核实入口或可疑连接。课后可改一个tag、一个walking speed或一个station，不要求复制研究pipeline。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时间：Reference</a:t>
            </a:r>
          </a:p>
          <a:p>
            <a:endParaRPr/>
          </a:p>
          <a:p>
            <a:r>
              <a:t>完整链接：</a:t>
            </a:r>
          </a:p>
          <a:p>
            <a:r>
              <a:t>https://xiaojianggis.github.io/MUSA-5500-Geospatial-Data-Science-Python/labs/week-8-network-analysis/week-8A-street-network.html</a:t>
            </a:r>
          </a:p>
          <a:p>
            <a:r>
              <a:t>https://wiki.openstreetmap.org/wiki/Elements</a:t>
            </a:r>
          </a:p>
          <a:p>
            <a:r>
              <a:t>https://www.openstreetmap.org/node/4179747391</a:t>
            </a:r>
          </a:p>
          <a:p>
            <a:r>
              <a:t>https://www.openstreetmap.org/way/32108143</a:t>
            </a:r>
          </a:p>
          <a:p>
            <a:r>
              <a:t>https://osmnx.readthedocs.io/en/stable/user-reference.html</a:t>
            </a:r>
          </a:p>
          <a:p>
            <a:r>
              <a:t>https://networkx.org/documentation/stable/reference/algorithms/shortest_paths.html</a:t>
            </a:r>
          </a:p>
          <a:p>
            <a:r>
              <a:t>https://udst.github.io/pandana/network.html</a:t>
            </a:r>
          </a:p>
          <a:p>
            <a:r>
              <a:t>数据授权：https://www.openstreetmap.org/copyright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25B2-F467-E219-5C2E-FC74012C1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654F8-0589-768A-33F4-9EAF9D98B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75D20-BB94-847A-C2D0-B34F07979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9576-8DDB-0F4C-85D9-3D60EC2FF4B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6595B-4245-04F9-9026-BA88D996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49498-C12B-4A0B-3EB7-94C2F2FAD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7C747-8867-824F-800A-785681C47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75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C029E-AB6C-8EE2-E84A-C30C411D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5AA2E-4B37-C1A4-A15C-2956564B8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6B6EB-2A7F-9778-5FA5-295903CA1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9576-8DDB-0F4C-85D9-3D60EC2FF4B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0A6EE-9F41-6575-982A-CAF3761C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910F0-7BC1-7233-D78C-106BBC690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7C747-8867-824F-800A-785681C47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597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C4F94-3775-9198-07B0-E1DCACB4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6421F-6A34-CFC6-8DF9-A6F099E33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70C7E-FCE0-9C99-DF63-E467626AA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9576-8DDB-0F4C-85D9-3D60EC2FF4B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5FA74-5EE7-B867-7887-9916E987E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95974-2E6E-6D85-271A-ED24E6284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7C747-8867-824F-800A-785681C47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38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88D11-4003-BF8E-0049-0CD9A388F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FEB6D-5A15-671A-9F44-C71367DE7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E8043-482D-2FBF-30D8-F36AA2089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40542-B80D-BC34-1940-41529663F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9576-8DDB-0F4C-85D9-3D60EC2FF4B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A5346-2520-10D9-AA41-29476232B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37EA9-B8AB-3E43-9AE5-BB5B43688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7C747-8867-824F-800A-785681C47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4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E879-1C98-6873-AD2B-9B6261CFB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AAFDD-13CD-68B1-7F3D-C355D799B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13F19-1362-5954-67E3-EB34F7704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25BA23-DC14-3D00-0781-E7361D5EEC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578EE9-CB8A-0497-414F-C816A6E46F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9B1E72-23C5-6FFE-5234-3C535F912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9576-8DDB-0F4C-85D9-3D60EC2FF4B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E781C7-C677-7CDB-2510-04FC09C2C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B581B4-DD0F-BCE5-3211-A2E85CD59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7C747-8867-824F-800A-785681C47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42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DD30-9A89-16C5-C5A2-094E1834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678AC8-BDEC-7C08-D41D-93FA651D4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9576-8DDB-0F4C-85D9-3D60EC2FF4B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71348-CE09-86F3-2AC1-B35569AA5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B74968-1527-457C-F4A2-4A38497A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7C747-8867-824F-800A-785681C47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457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8F6A3B-FB25-C0E9-1D17-C8A55F0DB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9576-8DDB-0F4C-85D9-3D60EC2FF4B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3BB0FA-B5B6-A1B6-C0D0-72244597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414D2-FADE-AD9A-711D-BD0E7A120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7C747-8867-824F-800A-785681C47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03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B3DB-7FD7-1B9D-94D9-28FE8097E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861A2-149B-7093-64A7-EC438E20F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01170-453E-6D4E-056D-BC89B607A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2B650-2FFE-603E-1B3E-28550D40D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9576-8DDB-0F4C-85D9-3D60EC2FF4B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C48EC-AC71-98E8-455A-D5C896EF0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0F271-F904-0640-E488-C9EBDC184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7C747-8867-824F-800A-785681C47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7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EE9EF-D12E-A0F7-A322-716A7E050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03AAA7-6620-24B5-C1CC-266A8679C58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F449A-A35E-B94A-A37D-1B205BF9A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DA467-D9F9-65A9-8099-F292D268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9576-8DDB-0F4C-85D9-3D60EC2FF4B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D4B00-0A95-0514-D487-7728AECD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B3BB4-8135-5EBE-F8AE-885C4FF89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7C747-8867-824F-800A-785681C47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58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7F59F-9CA0-CBC6-2530-40958D1A1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15D5F2-7E3E-4F41-7F7B-AF0ABD2E3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D7606-8652-6F68-44ED-0916B1291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9576-8DDB-0F4C-85D9-3D60EC2FF4B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C91C8-2823-66CD-FDDB-D9144665D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4554A-6858-02B4-7FFF-1955A27E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7C747-8867-824F-800A-785681C47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73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0FAFC5-E492-121B-B188-C7757180C1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56BF2-335F-618F-5C53-CBAA69782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92979-46D6-ACFC-3868-1C08850AB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9576-8DDB-0F4C-85D9-3D60EC2FF4B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DE31E-DF9F-0595-2B78-7D758C50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A43D9-4672-F572-C22A-55CC08A9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7C747-8867-824F-800A-785681C47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19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7126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5B6CC-B8BA-B77A-B476-2ADB78A52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6DC65-0A31-A939-C418-4095831A0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F30FE-A224-4FC3-12E9-4A14001B2A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059576-8DDB-0F4C-85D9-3D60EC2FF4B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D45FB-7573-AA12-16CB-F1AFBEFF9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56C39-D8F5-C02A-E877-71FC4565D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97C747-8867-824F-800A-785681C47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72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C20133-2EC4-4855-904F-7867013EDDFB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11010900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Is “near” the same as “walkable”?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E9B9BA-486B-4075-8C65-AB88D654642E}"/>
              </a:ext>
            </a:extLst>
          </p:cNvPr>
          <p:cNvSpPr>
            <a:spLocks noGrp="1"/>
          </p:cNvSpPr>
          <p:nvPr/>
        </p:nvSpPr>
        <p:spPr>
          <a:xfrm>
            <a:off x="647700" y="2333625"/>
            <a:ext cx="10668000" cy="2333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100" b="1">
                <a:solidFill>
                  <a:srgbClr val="8FD4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8FD4D9"/>
                </a:solidFill>
                <a:latin typeface="Helvetica Neue"/>
                <a:ea typeface="Helvetica Neue"/>
                <a:cs typeface="Helvetica Neue"/>
              </a:rPr>
              <a:t>One station.</a:t>
            </a:r>
          </a:p>
          <a:p>
            <a:pPr>
              <a:defRPr sz="5100" b="1">
                <a:solidFill>
                  <a:srgbClr val="8FD4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8FD4D9"/>
                </a:solidFill>
                <a:latin typeface="Helvetica Neue"/>
                <a:ea typeface="Helvetica Neue"/>
                <a:cs typeface="Helvetica Neue"/>
              </a:rPr>
              <a:t>Two definitions of distance.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0587AE-2898-4FC0-A378-B81FB01BA0BA}"/>
              </a:ext>
            </a:extLst>
          </p:cNvPr>
          <p:cNvSpPr>
            <a:spLocks noGrp="1"/>
          </p:cNvSpPr>
          <p:nvPr/>
        </p:nvSpPr>
        <p:spPr>
          <a:xfrm>
            <a:off x="676275" y="5505450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Section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D4C8A2-5FFD-453C-85EA-5512F30CFF05}"/>
              </a:ext>
            </a:extLst>
          </p:cNvPr>
          <p:cNvSpPr>
            <a:spLocks noGrp="1"/>
          </p:cNvSpPr>
          <p:nvPr/>
        </p:nvSpPr>
        <p:spPr>
          <a:xfrm>
            <a:off x="11591925" y="65151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9CB7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CB7BC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562552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E51BDBB-51F6-48F6-8C59-1F360198A01F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11010900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Our destination: 34th Street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9523" y="1504950"/>
            <a:ext cx="6352953" cy="45529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F937EF7-8E02-4639-B00A-57838794611B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8394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For today, the snapped street node represents the station.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BB68AF-457C-44DF-B3C9-2503C0FF2FC1}"/>
              </a:ext>
            </a:extLst>
          </p:cNvPr>
          <p:cNvSpPr>
            <a:spLocks noGrp="1"/>
          </p:cNvSpPr>
          <p:nvPr/>
        </p:nvSpPr>
        <p:spPr>
          <a:xfrm>
            <a:off x="619125" y="6581775"/>
            <a:ext cx="5334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© OpenStreetMap contributors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B5F405-1B2A-4614-BE07-4C395354A97F}"/>
              </a:ext>
            </a:extLst>
          </p:cNvPr>
          <p:cNvSpPr>
            <a:spLocks noGrp="1"/>
          </p:cNvSpPr>
          <p:nvPr/>
        </p:nvSpPr>
        <p:spPr>
          <a:xfrm>
            <a:off x="11591925" y="65151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83014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E693E21-C50E-4001-8061-E3BBCA5C4583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11010900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Ten minutes becomes a distance budget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534BDF-612C-4E58-8D44-9847BDD2109B}"/>
              </a:ext>
            </a:extLst>
          </p:cNvPr>
          <p:cNvSpPr>
            <a:spLocks noGrp="1"/>
          </p:cNvSpPr>
          <p:nvPr/>
        </p:nvSpPr>
        <p:spPr>
          <a:xfrm>
            <a:off x="647700" y="2066925"/>
            <a:ext cx="10668000" cy="1314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475" b="1">
                <a:solidFill>
                  <a:srgbClr val="227C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75" b="1">
                <a:solidFill>
                  <a:srgbClr val="227C9D"/>
                </a:solidFill>
                <a:latin typeface="Helvetica Neue"/>
                <a:ea typeface="Helvetica Neue"/>
                <a:cs typeface="Helvetica Neue"/>
              </a:rPr>
              <a:t>10 × 80 = 800 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DC6262-418F-4C52-AF5C-1EE182981A46}"/>
              </a:ext>
            </a:extLst>
          </p:cNvPr>
          <p:cNvSpPr>
            <a:spLocks noGrp="1"/>
          </p:cNvSpPr>
          <p:nvPr/>
        </p:nvSpPr>
        <p:spPr>
          <a:xfrm>
            <a:off x="666750" y="4191000"/>
            <a:ext cx="10382250" cy="1257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Time × assumed walking speed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24DB3E-D343-43BB-89D4-889D501AFE42}"/>
              </a:ext>
            </a:extLst>
          </p:cNvPr>
          <p:cNvSpPr>
            <a:spLocks noGrp="1"/>
          </p:cNvSpPr>
          <p:nvPr/>
        </p:nvSpPr>
        <p:spPr>
          <a:xfrm>
            <a:off x="11591925" y="65151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200471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D83BEC-D7B9-4808-B557-C62A5189D992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11010900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The first answer is a circle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C74C15-5A0B-4AA3-8AA1-F9AFC11A61AD}"/>
              </a:ext>
            </a:extLst>
          </p:cNvPr>
          <p:cNvSpPr>
            <a:spLocks noGrp="1"/>
          </p:cNvSpPr>
          <p:nvPr/>
        </p:nvSpPr>
        <p:spPr>
          <a:xfrm>
            <a:off x="619125" y="2009775"/>
            <a:ext cx="6143625" cy="3067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station_point = nodes.loc[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    station_node, "geometry"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]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station = gpd.GeoSeries(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    [station_point], crs=nodes.crs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)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circle = station.buffer(800)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552575"/>
            <a:ext cx="4305300" cy="43053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BDDC9EC-A5C2-4AC6-AE10-02751486D13E}"/>
              </a:ext>
            </a:extLst>
          </p:cNvPr>
          <p:cNvSpPr>
            <a:spLocks noGrp="1"/>
          </p:cNvSpPr>
          <p:nvPr/>
        </p:nvSpPr>
        <p:spPr>
          <a:xfrm>
            <a:off x="638175" y="5476875"/>
            <a:ext cx="619125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Notebook §7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EFC254-021E-4C13-A77C-7D80984D8FA2}"/>
              </a:ext>
            </a:extLst>
          </p:cNvPr>
          <p:cNvSpPr>
            <a:spLocks noGrp="1"/>
          </p:cNvSpPr>
          <p:nvPr/>
        </p:nvSpPr>
        <p:spPr>
          <a:xfrm>
            <a:off x="619125" y="6581775"/>
            <a:ext cx="5334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© OpenStreetMap contributors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ED4806-F7F9-4D92-ABD2-1A4BC977D57B}"/>
              </a:ext>
            </a:extLst>
          </p:cNvPr>
          <p:cNvSpPr>
            <a:spLocks noGrp="1"/>
          </p:cNvSpPr>
          <p:nvPr/>
        </p:nvSpPr>
        <p:spPr>
          <a:xfrm>
            <a:off x="11591925" y="65151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111281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149CF-67A9-43FE-B8D1-F2754367D95C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11010900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Before we calculate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11C153-E8FE-4BBF-B3FD-008500314006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10668000" cy="2476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8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Does every point inside the circle</a:t>
            </a:r>
          </a:p>
          <a:p>
            <a:pPr>
              <a:defRPr sz="38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pass the walking test?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9DA2C2-BE1B-4980-9CF3-EA94FE9E093E}"/>
              </a:ext>
            </a:extLst>
          </p:cNvPr>
          <p:cNvSpPr>
            <a:spLocks noGrp="1"/>
          </p:cNvSpPr>
          <p:nvPr/>
        </p:nvSpPr>
        <p:spPr>
          <a:xfrm>
            <a:off x="647700" y="5429250"/>
            <a:ext cx="10525125" cy="847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8FD4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8FD4D9"/>
                </a:solidFill>
                <a:latin typeface="Helvetica Neue"/>
                <a:ea typeface="Helvetica Neue"/>
                <a:cs typeface="Helvetica Neue"/>
              </a:rPr>
              <a:t>Pick one direction where you expect a detour.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F8E9F0-E709-4747-9407-3E588AA15369}"/>
              </a:ext>
            </a:extLst>
          </p:cNvPr>
          <p:cNvSpPr>
            <a:spLocks noGrp="1"/>
          </p:cNvSpPr>
          <p:nvPr/>
        </p:nvSpPr>
        <p:spPr>
          <a:xfrm>
            <a:off x="11591925" y="65151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9CB7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CB7BC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058713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B4AEF8F-ED78-4C9F-B2A8-E6CA29F1A6AE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11010900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One route becomes many distances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73E5CC-7991-483A-8333-2A157FCE8133}"/>
              </a:ext>
            </a:extLst>
          </p:cNvPr>
          <p:cNvSpPr>
            <a:spLocks noGrp="1"/>
          </p:cNvSpPr>
          <p:nvPr/>
        </p:nvSpPr>
        <p:spPr>
          <a:xfrm>
            <a:off x="619125" y="2009775"/>
            <a:ext cx="6143625" cy="3067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distance_to_station = (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    nx.single_source_dijkstra_path_length(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        G_m.reverse(), station_node,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        weight="length"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    )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552575"/>
            <a:ext cx="4305300" cy="43053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EA4D0B7-85D3-4C4B-9BC0-AC095A3C5E12}"/>
              </a:ext>
            </a:extLst>
          </p:cNvPr>
          <p:cNvSpPr>
            <a:spLocks noGrp="1"/>
          </p:cNvSpPr>
          <p:nvPr/>
        </p:nvSpPr>
        <p:spPr>
          <a:xfrm>
            <a:off x="638175" y="5476875"/>
            <a:ext cx="619125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Notebook §8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C7CEF0-1CE6-42B9-A5AE-3F2F7265A60C}"/>
              </a:ext>
            </a:extLst>
          </p:cNvPr>
          <p:cNvSpPr>
            <a:spLocks noGrp="1"/>
          </p:cNvSpPr>
          <p:nvPr/>
        </p:nvSpPr>
        <p:spPr>
          <a:xfrm>
            <a:off x="619125" y="6581775"/>
            <a:ext cx="5334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© OpenStreetMap contributors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A58EAF-7730-49B9-AA3A-9EAF3AD0AEA8}"/>
              </a:ext>
            </a:extLst>
          </p:cNvPr>
          <p:cNvSpPr>
            <a:spLocks noGrp="1"/>
          </p:cNvSpPr>
          <p:nvPr/>
        </p:nvSpPr>
        <p:spPr>
          <a:xfrm>
            <a:off x="11591925" y="65151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963561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AC9B6C-F816-4A52-AE47-C226348C6BE2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11010900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Put those distances back in the table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00212E-214C-4230-A967-4BC148888611}"/>
              </a:ext>
            </a:extLst>
          </p:cNvPr>
          <p:cNvSpPr>
            <a:spLocks noGrp="1"/>
          </p:cNvSpPr>
          <p:nvPr/>
        </p:nvSpPr>
        <p:spPr>
          <a:xfrm>
            <a:off x="647700" y="2038350"/>
            <a:ext cx="10810875" cy="2381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nearby["walk_m"] = nearby.index.map(distance_to_station)</a:t>
            </a:r>
          </a:p>
          <a:p>
            <a:pPr>
              <a:defRPr sz="2100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nearby["within_walk"] = nearby["walk_m"] &lt;= 800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47857F-62F7-41A0-B1EA-121248A0D1DA}"/>
              </a:ext>
            </a:extLst>
          </p:cNvPr>
          <p:cNvSpPr>
            <a:spLocks noGrp="1"/>
          </p:cNvSpPr>
          <p:nvPr/>
        </p:nvSpPr>
        <p:spPr>
          <a:xfrm>
            <a:off x="647700" y="512445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Each node gets a distance, then a yes/no answer.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D7044F-9732-49B6-9F80-CC96C99AD898}"/>
              </a:ext>
            </a:extLst>
          </p:cNvPr>
          <p:cNvSpPr>
            <a:spLocks noGrp="1"/>
          </p:cNvSpPr>
          <p:nvPr/>
        </p:nvSpPr>
        <p:spPr>
          <a:xfrm>
            <a:off x="11591925" y="65151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507066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585E8CA-C213-45B7-BCFD-FA835F53C85B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11010900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The map reveals the disagreement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9525" y="1504950"/>
            <a:ext cx="4552950" cy="45529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CD5258-91CB-4D83-B341-71F493185B7C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8394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Blue: within an 800 m walk    Orange: inside the circle only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FA551D-96AA-4983-87CF-B507FEFB2E1E}"/>
              </a:ext>
            </a:extLst>
          </p:cNvPr>
          <p:cNvSpPr>
            <a:spLocks noGrp="1"/>
          </p:cNvSpPr>
          <p:nvPr/>
        </p:nvSpPr>
        <p:spPr>
          <a:xfrm>
            <a:off x="619125" y="6581775"/>
            <a:ext cx="5334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© OpenStreetMap contributors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347349-3C35-4EDA-8268-6E271368EC2D}"/>
              </a:ext>
            </a:extLst>
          </p:cNvPr>
          <p:cNvSpPr>
            <a:spLocks noGrp="1"/>
          </p:cNvSpPr>
          <p:nvPr/>
        </p:nvSpPr>
        <p:spPr>
          <a:xfrm>
            <a:off x="11591925" y="65151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0331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7AD69E7-71D2-4881-899D-474E0AB0A909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11010900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One location makes the difference concrete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09775" y="1552575"/>
            <a:ext cx="4495800" cy="4495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76ADAD-5B33-4AB8-B087-997B0F04AD00}"/>
              </a:ext>
            </a:extLst>
          </p:cNvPr>
          <p:cNvSpPr>
            <a:spLocks noGrp="1"/>
          </p:cNvSpPr>
          <p:nvPr/>
        </p:nvSpPr>
        <p:spPr>
          <a:xfrm>
            <a:off x="8315325" y="2305050"/>
            <a:ext cx="3143250" cy="1323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227C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227C9D"/>
                </a:solidFill>
                <a:latin typeface="Helvetica Neue"/>
                <a:ea typeface="Helvetica Neue"/>
                <a:cs typeface="Helvetica Neue"/>
              </a:rPr>
              <a:t>755 m in a straight 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B485D-5E33-4A14-A406-17078B224359}"/>
              </a:ext>
            </a:extLst>
          </p:cNvPr>
          <p:cNvSpPr>
            <a:spLocks noGrp="1"/>
          </p:cNvSpPr>
          <p:nvPr/>
        </p:nvSpPr>
        <p:spPr>
          <a:xfrm>
            <a:off x="8315325" y="4105275"/>
            <a:ext cx="3143250" cy="1323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925" b="1">
                <a:solidFill>
                  <a:srgbClr val="DB72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DB724C"/>
                </a:solidFill>
                <a:latin typeface="Helvetica Neue"/>
                <a:ea typeface="Helvetica Neue"/>
                <a:cs typeface="Helvetica Neue"/>
              </a:rPr>
              <a:t>1,343 m along the walking network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34CCEB-0FC0-4C56-81FF-D4BD72318908}"/>
              </a:ext>
            </a:extLst>
          </p:cNvPr>
          <p:cNvSpPr>
            <a:spLocks noGrp="1"/>
          </p:cNvSpPr>
          <p:nvPr/>
        </p:nvSpPr>
        <p:spPr>
          <a:xfrm>
            <a:off x="619125" y="6581775"/>
            <a:ext cx="5334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© OpenStreetMap contributors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7410B8-4E9E-49B2-BE01-28728D030299}"/>
              </a:ext>
            </a:extLst>
          </p:cNvPr>
          <p:cNvSpPr>
            <a:spLocks noGrp="1"/>
          </p:cNvSpPr>
          <p:nvPr/>
        </p:nvSpPr>
        <p:spPr>
          <a:xfrm>
            <a:off x="11591925" y="65151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768216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85601EE-57B9-4DA5-8E08-1C61FAE6501F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11010900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Discussion: what would you check?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E022CB-D904-4C53-8464-3458DD5F809E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10668000" cy="2476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8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route is longer than the straight line.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D26D04-2BD7-4810-872C-33C02E11D3F3}"/>
              </a:ext>
            </a:extLst>
          </p:cNvPr>
          <p:cNvSpPr>
            <a:spLocks noGrp="1"/>
          </p:cNvSpPr>
          <p:nvPr/>
        </p:nvSpPr>
        <p:spPr>
          <a:xfrm>
            <a:off x="647700" y="5429250"/>
            <a:ext cx="10525125" cy="847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8FD4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8FD4D9"/>
                </a:solidFill>
                <a:latin typeface="Helvetica Neue"/>
                <a:ea typeface="Helvetica Neue"/>
                <a:cs typeface="Helvetica Neue"/>
              </a:rPr>
              <a:t>Street layout, missing data, or the station location?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86EF3A-5E45-43CC-A7A5-E220E76D53C1}"/>
              </a:ext>
            </a:extLst>
          </p:cNvPr>
          <p:cNvSpPr>
            <a:spLocks noGrp="1"/>
          </p:cNvSpPr>
          <p:nvPr/>
        </p:nvSpPr>
        <p:spPr>
          <a:xfrm>
            <a:off x="11591925" y="65151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9CB7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CB7BC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530771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F7D346-BC45-4566-9487-9A9BBB4E1417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11010900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A slower walk changes the answer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1158B2-F43E-422C-8231-C8381426C572}"/>
              </a:ext>
            </a:extLst>
          </p:cNvPr>
          <p:cNvSpPr>
            <a:spLocks noGrp="1"/>
          </p:cNvSpPr>
          <p:nvPr/>
        </p:nvSpPr>
        <p:spPr>
          <a:xfrm>
            <a:off x="619125" y="2009775"/>
            <a:ext cx="6143625" cy="3067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slower_budget = 60 * 10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nearby["slower_walk"] = (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    nearby["walk_m"] &lt;= slower_budget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552575"/>
            <a:ext cx="4305300" cy="43053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97F267-23C9-472B-BF28-0F42753AAA45}"/>
              </a:ext>
            </a:extLst>
          </p:cNvPr>
          <p:cNvSpPr>
            <a:spLocks noGrp="1"/>
          </p:cNvSpPr>
          <p:nvPr/>
        </p:nvSpPr>
        <p:spPr>
          <a:xfrm>
            <a:off x="638175" y="5476875"/>
            <a:ext cx="619125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Notebook §10: change one assumption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4373-CCBC-47BB-90BE-336A232DDFEB}"/>
              </a:ext>
            </a:extLst>
          </p:cNvPr>
          <p:cNvSpPr>
            <a:spLocks noGrp="1"/>
          </p:cNvSpPr>
          <p:nvPr/>
        </p:nvSpPr>
        <p:spPr>
          <a:xfrm>
            <a:off x="619125" y="6581775"/>
            <a:ext cx="5334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© OpenStreetMap contributors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ABB391-B209-4535-8DA7-71071E4B0C52}"/>
              </a:ext>
            </a:extLst>
          </p:cNvPr>
          <p:cNvSpPr>
            <a:spLocks noGrp="1"/>
          </p:cNvSpPr>
          <p:nvPr/>
        </p:nvSpPr>
        <p:spPr>
          <a:xfrm>
            <a:off x="11591925" y="65151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317063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D42B6F8-D5B7-4F7E-9ED4-C05F0FAD285D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11010900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What if three stations count?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AC3197-F6DD-43B1-B328-17F67C450130}"/>
              </a:ext>
            </a:extLst>
          </p:cNvPr>
          <p:cNvSpPr>
            <a:spLocks noGrp="1"/>
          </p:cNvSpPr>
          <p:nvPr/>
        </p:nvSpPr>
        <p:spPr>
          <a:xfrm>
            <a:off x="619125" y="2009775"/>
            <a:ext cx="6143625" cy="3067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distance_to_any = (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    nx.multi_source_dijkstra_path_length(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        G_m.reverse(),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        list(station_nodes),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        weight="length"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    )</a:t>
            </a:r>
          </a:p>
          <a:p>
            <a:pPr>
              <a:defRPr sz="1725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05650" y="1552575"/>
            <a:ext cx="4305300" cy="43053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0CCD59-3F9F-4561-9569-93066837EDEC}"/>
              </a:ext>
            </a:extLst>
          </p:cNvPr>
          <p:cNvSpPr>
            <a:spLocks noGrp="1"/>
          </p:cNvSpPr>
          <p:nvPr/>
        </p:nvSpPr>
        <p:spPr>
          <a:xfrm>
            <a:off x="638175" y="5476875"/>
            <a:ext cx="619125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Notebook §11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F332FE-2065-47C3-A002-AE429298D5EA}"/>
              </a:ext>
            </a:extLst>
          </p:cNvPr>
          <p:cNvSpPr>
            <a:spLocks noGrp="1"/>
          </p:cNvSpPr>
          <p:nvPr/>
        </p:nvSpPr>
        <p:spPr>
          <a:xfrm>
            <a:off x="619125" y="6581775"/>
            <a:ext cx="5334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© OpenStreetMap contributors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88D68E-4CFB-429D-8A19-88F95E221B50}"/>
              </a:ext>
            </a:extLst>
          </p:cNvPr>
          <p:cNvSpPr>
            <a:spLocks noGrp="1"/>
          </p:cNvSpPr>
          <p:nvPr/>
        </p:nvSpPr>
        <p:spPr>
          <a:xfrm>
            <a:off x="11591925" y="65151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757956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93D952-15F1-4D70-A6C3-87758A25E3E9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11010900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A short Pandana extension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E0169D-9500-4BE7-910D-1A21BDD778AB}"/>
              </a:ext>
            </a:extLst>
          </p:cNvPr>
          <p:cNvSpPr>
            <a:spLocks noGrp="1"/>
          </p:cNvSpPr>
          <p:nvPr/>
        </p:nvSpPr>
        <p:spPr>
          <a:xfrm>
            <a:off x="647700" y="2038350"/>
            <a:ext cx="10810875" cy="2381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net.set_pois("stations", 1200, 1, x, y)</a:t>
            </a:r>
          </a:p>
          <a:p>
            <a:pPr>
              <a:defRPr sz="2100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access = net.nearest_pois(</a:t>
            </a:r>
          </a:p>
          <a:p>
            <a:pPr>
              <a:defRPr sz="2100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    distance=1200, category="stations", num_pois=1</a:t>
            </a:r>
          </a:p>
          <a:p>
            <a:pPr>
              <a:defRPr sz="2100" b="0">
                <a:solidFill>
                  <a:srgbClr val="227C9D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227C9D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E45D20-E9EA-4323-A9D7-C49DBF77179A}"/>
              </a:ext>
            </a:extLst>
          </p:cNvPr>
          <p:cNvSpPr>
            <a:spLocks noGrp="1"/>
          </p:cNvSpPr>
          <p:nvPr/>
        </p:nvSpPr>
        <p:spPr>
          <a:xfrm>
            <a:off x="647700" y="512445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The same kind of question at many origins.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D1BF0D-6C35-48A3-90CA-731976620155}"/>
              </a:ext>
            </a:extLst>
          </p:cNvPr>
          <p:cNvSpPr>
            <a:spLocks noGrp="1"/>
          </p:cNvSpPr>
          <p:nvPr/>
        </p:nvSpPr>
        <p:spPr>
          <a:xfrm>
            <a:off x="11591925" y="65151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606256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2D86AA-E472-4BD3-8C3C-8AA6A03721FD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11010900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What did we actually count?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="619125" y="1695450"/>
          <a:ext cx="7762875" cy="3971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00BF5F0-1B95-4E6A-A17A-07A87C2097A5}"/>
              </a:ext>
            </a:extLst>
          </p:cNvPr>
          <p:cNvSpPr>
            <a:spLocks noGrp="1"/>
          </p:cNvSpPr>
          <p:nvPr/>
        </p:nvSpPr>
        <p:spPr>
          <a:xfrm>
            <a:off x="9010650" y="2447925"/>
            <a:ext cx="2571750" cy="1009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475" b="1">
                <a:solidFill>
                  <a:srgbClr val="DB72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75" b="1">
                <a:solidFill>
                  <a:srgbClr val="DB724C"/>
                </a:solidFill>
                <a:latin typeface="Helvetica Neue"/>
                <a:ea typeface="Helvetica Neue"/>
                <a:cs typeface="Helvetica Neue"/>
              </a:rPr>
              <a:t>412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AE2408-3CE6-4510-89B1-7889E9CF296B}"/>
              </a:ext>
            </a:extLst>
          </p:cNvPr>
          <p:cNvSpPr>
            <a:spLocks noGrp="1"/>
          </p:cNvSpPr>
          <p:nvPr/>
        </p:nvSpPr>
        <p:spPr>
          <a:xfrm>
            <a:off x="9048750" y="3657600"/>
            <a:ext cx="2543175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additional locations</a:t>
            </a:r>
          </a:p>
          <a:p>
            <a:pPr>
              <a:defRPr sz="2175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in the circle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D47117-47F5-42C9-A393-F8E946461F95}"/>
              </a:ext>
            </a:extLst>
          </p:cNvPr>
          <p:cNvSpPr>
            <a:spLocks noGrp="1"/>
          </p:cNvSpPr>
          <p:nvPr/>
        </p:nvSpPr>
        <p:spPr>
          <a:xfrm>
            <a:off x="628650" y="6057900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3,472 sampled street nodes within 1,200 m of 34th Street. No population weighting.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499A42-5D61-4A65-AB1E-280A377A8B46}"/>
              </a:ext>
            </a:extLst>
          </p:cNvPr>
          <p:cNvSpPr>
            <a:spLocks noGrp="1"/>
          </p:cNvSpPr>
          <p:nvPr/>
        </p:nvSpPr>
        <p:spPr>
          <a:xfrm>
            <a:off x="11591925" y="65151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591007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D87F9F1-D3BD-4DB0-A31C-F17709F62ED8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11010900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Who has useful transit access?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EAF88E-F375-4F0F-A2C5-9FF06498B7C0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10668000" cy="2476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8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Homes and people?</a:t>
            </a:r>
          </a:p>
          <a:p>
            <a:pPr>
              <a:defRPr sz="38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entrances?</a:t>
            </a:r>
          </a:p>
          <a:p>
            <a:pPr>
              <a:defRPr sz="38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Frequent trains?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8F50D6-338C-4CD5-8F26-1499433FE6BB}"/>
              </a:ext>
            </a:extLst>
          </p:cNvPr>
          <p:cNvSpPr>
            <a:spLocks noGrp="1"/>
          </p:cNvSpPr>
          <p:nvPr/>
        </p:nvSpPr>
        <p:spPr>
          <a:xfrm>
            <a:off x="647700" y="5429250"/>
            <a:ext cx="10525125" cy="847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8FD4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8FD4D9"/>
                </a:solidFill>
                <a:latin typeface="Helvetica Neue"/>
                <a:ea typeface="Helvetica Neue"/>
                <a:cs typeface="Helvetica Neue"/>
              </a:rPr>
              <a:t>Which missing information matters most for your question?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1BA991-0121-45E3-9EB4-46547FB5D108}"/>
              </a:ext>
            </a:extLst>
          </p:cNvPr>
          <p:cNvSpPr>
            <a:spLocks noGrp="1"/>
          </p:cNvSpPr>
          <p:nvPr/>
        </p:nvSpPr>
        <p:spPr>
          <a:xfrm>
            <a:off x="11591925" y="65151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9CB7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CB7BC"/>
                </a:solidFill>
                <a:latin typeface="Helvetica Neue"/>
                <a:ea typeface="Helvetica Neue"/>
                <a:cs typeface="Helvetica Neue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25342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AE35A7-DCD4-4437-B2CF-87A070209499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11010900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finding, one next step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B06FFA-A9A1-48AC-9C9E-9AF17FCD0286}"/>
              </a:ext>
            </a:extLst>
          </p:cNvPr>
          <p:cNvSpPr>
            <a:spLocks noGrp="1"/>
          </p:cNvSpPr>
          <p:nvPr/>
        </p:nvSpPr>
        <p:spPr>
          <a:xfrm>
            <a:off x="638175" y="2085975"/>
            <a:ext cx="10572750" cy="1504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75" b="1">
                <a:solidFill>
                  <a:srgbClr val="8FD4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8FD4D9"/>
                </a:solidFill>
                <a:latin typeface="Helvetica Neue"/>
                <a:ea typeface="Helvetica Neue"/>
                <a:cs typeface="Helvetica Neue"/>
              </a:rPr>
              <a:t>“Near” depends on the distance we choose.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FBDFC8-76BB-4C36-ABE8-A3A835D14185}"/>
              </a:ext>
            </a:extLst>
          </p:cNvPr>
          <p:cNvSpPr>
            <a:spLocks noGrp="1"/>
          </p:cNvSpPr>
          <p:nvPr/>
        </p:nvSpPr>
        <p:spPr>
          <a:xfrm>
            <a:off x="676275" y="4581525"/>
            <a:ext cx="10191750" cy="1533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Write one finding from the maps.</a:t>
            </a:r>
          </a:p>
          <a:p>
            <a:pPr>
              <a:defRPr sz="25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Then name one thing you would check next.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7F83BF-DB9E-406A-A736-8A16E75A6522}"/>
              </a:ext>
            </a:extLst>
          </p:cNvPr>
          <p:cNvSpPr>
            <a:spLocks noGrp="1"/>
          </p:cNvSpPr>
          <p:nvPr/>
        </p:nvSpPr>
        <p:spPr>
          <a:xfrm>
            <a:off x="11591925" y="65151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9CB7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CB7BC"/>
                </a:solidFill>
                <a:latin typeface="Helvetica Neue"/>
                <a:ea typeface="Helvetica Neue"/>
                <a:cs typeface="Helvetica Neue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533572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5A47DF6-5A88-4834-BBD3-1AC734E47EC3}"/>
              </a:ext>
            </a:extLst>
          </p:cNvPr>
          <p:cNvSpPr>
            <a:spLocks noGrp="1"/>
          </p:cNvSpPr>
          <p:nvPr/>
        </p:nvSpPr>
        <p:spPr>
          <a:xfrm>
            <a:off x="590550" y="438150"/>
            <a:ext cx="11010900" cy="1038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Explore further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A239F0-FB5B-4F65-A780-890A0F86B734}"/>
              </a:ext>
            </a:extLst>
          </p:cNvPr>
          <p:cNvSpPr>
            <a:spLocks noGrp="1"/>
          </p:cNvSpPr>
          <p:nvPr/>
        </p:nvSpPr>
        <p:spPr>
          <a:xfrm>
            <a:off x="638175" y="1952625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27C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27C9D"/>
                </a:solidFill>
                <a:latin typeface="Helvetica Neue"/>
                <a:ea typeface="Helvetica Neue"/>
                <a:cs typeface="Helvetica Neue"/>
              </a:rPr>
              <a:t>MUSA-5500 Week 8A tutorial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49E94B-329B-4F18-A55F-7B6BE1728AC8}"/>
              </a:ext>
            </a:extLst>
          </p:cNvPr>
          <p:cNvSpPr>
            <a:spLocks noGrp="1"/>
          </p:cNvSpPr>
          <p:nvPr/>
        </p:nvSpPr>
        <p:spPr>
          <a:xfrm>
            <a:off x="638175" y="2667000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OpenStreetMap: elements, tags, and edit history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13A5B2-2ECC-4B2D-ABCE-A26F02FF3B56}"/>
              </a:ext>
            </a:extLst>
          </p:cNvPr>
          <p:cNvSpPr>
            <a:spLocks noGrp="1"/>
          </p:cNvSpPr>
          <p:nvPr/>
        </p:nvSpPr>
        <p:spPr>
          <a:xfrm>
            <a:off x="638175" y="3381375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OSMnx 2.1.1: features, graphs, and routing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B285D9-5585-4E79-A3B9-A25F8249CBAD}"/>
              </a:ext>
            </a:extLst>
          </p:cNvPr>
          <p:cNvSpPr>
            <a:spLocks noGrp="1"/>
          </p:cNvSpPr>
          <p:nvPr/>
        </p:nvSpPr>
        <p:spPr>
          <a:xfrm>
            <a:off x="638175" y="4095750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NetworkX: shortest paths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D7BA5C-8EE0-4805-B5F6-EB8CA311C5F0}"/>
              </a:ext>
            </a:extLst>
          </p:cNvPr>
          <p:cNvSpPr>
            <a:spLocks noGrp="1"/>
          </p:cNvSpPr>
          <p:nvPr/>
        </p:nvSpPr>
        <p:spPr>
          <a:xfrm>
            <a:off x="638175" y="4810125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43136"/>
                </a:solidFill>
                <a:latin typeface="Helvetica Neue"/>
                <a:ea typeface="Helvetica Neue"/>
                <a:cs typeface="Helvetica Neue"/>
              </a:rPr>
              <a:t>Pandana 0.8: accessibility queries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E594AE-6DC6-400C-9E45-C799CDB361EE}"/>
              </a:ext>
            </a:extLst>
          </p:cNvPr>
          <p:cNvSpPr>
            <a:spLocks noGrp="1"/>
          </p:cNvSpPr>
          <p:nvPr/>
        </p:nvSpPr>
        <p:spPr>
          <a:xfrm>
            <a:off x="11591925" y="65151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76A"/>
                </a:solidFill>
                <a:latin typeface="Helvetica Neue"/>
                <a:ea typeface="Helvetica Neue"/>
                <a:cs typeface="Helvetica Neue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99935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1345</Words>
  <Application>Microsoft Macintosh PowerPoint</Application>
  <PresentationFormat>Widescreen</PresentationFormat>
  <Paragraphs>166</Paragraphs>
  <Slides>17</Slides>
  <Notes>17</Notes>
  <HiddenSlides>17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Helvetica Neue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Yang, Zhanchao</dc:creator>
  <cp:lastModifiedBy>Yang, Zhanchao</cp:lastModifiedBy>
  <cp:revision>1</cp:revision>
  <dcterms:created xsi:type="dcterms:W3CDTF">2026-10-08T00:34:27Z</dcterms:created>
  <dcterms:modified xsi:type="dcterms:W3CDTF">2026-10-08T00:34:49Z</dcterms:modified>
</cp:coreProperties>
</file>